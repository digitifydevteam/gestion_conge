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3421" autoAdjust="0"/>
  </p:normalViewPr>
  <p:slideViewPr>
    <p:cSldViewPr snapToGrid="0" snapToObjects="1">
      <p:cViewPr varScale="1">
        <p:scale>
          <a:sx n="54" d="100"/>
          <a:sy n="54" d="100"/>
        </p:scale>
        <p:origin x="178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errahim ALOUINI" userId="2e2e840c-0fcb-49a5-9431-7dd8aaf0831d" providerId="ADAL" clId="{3D5CBFFE-E37A-4217-A436-7905C5E80699}"/>
    <pc:docChg chg="addSld delSld modSld">
      <pc:chgData name="Abderrahim ALOUINI" userId="2e2e840c-0fcb-49a5-9431-7dd8aaf0831d" providerId="ADAL" clId="{3D5CBFFE-E37A-4217-A436-7905C5E80699}" dt="2026-08-05T07:52:55.355" v="5" actId="47"/>
      <pc:docMkLst>
        <pc:docMk/>
      </pc:docMkLst>
      <pc:sldChg chg="modSp mod">
        <pc:chgData name="Abderrahim ALOUINI" userId="2e2e840c-0fcb-49a5-9431-7dd8aaf0831d" providerId="ADAL" clId="{3D5CBFFE-E37A-4217-A436-7905C5E80699}" dt="2026-08-05T07:43:26.459" v="1" actId="790"/>
        <pc:sldMkLst>
          <pc:docMk/>
          <pc:sldMk cId="0" sldId="257"/>
        </pc:sldMkLst>
        <pc:spChg chg="mod">
          <ac:chgData name="Abderrahim ALOUINI" userId="2e2e840c-0fcb-49a5-9431-7dd8aaf0831d" providerId="ADAL" clId="{3D5CBFFE-E37A-4217-A436-7905C5E80699}" dt="2026-08-05T07:43:26.459" v="1" actId="790"/>
          <ac:spMkLst>
            <pc:docMk/>
            <pc:sldMk cId="0" sldId="257"/>
            <ac:spMk id="7"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9"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10"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11"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16"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18"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21"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22"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24" creationId="{00000000-0000-0000-0000-000000000000}"/>
          </ac:spMkLst>
        </pc:spChg>
        <pc:spChg chg="mod">
          <ac:chgData name="Abderrahim ALOUINI" userId="2e2e840c-0fcb-49a5-9431-7dd8aaf0831d" providerId="ADAL" clId="{3D5CBFFE-E37A-4217-A436-7905C5E80699}" dt="2026-08-05T07:43:26.459" v="1" actId="790"/>
          <ac:spMkLst>
            <pc:docMk/>
            <pc:sldMk cId="0" sldId="257"/>
            <ac:spMk id="25" creationId="{00000000-0000-0000-0000-000000000000}"/>
          </ac:spMkLst>
        </pc:spChg>
      </pc:sldChg>
      <pc:sldChg chg="new del">
        <pc:chgData name="Abderrahim ALOUINI" userId="2e2e840c-0fcb-49a5-9431-7dd8aaf0831d" providerId="ADAL" clId="{3D5CBFFE-E37A-4217-A436-7905C5E80699}" dt="2026-08-05T07:52:55.355" v="5" actId="47"/>
        <pc:sldMkLst>
          <pc:docMk/>
          <pc:sldMk cId="1554484125" sldId="270"/>
        </pc:sldMkLst>
      </pc:sldChg>
      <pc:sldChg chg="new del">
        <pc:chgData name="Abderrahim ALOUINI" userId="2e2e840c-0fcb-49a5-9431-7dd8aaf0831d" providerId="ADAL" clId="{3D5CBFFE-E37A-4217-A436-7905C5E80699}" dt="2026-08-05T07:52:54.697" v="4" actId="47"/>
        <pc:sldMkLst>
          <pc:docMk/>
          <pc:sldMk cId="734027990"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9745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Bonjour à tous, merci pour votre temps. Je vais vous présenter notre projet de gestion de congés intelligente pour les équipes. Je vais parcourir cinq grandes étapes : d'abord l'étude préliminaire, ensuite l'objectif, le périmètre fonctionnel, l'architecture technique, une démonstration concrète de chaque module, puis les résultats obtenus et la valeur métier.</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lang="fr-FR" dirty="0"/>
              <a:t/>
            </a:r>
            <a:r>
              <a:rPr lang="fr-FR" sz="1200" b="1" u="none" strike="noStrike" kern="1200" dirty="0">
                <a:solidFill>
                  <a:schemeClr val="tx1"/>
                </a:solidFill>
                <a:effectLst/>
                <a:latin typeface="+mn-lt"/>
                <a:ea typeface="+mn-ea"/>
                <a:cs typeface="+mn-cs"/>
              </a:rPr>
              <a:t/>
            </a:r>
            <a:r>
              <a:rPr lang="fr-FR" sz="1200" b="0" u="none" strike="noStrike" kern="1200" dirty="0">
                <a:solidFill>
                  <a:schemeClr val="tx1"/>
                </a:solidFill>
                <a:effectLst/>
                <a:latin typeface="+mn-lt"/>
                <a:ea typeface="+mn-ea"/>
                <a:cs typeface="+mn-cs"/>
              </a:rPr>
              <a:t/>
            </a:r>
            <a:r>
              <a:rPr lang="fr-FR" sz="1200" b="1" u="none" strike="noStrike" kern="1200" dirty="0">
                <a:solidFill>
                  <a:schemeClr val="tx1"/>
                </a:solidFill>
                <a:effectLst/>
                <a:latin typeface="+mn-lt"/>
                <a:ea typeface="+mn-ea"/>
                <a:cs typeface="+mn-cs"/>
              </a:rPr>
              <a:t/>
            </a:r>
            <a:r>
              <a:rPr lang="fr-FR" sz="1200" b="1" u="none" strike="noStrike" kern="1200" dirty="0" err="1">
                <a:solidFill>
                  <a:schemeClr val="tx1"/>
                </a:solidFill>
                <a:effectLst/>
                <a:latin typeface="+mn-lt"/>
                <a:ea typeface="+mn-ea"/>
                <a:cs typeface="+mn-cs"/>
              </a:rPr>
              <a:t/>
            </a:r>
            <a:r>
              <a:rPr lang="fr-FR" sz="1200" b="0" u="none" strike="noStrike" kern="1200" dirty="0" err="1">
                <a:solidFill>
                  <a:schemeClr val="tx1"/>
                </a:solidFill>
                <a:effectLst/>
                <a:latin typeface="+mn-lt"/>
                <a:ea typeface="+mn-ea"/>
                <a:cs typeface="+mn-cs"/>
              </a:rPr>
              <a:t/>
            </a:r>
            <a:r>
              <a:rPr lang="fr-FR" sz="1200" b="1" u="none" strike="noStrike" kern="1200" dirty="0" err="1">
                <a:solidFill>
                  <a:schemeClr val="tx1"/>
                </a:solidFill>
                <a:effectLst/>
                <a:latin typeface="+mn-lt"/>
                <a:ea typeface="+mn-ea"/>
                <a:cs typeface="+mn-cs"/>
              </a:rPr>
              <a:t/>
            </a:r>
            <a:r>
              <a:rPr lang="fr-FR" sz="1200" b="0" u="none" strike="noStrike" kern="1200" dirty="0">
                <a:solidFill>
                  <a:schemeClr val="tx1"/>
                </a:solidFill>
                <a:effectLst/>
                <a:latin typeface="+mn-lt"/>
                <a:ea typeface="+mn-ea"/>
                <a:cs typeface="+mn-cs"/>
              </a:rPr>
              <a:t/>
            </a:r>
            <a:r>
              <a:rPr lang="fr-FR" sz="1200" b="1" u="none" strike="noStrike" kern="1200" dirty="0">
                <a:solidFill>
                  <a:schemeClr val="tx1"/>
                </a:solidFill>
                <a:effectLst/>
                <a:latin typeface="+mn-lt"/>
                <a:ea typeface="+mn-ea"/>
                <a:cs typeface="+mn-cs"/>
              </a:rPr>
              <a:t/>
            </a:r>
            <a:r>
              <a:rPr lang="fr-FR" sz="1200" b="0" u="none" strike="noStrike" kern="1200" dirty="0">
                <a:solidFill>
                  <a:schemeClr val="tx1"/>
                </a:solidFill>
                <a:effectLst/>
                <a:latin typeface="+mn-lt"/>
                <a:ea typeface="+mn-ea"/>
                <a:cs typeface="+mn-cs"/>
              </a:rPr>
              <a:t/>
            </a:r>
            <a:endParaRPr dirty="0"/>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lang="fr-FR" dirty="0"/>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Commençons par le constat de départ. Excel, e-mails et tableurs partagés restent le réflexe, souvent sans vision fiable des soldes ni des absences. Une grande partie des équipes RH gère encore les congés manuellement, et beaucoup de managers n'ont pas de vue temps réel.</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endParaRPr lang="fr-FR" dirty="0"/>
          </a:p>
          <a:p>
            <a:endParaRPr lang="fr-FR" dirty="0"/>
          </a:p>
          <a:p>
            <a:r>
              <a:rPr dirty="0"/>
              <a:t/>
            </a:r>
            <a:r>
              <a:rPr dirty="0" err="1"/>
              <a:t/>
            </a:r>
            <a:r>
              <a:rPr dirty="0"/>
              <a:t/>
            </a:r>
            <a:r>
              <a:rPr dirty="0" err="1"/>
              <a:t/>
            </a:r>
            <a:r>
              <a:rPr dirty="0"/>
              <a:t/>
            </a:r>
            <a:r>
              <a:rPr dirty="0" err="1"/>
              <a:t/>
            </a:r>
            <a:r>
              <a:rPr dirty="0"/>
              <a:t/>
            </a:r>
            <a:r>
              <a:rPr dirty="0" err="1"/>
              <a:t/>
            </a:r>
            <a:r>
              <a:rPr dirty="0"/>
              <a:t/>
            </a:r>
            <a:r>
              <a:rPr dirty="0" err="1"/>
              <a:t/>
            </a:r>
            <a:r>
              <a:rPr dirty="0"/>
              <a:t/>
            </a:r>
            <a:endParaRPr lang="fr-FR" dirty="0"/>
          </a:p>
          <a:p>
            <a:endParaRPr lang="fr-FR" dirty="0"/>
          </a:p>
          <a:p>
            <a:r>
              <a:rPr dirty="0"/>
              <a:t/>
            </a:r>
            <a:r>
              <a:rPr lang="fr-FR" dirty="0"/>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Quatre problèmes concrets. Premier : le suivi est dispersé. Deuxième : l'approbation est opaque. Troisième : le risque planning. Quatrième : sans historique ni notifications, la conformité RH ralentit.</a:t>
            </a:r>
            <a:r>
              <a:rPr dirty="0" err="1"/>
              <a:t/>
            </a:r>
            <a:r>
              <a:rPr dirty="0"/>
              <a:t/>
            </a:r>
            <a:r>
              <a:rPr dirty="0" err="1"/>
              <a:t/>
            </a:r>
            <a:r>
              <a:rPr dirty="0"/>
              <a:t/>
            </a:r>
            <a:r>
              <a:rPr dirty="0" err="1"/>
              <a:t/>
            </a:r>
            <a:r>
              <a:rPr dirty="0"/>
              <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lang="fr-FR" dirty="0"/>
              <a:t/>
            </a:r>
            <a:r>
              <a:rPr lang="fr-FR" dirty="0" err="1"/>
              <a:t/>
            </a:r>
            <a:r>
              <a:rPr lang="fr-FR" dirty="0"/>
              <a:t/>
            </a:r>
            <a:r>
              <a:rPr lang="fr-FR" dirty="0" err="1"/>
              <a:t/>
            </a:r>
            <a:r>
              <a:rPr lang="fr-FR" dirty="0"/>
              <a:t/>
            </a:r>
            <a:r>
              <a:rPr lang="fr-FR" dirty="0" err="1"/>
              <a:t/>
            </a:r>
            <a:r>
              <a:rPr lang="fr-FR" dirty="0"/>
              <a:t/>
            </a:r>
            <a:r>
              <a:rPr lang="fr-FR" dirty="0" err="1"/>
              <a:t/>
            </a:r>
            <a:r>
              <a:rPr lang="fr-FR" dirty="0"/>
              <a:t/>
            </a:r>
          </a:p>
          <a:p>
            <a:endParaRPr lang="fr-FR" dirty="0"/>
          </a:p>
          <a:p>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Quatre objectifs. Centraliser les demandes multi-types. Suivre automatiquement chaque solde. Donner une vue calendrier et équipe. Piloter via rapports, notifications et export Excel.</a:t>
            </a:r>
            <a:r>
              <a:rPr dirty="0" err="1"/>
              <a:t/>
            </a:r>
            <a:r>
              <a:rPr dirty="0"/>
              <a:t/>
            </a:r>
            <a:r>
              <a:rPr dirty="0" err="1"/>
              <a:t/>
            </a:r>
            <a:r>
              <a:rPr dirty="0"/>
              <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dirty="0"/>
              <a:t/>
            </a:r>
          </a:p>
          <a:p>
            <a:endParaRPr dirty="0"/>
          </a:p>
          <a:p>
            <a:pPr marL="0" indent="0" algn="l">
              <a:lnSpc>
                <a:spcPct val="120000"/>
              </a:lnSpc>
              <a:buNone/>
            </a:pPr>
            <a:r>
              <a:rPr dirty="0"/>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endParaRPr lang="en-US" sz="1200" dirty="0"/>
          </a:p>
          <a:p>
            <a:endParaRPr dirty="0"/>
          </a:p>
          <a:p>
            <a:pPr marL="0" indent="0" algn="l">
              <a:lnSpc>
                <a:spcPct val="120000"/>
              </a:lnSpc>
              <a:buNone/>
            </a:pPr>
            <a:r>
              <a:rPr dirty="0"/>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endParaRPr lang="en-US" sz="1200" dirty="0"/>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r>
              <a:rPr lang="en-US" sz="1200" dirty="0" err="1">
                <a:solidFill>
                  <a:srgbClr val="262626"/>
                </a:solidFill>
                <a:latin typeface="Arial" pitchFamily="34" charset="0"/>
                <a:ea typeface="Arial" pitchFamily="34" charset="-122"/>
                <a:cs typeface="Arial" pitchFamily="34" charset="-120"/>
              </a:rPr>
              <a:t/>
            </a:r>
            <a:r>
              <a:rPr lang="en-US" sz="1200" dirty="0">
                <a:solidFill>
                  <a:srgbClr val="262626"/>
                </a:solidFill>
                <a:latin typeface="Arial" pitchFamily="34" charset="0"/>
                <a:ea typeface="Arial" pitchFamily="34" charset="-122"/>
                <a:cs typeface="Arial" pitchFamily="34" charset="-120"/>
              </a:rPr>
              <a:t/>
            </a:r>
            <a:endParaRPr lang="en-US" sz="1200"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Quatre modules produit : demandes et workflow, soldes et types, calendrier et équipe, admin et reporting.</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Stack : React, TypeScript, Tailwind. Django / DRF. JWT, activation et OTP. MySQL. Fiabilité : rôles, notifications, SPA Vite, export Excel.</a:t>
            </a:r>
          </a:p>
          <a:p>
            <a:endParaRPr lang="fr-F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lang="fr-FR" dirty="0"/>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lang="fr-FR" dirty="0"/>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endParaRPr lang="fr-FR" dirty="0"/>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r>
            <a:r>
              <a:rPr lang="fr-FR" dirty="0" err="1"/>
              <a:t/>
            </a:r>
            <a:r>
              <a:rPr lang="fr-FR" dirty="0"/>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Module 1 : demandes multi-types, demi-journée, urgence, validation admin traçable.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Module 2 : soldes temps réel et ajustement admin des quotas.</a:t>
            </a:r>
            <a:r>
              <a:rPr dirty="0" err="1"/>
              <a:t/>
            </a:r>
            <a:r>
              <a:rPr dirty="0"/>
              <a:t/>
            </a:r>
          </a:p>
          <a:p>
            <a:endParaRPr dirty="0"/>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err="1"/>
              <a:t/>
            </a:r>
            <a:r>
              <a:rPr dirty="0"/>
              <a:t/>
            </a:r>
            <a:r>
              <a:rPr dirty="0" err="1"/>
              <a:t/>
            </a:r>
            <a:r>
              <a:rPr dirty="0"/>
              <a:t/>
            </a:r>
            <a:r>
              <a:rPr dirty="0" err="1"/>
              <a:t/>
            </a:r>
            <a:r>
              <a:rPr dirty="0"/>
              <a:t/>
            </a:r>
            <a:r>
              <a:rPr dirty="0" err="1"/>
              <a:t/>
            </a:r>
            <a:r>
              <a:rPr dirty="0"/>
              <a:t/>
            </a:r>
            <a:r>
              <a:rPr dirty="0" err="1"/>
              <a:t/>
            </a:r>
            <a:r>
              <a:rPr dirty="0"/>
              <a:t/>
            </a:r>
            <a:r>
              <a:rPr lang="fr-FR" dirty="0"/>
              <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800" dirty="0"/>
              <a:t>Module 3 : calendrier, disponibilité équipe, jours fériés et historique.</a:t>
            </a:r>
            <a:r>
              <a:rPr sz="1800" dirty="0" err="1"/>
              <a:t/>
            </a:r>
            <a:r>
              <a:rPr sz="1800" dirty="0"/>
              <a:t/>
            </a:r>
            <a:r>
              <a:rPr sz="1800" dirty="0" err="1"/>
              <a:t/>
            </a:r>
            <a:r>
              <a:rPr sz="1800" dirty="0"/>
              <a:t/>
            </a:r>
            <a:r>
              <a:rPr sz="1800" dirty="0" err="1"/>
              <a:t/>
            </a:r>
            <a:r>
              <a:rPr sz="1800" dirty="0"/>
              <a:t/>
            </a:r>
          </a:p>
          <a:p>
            <a:endParaRPr sz="1800" dirty="0"/>
          </a:p>
          <a:p>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p>
          <a:p>
            <a:endParaRPr sz="1800" dirty="0"/>
          </a:p>
          <a:p>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r>
              <a:rPr sz="1800" dirty="0" err="1"/>
              <a:t/>
            </a:r>
            <a:r>
              <a:rPr sz="1800" dirty="0"/>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Module 4 : utilisateurs, tableaux de bord, export Excel du planning annuel.</a:t>
            </a:r>
          </a:p>
          <a:p>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a:p>
            <a:endParaRPr dirty="0"/>
          </a:p>
          <a:p>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Différenciateurs : workflow bout-en-bout, demi-journées et urgence, stack moderne, sécurité d'activation, reporting Excel, vue équipe.</a:t>
            </a:r>
          </a:p>
        </p:txBody>
      </p:sp>
      <p:sp>
        <p:nvSpPr>
          <p:cNvPr id="4" name="Slide Number Placeholder 3"/>
          <p:cNvSpPr>
            <a:spLocks noGrp="1"/>
          </p:cNvSpPr>
          <p:nvPr>
            <p:ph type="sldNum" sz="quarter" idx="10"/>
          </p:nvPr>
        </p:nvSpPr>
        <p:spPr/>
        <p:txBody>
          <a:bodyPr/>
          <a:lstStyle/>
          <a:p>
            <a:fld id="{F7021451-1387-4CA6-816F-3879F97B5CBD}"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Résultats : moins de cinq minutes au lieu de plusieurs heures, un flux unique, clarté multipliée, zéro chaos Excel.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Valeur métier : demandes maîtrisées, industrialisation RH, prêt pour le management, cycle accéléré, planning visible.</a:t>
            </a:r>
            <a:r>
              <a:rPr dirty="0"/>
              <a:t/>
            </a:r>
            <a:r>
              <a:rPr dirty="0" err="1"/>
              <a:t/>
            </a:r>
            <a:r>
              <a:rPr dirty="0"/>
              <a:t/>
            </a:r>
            <a:r>
              <a:rPr dirty="0" err="1"/>
              <a:t/>
            </a:r>
            <a:r>
              <a:rPr dirty="0"/>
              <a:t/>
            </a:r>
            <a:r>
              <a:rPr dirty="0" err="1"/>
              <a:t/>
            </a:r>
            <a:r>
              <a:rPr dirty="0"/>
              <a:t/>
            </a:r>
            <a:r>
              <a:rPr dirty="0" err="1"/>
              <a:t/>
            </a:r>
            <a:r>
              <a:rPr dirty="0"/>
              <a:t/>
            </a:r>
          </a:p>
          <a:p>
            <a:endParaRPr dirty="0"/>
          </a:p>
          <a:p>
            <a:r>
              <a:rPr dirty="0"/>
              <a:t/>
            </a:r>
            <a:r>
              <a:rPr lang="fr-FR" dirty="0"/>
              <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r>
            <a:r>
              <a:rPr lang="fr-FR" dirty="0" err="1"/>
              <a:t/>
            </a:r>
            <a:r>
              <a:rPr lang="fr-FR" dirty="0"/>
              <a:t/>
            </a:r>
          </a:p>
          <a:p>
            <a:endParaRPr lang="fr-FR" dirty="0"/>
          </a:p>
          <a:p>
            <a:r>
              <a:rPr lang="fr-FR" dirty="0"/>
              <a:t/>
            </a:r>
            <a:r>
              <a:rPr dirty="0"/>
              <a:t/>
            </a:r>
            <a:r>
              <a:rPr dirty="0" err="1"/>
              <a:t/>
            </a:r>
            <a:r>
              <a:rPr dirty="0"/>
              <a:t/>
            </a:r>
            <a:r>
              <a:rPr dirty="0" err="1"/>
              <a:t/>
            </a:r>
            <a:r>
              <a:rPr dirty="0"/>
              <a:t/>
            </a:r>
            <a:r>
              <a:rPr dirty="0" err="1"/>
              <a:t/>
            </a:r>
            <a:r>
              <a:rPr dirty="0"/>
              <a:t/>
            </a:r>
            <a:r>
              <a:rPr dirty="0" err="1"/>
              <a:t/>
            </a:r>
            <a:r>
              <a:rPr dirty="0"/>
              <a:t/>
            </a:r>
          </a:p>
          <a:p>
            <a:endParaRPr dirty="0"/>
          </a:p>
          <a:p>
            <a:r>
              <a:rPr lang="fr-FR" dirty="0"/>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endParaRPr lang="fr-FR" dirty="0"/>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r>
            <a:r>
              <a:rPr lang="fr-FR" dirty="0" err="1"/>
              <a:t/>
            </a:r>
            <a:r>
              <a:rPr lang="fr-FR" dirty="0"/>
              <a:t/>
            </a:r>
            <a:r>
              <a:rPr lang="fr-FR" dirty="0" err="1"/>
              <a:t/>
            </a:r>
            <a:r>
              <a:rPr lang="fr-FR" dirty="0"/>
              <a:t/>
            </a:r>
          </a:p>
          <a:p>
            <a:endParaRPr dirty="0"/>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r>
            <a:br>
              <a:rPr lang="fr-FR" dirty="0"/>
            </a:br>
            <a:endParaRPr lang="fr-FR"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Merci beaucoup pour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494B69"/>
          </a:solidFill>
          <a:ln/>
        </p:spPr>
        <p:txBody>
          <a:bodyPr/>
          <a:lstStyle/>
          <a:p>
            <a:endParaRPr lang="fr-FR"/>
          </a:p>
        </p:txBody>
      </p:sp>
      <p:sp>
        <p:nvSpPr>
          <p:cNvPr id="3" name="Shape 1"/>
          <p:cNvSpPr/>
          <p:nvPr/>
        </p:nvSpPr>
        <p:spPr>
          <a:xfrm>
            <a:off x="9479128" y="2331720"/>
            <a:ext cx="1371600" cy="1371600"/>
          </a:xfrm>
          <a:prstGeom prst="ellipse">
            <a:avLst/>
          </a:prstGeom>
          <a:solidFill>
            <a:srgbClr val="695D7A"/>
          </a:solidFill>
          <a:ln/>
        </p:spPr>
        <p:txBody>
          <a:bodyPr/>
          <a:lstStyle/>
          <a:p>
            <a:endParaRPr lang="fr-FR"/>
          </a:p>
        </p:txBody>
      </p:sp>
      <p:pic>
        <p:nvPicPr>
          <p:cNvPr id="4" name="Image 0" descr="/home/claude/assets/icon_clipboard.png"/>
          <p:cNvPicPr>
            <a:picLocks noChangeAspect="1"/>
          </p:cNvPicPr>
          <p:nvPr/>
        </p:nvPicPr>
        <p:blipFill>
          <a:blip r:embed="rId3"/>
          <a:stretch>
            <a:fillRect/>
          </a:stretch>
        </p:blipFill>
        <p:spPr>
          <a:xfrm>
            <a:off x="9799168" y="2697480"/>
            <a:ext cx="731520" cy="731520"/>
          </a:xfrm>
          <a:prstGeom prst="rect">
            <a:avLst/>
          </a:prstGeom>
        </p:spPr>
      </p:pic>
      <p:sp>
        <p:nvSpPr>
          <p:cNvPr id="5" name="Text 2"/>
          <p:cNvSpPr/>
          <p:nvPr/>
        </p:nvSpPr>
        <p:spPr>
          <a:xfrm>
            <a:off x="8458200" y="3977640"/>
            <a:ext cx="3413455" cy="822960"/>
          </a:xfrm>
          <a:prstGeom prst="rect">
            <a:avLst/>
          </a:prstGeom>
          <a:noFill/>
          <a:ln/>
        </p:spPr>
        <p:txBody>
          <a:bodyPr wrap="square"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Présentation de projet</a:t>
            </a:r>
            <a:endParaRPr lang="en-US" sz="2000" dirty="0"/>
          </a:p>
        </p:txBody>
      </p:sp>
      <p:sp>
        <p:nvSpPr>
          <p:cNvPr id="6" name="Text 3"/>
          <p:cNvSpPr/>
          <p:nvPr/>
        </p:nvSpPr>
        <p:spPr>
          <a:xfrm>
            <a:off x="8458200" y="4709160"/>
            <a:ext cx="3413455" cy="548640"/>
          </a:xfrm>
          <a:prstGeom prst="rect">
            <a:avLst/>
          </a:prstGeom>
          <a:noFill/>
          <a:ln/>
        </p:spPr>
        <p:txBody>
          <a:bodyPr wrap="square" rtlCol="0" anchor="t"/>
          <a:lstStyle/>
          <a:p>
            <a:pPr marL="0" indent="0" algn="ctr">
              <a:buNone/>
            </a:pPr>
            <a:r>
              <a:rPr lang="en-US" sz="1150" dirty="0">
                <a:solidFill>
                  <a:srgbClr val="FDCD5A"/>
                </a:solidFill>
                <a:latin typeface="Arial" pitchFamily="34" charset="0"/>
                <a:ea typeface="Arial" pitchFamily="34" charset="-122"/>
                <a:cs typeface="Arial" pitchFamily="34" charset="-120"/>
              </a:rPr>
              <a:t>Gestion de congés intelligente pour les équipes</a:t>
            </a:r>
            <a:endParaRPr lang="en-US" sz="1150" dirty="0"/>
          </a:p>
        </p:txBody>
      </p:sp>
      <p:sp>
        <p:nvSpPr>
          <p:cNvPr id="7" name="Text 4"/>
          <p:cNvSpPr/>
          <p:nvPr/>
        </p:nvSpPr>
        <p:spPr>
          <a:xfrm>
            <a:off x="640080" y="640080"/>
            <a:ext cx="5486400" cy="365760"/>
          </a:xfrm>
          <a:prstGeom prst="rect">
            <a:avLst/>
          </a:prstGeom>
          <a:noFill/>
          <a:ln/>
        </p:spPr>
        <p:txBody>
          <a:bodyPr wrap="square" rtlCol="0" anchor="ctr"/>
          <a:lstStyle/>
          <a:p>
            <a:pPr marL="0" indent="0">
              <a:buNone/>
            </a:pPr>
            <a:r>
              <a:rPr lang="en-US" sz="1300" b="1" kern="0" spc="150" dirty="0">
                <a:solidFill>
                  <a:srgbClr val="9F5B72"/>
                </a:solidFill>
                <a:latin typeface="Arial" pitchFamily="34" charset="0"/>
                <a:ea typeface="Arial" pitchFamily="34" charset="-122"/>
                <a:cs typeface="Arial" pitchFamily="34" charset="-120"/>
              </a:rPr>
              <a:t>SOMMAIRE</a:t>
            </a:r>
            <a:endParaRPr lang="en-US" sz="1300" dirty="0"/>
          </a:p>
        </p:txBody>
      </p:sp>
      <p:sp>
        <p:nvSpPr>
          <p:cNvPr id="8" name="Shape 5"/>
          <p:cNvSpPr/>
          <p:nvPr/>
        </p:nvSpPr>
        <p:spPr>
          <a:xfrm>
            <a:off x="640080" y="1463040"/>
            <a:ext cx="457200" cy="384048"/>
          </a:xfrm>
          <a:prstGeom prst="rect">
            <a:avLst/>
          </a:prstGeom>
          <a:solidFill>
            <a:srgbClr val="494B69"/>
          </a:solidFill>
          <a:ln/>
        </p:spPr>
        <p:txBody>
          <a:bodyPr/>
          <a:lstStyle/>
          <a:p>
            <a:endParaRPr lang="fr-FR"/>
          </a:p>
        </p:txBody>
      </p:sp>
      <p:sp>
        <p:nvSpPr>
          <p:cNvPr id="9" name="Text 6"/>
          <p:cNvSpPr/>
          <p:nvPr/>
        </p:nvSpPr>
        <p:spPr>
          <a:xfrm>
            <a:off x="640080" y="1463040"/>
            <a:ext cx="457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0" name="Text 7"/>
          <p:cNvSpPr/>
          <p:nvPr/>
        </p:nvSpPr>
        <p:spPr>
          <a:xfrm>
            <a:off x="1280160" y="1417320"/>
            <a:ext cx="5943600" cy="658368"/>
          </a:xfrm>
          <a:prstGeom prst="rect">
            <a:avLst/>
          </a:prstGeom>
          <a:noFill/>
          <a:ln/>
        </p:spPr>
        <p:txBody>
          <a:bodyPr wrap="square" lIns="0" tIns="0" rIns="0" bIns="0" rtlCol="0" anchor="ctr"/>
          <a:lstStyle/>
          <a:p>
            <a:pPr marL="0" indent="0" algn="l">
              <a:buNone/>
            </a:pPr>
            <a:r>
              <a:rPr lang="en-US" sz="1500" dirty="0">
                <a:solidFill>
                  <a:srgbClr val="262626"/>
                </a:solidFill>
                <a:latin typeface="Arial" pitchFamily="34" charset="0"/>
                <a:ea typeface="Arial" pitchFamily="34" charset="-122"/>
                <a:cs typeface="Arial" pitchFamily="34" charset="-120"/>
              </a:rPr>
              <a:t>Étude préliminaire</a:t>
            </a:r>
            <a:endParaRPr lang="en-US" sz="1500" dirty="0"/>
          </a:p>
        </p:txBody>
      </p:sp>
      <p:sp>
        <p:nvSpPr>
          <p:cNvPr id="11" name="Shape 8"/>
          <p:cNvSpPr/>
          <p:nvPr/>
        </p:nvSpPr>
        <p:spPr>
          <a:xfrm>
            <a:off x="640080" y="2075688"/>
            <a:ext cx="6583680" cy="0"/>
          </a:xfrm>
          <a:prstGeom prst="line">
            <a:avLst/>
          </a:prstGeom>
          <a:noFill/>
          <a:ln w="9525">
            <a:solidFill>
              <a:srgbClr val="E2E2E2"/>
            </a:solidFill>
            <a:prstDash val="solid"/>
          </a:ln>
        </p:spPr>
        <p:txBody>
          <a:bodyPr/>
          <a:lstStyle/>
          <a:p>
            <a:endParaRPr lang="fr-FR"/>
          </a:p>
        </p:txBody>
      </p:sp>
      <p:sp>
        <p:nvSpPr>
          <p:cNvPr id="12" name="Shape 9"/>
          <p:cNvSpPr/>
          <p:nvPr/>
        </p:nvSpPr>
        <p:spPr>
          <a:xfrm>
            <a:off x="640080" y="2121408"/>
            <a:ext cx="457200" cy="384048"/>
          </a:xfrm>
          <a:prstGeom prst="rect">
            <a:avLst/>
          </a:prstGeom>
          <a:solidFill>
            <a:srgbClr val="695D7A"/>
          </a:solidFill>
          <a:ln/>
        </p:spPr>
        <p:txBody>
          <a:bodyPr/>
          <a:lstStyle/>
          <a:p>
            <a:endParaRPr lang="fr-FR"/>
          </a:p>
        </p:txBody>
      </p:sp>
      <p:sp>
        <p:nvSpPr>
          <p:cNvPr id="13" name="Text 10"/>
          <p:cNvSpPr/>
          <p:nvPr/>
        </p:nvSpPr>
        <p:spPr>
          <a:xfrm>
            <a:off x="640080" y="2121408"/>
            <a:ext cx="457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14" name="Text 11"/>
          <p:cNvSpPr/>
          <p:nvPr/>
        </p:nvSpPr>
        <p:spPr>
          <a:xfrm>
            <a:off x="1280160" y="2075688"/>
            <a:ext cx="5943600" cy="658368"/>
          </a:xfrm>
          <a:prstGeom prst="rect">
            <a:avLst/>
          </a:prstGeom>
          <a:noFill/>
          <a:ln/>
        </p:spPr>
        <p:txBody>
          <a:bodyPr wrap="square" lIns="0" tIns="0" rIns="0" bIns="0" rtlCol="0" anchor="ctr"/>
          <a:lstStyle/>
          <a:p>
            <a:pPr marL="0" indent="0" algn="l">
              <a:buNone/>
            </a:pPr>
            <a:r>
              <a:rPr lang="en-US" sz="1500" dirty="0">
                <a:solidFill>
                  <a:srgbClr val="262626"/>
                </a:solidFill>
                <a:latin typeface="Arial" pitchFamily="34" charset="0"/>
                <a:ea typeface="Arial" pitchFamily="34" charset="-122"/>
                <a:cs typeface="Arial" pitchFamily="34" charset="-120"/>
              </a:rPr>
              <a:t>Objectif</a:t>
            </a:r>
            <a:endParaRPr lang="en-US" sz="1500" dirty="0"/>
          </a:p>
        </p:txBody>
      </p:sp>
      <p:sp>
        <p:nvSpPr>
          <p:cNvPr id="15" name="Shape 12"/>
          <p:cNvSpPr/>
          <p:nvPr/>
        </p:nvSpPr>
        <p:spPr>
          <a:xfrm>
            <a:off x="640080" y="2734056"/>
            <a:ext cx="6583680" cy="0"/>
          </a:xfrm>
          <a:prstGeom prst="line">
            <a:avLst/>
          </a:prstGeom>
          <a:noFill/>
          <a:ln w="9525">
            <a:solidFill>
              <a:srgbClr val="E2E2E2"/>
            </a:solidFill>
            <a:prstDash val="solid"/>
          </a:ln>
        </p:spPr>
        <p:txBody>
          <a:bodyPr/>
          <a:lstStyle/>
          <a:p>
            <a:endParaRPr lang="fr-FR"/>
          </a:p>
        </p:txBody>
      </p:sp>
      <p:sp>
        <p:nvSpPr>
          <p:cNvPr id="16" name="Shape 13"/>
          <p:cNvSpPr/>
          <p:nvPr/>
        </p:nvSpPr>
        <p:spPr>
          <a:xfrm>
            <a:off x="640080" y="2779776"/>
            <a:ext cx="457200" cy="384048"/>
          </a:xfrm>
          <a:prstGeom prst="rect">
            <a:avLst/>
          </a:prstGeom>
          <a:solidFill>
            <a:srgbClr val="9F5B72"/>
          </a:solidFill>
          <a:ln/>
        </p:spPr>
        <p:txBody>
          <a:bodyPr/>
          <a:lstStyle/>
          <a:p>
            <a:endParaRPr lang="fr-FR"/>
          </a:p>
        </p:txBody>
      </p:sp>
      <p:sp>
        <p:nvSpPr>
          <p:cNvPr id="17" name="Text 14"/>
          <p:cNvSpPr/>
          <p:nvPr/>
        </p:nvSpPr>
        <p:spPr>
          <a:xfrm>
            <a:off x="640080" y="2779776"/>
            <a:ext cx="457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18" name="Text 15"/>
          <p:cNvSpPr/>
          <p:nvPr/>
        </p:nvSpPr>
        <p:spPr>
          <a:xfrm>
            <a:off x="1280160" y="2734056"/>
            <a:ext cx="5943600" cy="658368"/>
          </a:xfrm>
          <a:prstGeom prst="rect">
            <a:avLst/>
          </a:prstGeom>
          <a:noFill/>
          <a:ln/>
        </p:spPr>
        <p:txBody>
          <a:bodyPr wrap="square" lIns="0" tIns="0" rIns="0" bIns="0" rtlCol="0" anchor="ctr"/>
          <a:lstStyle/>
          <a:p>
            <a:pPr marL="0" indent="0" algn="l">
              <a:buNone/>
            </a:pPr>
            <a:r>
              <a:rPr lang="en-US" sz="1500" dirty="0">
                <a:solidFill>
                  <a:srgbClr val="262626"/>
                </a:solidFill>
                <a:latin typeface="Arial" pitchFamily="34" charset="0"/>
                <a:ea typeface="Arial" pitchFamily="34" charset="-122"/>
                <a:cs typeface="Arial" pitchFamily="34" charset="-120"/>
              </a:rPr>
              <a:t>Périmètre fonctionnel</a:t>
            </a:r>
            <a:endParaRPr lang="en-US" sz="1500" dirty="0"/>
          </a:p>
        </p:txBody>
      </p:sp>
      <p:sp>
        <p:nvSpPr>
          <p:cNvPr id="19" name="Shape 16"/>
          <p:cNvSpPr/>
          <p:nvPr/>
        </p:nvSpPr>
        <p:spPr>
          <a:xfrm>
            <a:off x="640080" y="3392424"/>
            <a:ext cx="6583680" cy="0"/>
          </a:xfrm>
          <a:prstGeom prst="line">
            <a:avLst/>
          </a:prstGeom>
          <a:noFill/>
          <a:ln w="9525">
            <a:solidFill>
              <a:srgbClr val="E2E2E2"/>
            </a:solidFill>
            <a:prstDash val="solid"/>
          </a:ln>
        </p:spPr>
        <p:txBody>
          <a:bodyPr/>
          <a:lstStyle/>
          <a:p>
            <a:endParaRPr lang="fr-FR"/>
          </a:p>
        </p:txBody>
      </p:sp>
      <p:sp>
        <p:nvSpPr>
          <p:cNvPr id="20" name="Shape 17"/>
          <p:cNvSpPr/>
          <p:nvPr/>
        </p:nvSpPr>
        <p:spPr>
          <a:xfrm>
            <a:off x="640080" y="3438144"/>
            <a:ext cx="457200" cy="384048"/>
          </a:xfrm>
          <a:prstGeom prst="rect">
            <a:avLst/>
          </a:prstGeom>
          <a:solidFill>
            <a:srgbClr val="D8707C"/>
          </a:solidFill>
          <a:ln/>
        </p:spPr>
        <p:txBody>
          <a:bodyPr/>
          <a:lstStyle/>
          <a:p>
            <a:endParaRPr lang="fr-FR"/>
          </a:p>
        </p:txBody>
      </p:sp>
      <p:sp>
        <p:nvSpPr>
          <p:cNvPr id="21" name="Text 18"/>
          <p:cNvSpPr/>
          <p:nvPr/>
        </p:nvSpPr>
        <p:spPr>
          <a:xfrm>
            <a:off x="640080" y="3438144"/>
            <a:ext cx="457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06</a:t>
            </a:r>
            <a:endParaRPr lang="en-US" sz="1300" dirty="0"/>
          </a:p>
        </p:txBody>
      </p:sp>
      <p:sp>
        <p:nvSpPr>
          <p:cNvPr id="22" name="Text 19"/>
          <p:cNvSpPr/>
          <p:nvPr/>
        </p:nvSpPr>
        <p:spPr>
          <a:xfrm>
            <a:off x="1280160" y="3392424"/>
            <a:ext cx="5943600" cy="658368"/>
          </a:xfrm>
          <a:prstGeom prst="rect">
            <a:avLst/>
          </a:prstGeom>
          <a:noFill/>
          <a:ln/>
        </p:spPr>
        <p:txBody>
          <a:bodyPr wrap="square" lIns="0" tIns="0" rIns="0" bIns="0" rtlCol="0" anchor="ctr"/>
          <a:lstStyle/>
          <a:p>
            <a:pPr marL="0" indent="0" algn="l">
              <a:buNone/>
            </a:pPr>
            <a:r>
              <a:rPr lang="en-US" sz="1500" dirty="0">
                <a:solidFill>
                  <a:srgbClr val="262626"/>
                </a:solidFill>
                <a:latin typeface="Arial" pitchFamily="34" charset="0"/>
                <a:ea typeface="Arial" pitchFamily="34" charset="-122"/>
                <a:cs typeface="Arial" pitchFamily="34" charset="-120"/>
              </a:rPr>
              <a:t>Architecture technique</a:t>
            </a:r>
            <a:endParaRPr lang="en-US" sz="1500" dirty="0"/>
          </a:p>
        </p:txBody>
      </p:sp>
      <p:sp>
        <p:nvSpPr>
          <p:cNvPr id="23" name="Shape 20"/>
          <p:cNvSpPr/>
          <p:nvPr/>
        </p:nvSpPr>
        <p:spPr>
          <a:xfrm>
            <a:off x="640080" y="4050792"/>
            <a:ext cx="6583680" cy="0"/>
          </a:xfrm>
          <a:prstGeom prst="line">
            <a:avLst/>
          </a:prstGeom>
          <a:noFill/>
          <a:ln w="9525">
            <a:solidFill>
              <a:srgbClr val="E2E2E2"/>
            </a:solidFill>
            <a:prstDash val="solid"/>
          </a:ln>
        </p:spPr>
        <p:txBody>
          <a:bodyPr/>
          <a:lstStyle/>
          <a:p>
            <a:endParaRPr lang="fr-FR"/>
          </a:p>
        </p:txBody>
      </p:sp>
      <p:sp>
        <p:nvSpPr>
          <p:cNvPr id="24" name="Shape 21"/>
          <p:cNvSpPr/>
          <p:nvPr/>
        </p:nvSpPr>
        <p:spPr>
          <a:xfrm>
            <a:off x="640080" y="4096512"/>
            <a:ext cx="457200" cy="384048"/>
          </a:xfrm>
          <a:prstGeom prst="rect">
            <a:avLst/>
          </a:prstGeom>
          <a:solidFill>
            <a:srgbClr val="494B69"/>
          </a:solidFill>
          <a:ln/>
        </p:spPr>
        <p:txBody>
          <a:bodyPr/>
          <a:lstStyle/>
          <a:p>
            <a:endParaRPr lang="fr-FR"/>
          </a:p>
        </p:txBody>
      </p:sp>
      <p:sp>
        <p:nvSpPr>
          <p:cNvPr id="25" name="Text 22"/>
          <p:cNvSpPr/>
          <p:nvPr/>
        </p:nvSpPr>
        <p:spPr>
          <a:xfrm>
            <a:off x="640080" y="4096512"/>
            <a:ext cx="457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07</a:t>
            </a:r>
            <a:endParaRPr lang="en-US" sz="1300" dirty="0"/>
          </a:p>
        </p:txBody>
      </p:sp>
      <p:sp>
        <p:nvSpPr>
          <p:cNvPr id="26" name="Text 23"/>
          <p:cNvSpPr/>
          <p:nvPr/>
        </p:nvSpPr>
        <p:spPr>
          <a:xfrm>
            <a:off x="1280160" y="4050792"/>
            <a:ext cx="5943600" cy="658368"/>
          </a:xfrm>
          <a:prstGeom prst="rect">
            <a:avLst/>
          </a:prstGeom>
          <a:noFill/>
          <a:ln/>
        </p:spPr>
        <p:txBody>
          <a:bodyPr wrap="square" lIns="0" tIns="0" rIns="0" bIns="0" rtlCol="0" anchor="ctr"/>
          <a:lstStyle/>
          <a:p>
            <a:pPr marL="0" indent="0" algn="l">
              <a:buNone/>
            </a:pPr>
            <a:r>
              <a:rPr lang="en-US" sz="1500" dirty="0">
                <a:solidFill>
                  <a:srgbClr val="262626"/>
                </a:solidFill>
                <a:latin typeface="Arial" pitchFamily="34" charset="0"/>
                <a:ea typeface="Arial" pitchFamily="34" charset="-122"/>
                <a:cs typeface="Arial" pitchFamily="34" charset="-120"/>
              </a:rPr>
              <a:t>Démonstration des 4 modules</a:t>
            </a:r>
            <a:endParaRPr lang="en-US" sz="1500" dirty="0"/>
          </a:p>
        </p:txBody>
      </p:sp>
      <p:sp>
        <p:nvSpPr>
          <p:cNvPr id="27" name="Shape 24"/>
          <p:cNvSpPr/>
          <p:nvPr/>
        </p:nvSpPr>
        <p:spPr>
          <a:xfrm>
            <a:off x="640080" y="4709160"/>
            <a:ext cx="6583680" cy="0"/>
          </a:xfrm>
          <a:prstGeom prst="line">
            <a:avLst/>
          </a:prstGeom>
          <a:noFill/>
          <a:ln w="9525">
            <a:solidFill>
              <a:srgbClr val="E2E2E2"/>
            </a:solidFill>
            <a:prstDash val="solid"/>
          </a:ln>
        </p:spPr>
        <p:txBody>
          <a:bodyPr/>
          <a:lstStyle/>
          <a:p>
            <a:endParaRPr lang="fr-FR"/>
          </a:p>
        </p:txBody>
      </p:sp>
      <p:sp>
        <p:nvSpPr>
          <p:cNvPr id="28" name="Shape 25"/>
          <p:cNvSpPr/>
          <p:nvPr/>
        </p:nvSpPr>
        <p:spPr>
          <a:xfrm>
            <a:off x="640080" y="4754880"/>
            <a:ext cx="457200" cy="384048"/>
          </a:xfrm>
          <a:prstGeom prst="rect">
            <a:avLst/>
          </a:prstGeom>
          <a:solidFill>
            <a:srgbClr val="695D7A"/>
          </a:solidFill>
          <a:ln/>
        </p:spPr>
        <p:txBody>
          <a:bodyPr/>
          <a:lstStyle/>
          <a:p>
            <a:endParaRPr lang="fr-FR"/>
          </a:p>
        </p:txBody>
      </p:sp>
      <p:sp>
        <p:nvSpPr>
          <p:cNvPr id="29" name="Text 26"/>
          <p:cNvSpPr/>
          <p:nvPr/>
        </p:nvSpPr>
        <p:spPr>
          <a:xfrm>
            <a:off x="640080" y="4754880"/>
            <a:ext cx="457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11</a:t>
            </a:r>
            <a:endParaRPr lang="en-US" sz="1300" dirty="0"/>
          </a:p>
        </p:txBody>
      </p:sp>
      <p:sp>
        <p:nvSpPr>
          <p:cNvPr id="30" name="Text 27"/>
          <p:cNvSpPr/>
          <p:nvPr/>
        </p:nvSpPr>
        <p:spPr>
          <a:xfrm>
            <a:off x="1280160" y="4709160"/>
            <a:ext cx="5943600" cy="658368"/>
          </a:xfrm>
          <a:prstGeom prst="rect">
            <a:avLst/>
          </a:prstGeom>
          <a:noFill/>
          <a:ln/>
        </p:spPr>
        <p:txBody>
          <a:bodyPr wrap="square" lIns="0" tIns="0" rIns="0" bIns="0" rtlCol="0" anchor="ctr"/>
          <a:lstStyle/>
          <a:p>
            <a:pPr marL="0" indent="0" algn="l">
              <a:buNone/>
            </a:pPr>
            <a:r>
              <a:rPr lang="en-US" sz="1500" dirty="0">
                <a:solidFill>
                  <a:srgbClr val="262626"/>
                </a:solidFill>
                <a:latin typeface="Arial" pitchFamily="34" charset="0"/>
                <a:ea typeface="Arial" pitchFamily="34" charset="-122"/>
                <a:cs typeface="Arial" pitchFamily="34" charset="-120"/>
              </a:rPr>
              <a:t>Résultats obtenus</a:t>
            </a:r>
            <a:endParaRPr lang="en-US" sz="1500" dirty="0"/>
          </a:p>
        </p:txBody>
      </p:sp>
      <p:sp>
        <p:nvSpPr>
          <p:cNvPr id="31" name="Shape 28"/>
          <p:cNvSpPr/>
          <p:nvPr/>
        </p:nvSpPr>
        <p:spPr>
          <a:xfrm>
            <a:off x="640080" y="5367528"/>
            <a:ext cx="6583680" cy="0"/>
          </a:xfrm>
          <a:prstGeom prst="line">
            <a:avLst/>
          </a:prstGeom>
          <a:noFill/>
          <a:ln w="9525">
            <a:solidFill>
              <a:srgbClr val="E2E2E2"/>
            </a:solidFill>
            <a:prstDash val="solid"/>
          </a:ln>
        </p:spPr>
        <p:txBody>
          <a:bodyPr/>
          <a:lstStyle/>
          <a:p>
            <a:endParaRPr lang="fr-FR"/>
          </a:p>
        </p:txBody>
      </p:sp>
      <p:sp>
        <p:nvSpPr>
          <p:cNvPr id="32" name="Shape 29"/>
          <p:cNvSpPr/>
          <p:nvPr/>
        </p:nvSpPr>
        <p:spPr>
          <a:xfrm>
            <a:off x="640080" y="5413248"/>
            <a:ext cx="457200" cy="384048"/>
          </a:xfrm>
          <a:prstGeom prst="rect">
            <a:avLst/>
          </a:prstGeom>
          <a:solidFill>
            <a:srgbClr val="9F5B72"/>
          </a:solidFill>
          <a:ln/>
        </p:spPr>
        <p:txBody>
          <a:bodyPr/>
          <a:lstStyle/>
          <a:p>
            <a:endParaRPr lang="fr-FR"/>
          </a:p>
        </p:txBody>
      </p:sp>
      <p:sp>
        <p:nvSpPr>
          <p:cNvPr id="33" name="Text 30"/>
          <p:cNvSpPr/>
          <p:nvPr/>
        </p:nvSpPr>
        <p:spPr>
          <a:xfrm>
            <a:off x="640080" y="5413248"/>
            <a:ext cx="4572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12</a:t>
            </a:r>
            <a:endParaRPr lang="en-US" sz="1300" dirty="0"/>
          </a:p>
        </p:txBody>
      </p:sp>
      <p:sp>
        <p:nvSpPr>
          <p:cNvPr id="34" name="Text 31"/>
          <p:cNvSpPr/>
          <p:nvPr/>
        </p:nvSpPr>
        <p:spPr>
          <a:xfrm>
            <a:off x="1280160" y="5367528"/>
            <a:ext cx="5943600" cy="658368"/>
          </a:xfrm>
          <a:prstGeom prst="rect">
            <a:avLst/>
          </a:prstGeom>
          <a:noFill/>
          <a:ln/>
        </p:spPr>
        <p:txBody>
          <a:bodyPr wrap="square" lIns="0" tIns="0" rIns="0" bIns="0" rtlCol="0" anchor="ctr"/>
          <a:lstStyle/>
          <a:p>
            <a:pPr marL="0" indent="0" algn="l">
              <a:buNone/>
            </a:pPr>
            <a:r>
              <a:rPr lang="en-US" sz="1500" dirty="0">
                <a:solidFill>
                  <a:srgbClr val="262626"/>
                </a:solidFill>
                <a:latin typeface="Arial" pitchFamily="34" charset="0"/>
                <a:ea typeface="Arial" pitchFamily="34" charset="-122"/>
                <a:cs typeface="Arial" pitchFamily="34" charset="-120"/>
              </a:rPr>
              <a:t>Valeur métier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fr-FR" sz="3200" noProof="0" dirty="0">
                <a:solidFill>
                  <a:srgbClr val="262626"/>
                </a:solidFill>
                <a:latin typeface="Arial" pitchFamily="34" charset="0"/>
                <a:ea typeface="Arial" pitchFamily="34" charset="-122"/>
                <a:cs typeface="Arial" pitchFamily="34" charset="-120"/>
              </a:rPr>
              <a:t>Etude Préliminaire</a:t>
            </a:r>
            <a:endParaRPr lang="fr-FR" sz="3200" noProof="0" dirty="0"/>
          </a:p>
        </p:txBody>
      </p:sp>
      <p:sp>
        <p:nvSpPr>
          <p:cNvPr id="3" name="Text 1"/>
          <p:cNvSpPr/>
          <p:nvPr/>
        </p:nvSpPr>
        <p:spPr>
          <a:xfrm>
            <a:off x="457200" y="987552"/>
            <a:ext cx="11277295" cy="292608"/>
          </a:xfrm>
          <a:prstGeom prst="rect">
            <a:avLst/>
          </a:prstGeom>
          <a:noFill/>
          <a:ln/>
        </p:spPr>
        <p:txBody>
          <a:bodyPr wrap="square" rtlCol="0" anchor="ctr"/>
          <a:lstStyle/>
          <a:p>
            <a:pPr marL="0" indent="0" algn="l">
              <a:buNone/>
            </a:pPr>
            <a:r>
              <a:rPr lang="fr-FR" sz="1200" b="1" kern="0" spc="100" noProof="0" dirty="0">
                <a:solidFill>
                  <a:srgbClr val="9F5B72"/>
                </a:solidFill>
                <a:latin typeface="Arial" pitchFamily="34" charset="0"/>
                <a:ea typeface="Arial" pitchFamily="34" charset="-122"/>
                <a:cs typeface="Arial" pitchFamily="34" charset="-120"/>
              </a:rPr>
              <a:t>L'ÉCOSYSTÈME DE LA GESTION DES CONGÉS</a:t>
            </a:r>
            <a:endParaRPr lang="fr-FR" sz="1200" noProof="0" dirty="0"/>
          </a:p>
        </p:txBody>
      </p:sp>
      <p:sp>
        <p:nvSpPr>
          <p:cNvPr id="4" name="Text 2"/>
          <p:cNvSpPr/>
          <p:nvPr/>
        </p:nvSpPr>
        <p:spPr>
          <a:xfrm>
            <a:off x="457200" y="1691640"/>
            <a:ext cx="5212080" cy="1005840"/>
          </a:xfrm>
          <a:prstGeom prst="rect">
            <a:avLst/>
          </a:prstGeom>
          <a:noFill/>
          <a:ln/>
        </p:spPr>
        <p:txBody>
          <a:bodyPr wrap="square" lIns="0" tIns="0" rIns="0" bIns="0" rtlCol="0" anchor="t"/>
          <a:lstStyle/>
          <a:p>
            <a:pPr marL="0" indent="0" algn="l">
              <a:lnSpc>
                <a:spcPct val="125000"/>
              </a:lnSpc>
              <a:buNone/>
            </a:pPr>
            <a:r>
              <a:rPr lang="fr-FR" sz="1300" noProof="0" dirty="0">
                <a:solidFill>
                  <a:srgbClr val="262626"/>
                </a:solidFill>
                <a:latin typeface="Arial" pitchFamily="34" charset="0"/>
                <a:ea typeface="Arial" pitchFamily="34" charset="-122"/>
                <a:cs typeface="Arial" pitchFamily="34" charset="-120"/>
              </a:rPr>
              <a:t>Excel, e-mails et tableurs partagés restent le réflexe… souvent sans vision fiable des soldes ni des absences.</a:t>
            </a:r>
            <a:r>
              <a:rPr lang="fr-FR" sz="1300" noProof="0" dirty="0" err="1">
                <a:solidFill>
                  <a:srgbClr val="262626"/>
                </a:solidFill>
                <a:latin typeface="Arial" pitchFamily="34" charset="0"/>
                <a:ea typeface="Arial" pitchFamily="34" charset="-122"/>
                <a:cs typeface="Arial" pitchFamily="34" charset="-120"/>
              </a:rPr>
              <a:t/>
            </a:r>
            <a:r>
              <a:rPr lang="fr-FR" sz="1300" noProof="0" dirty="0">
                <a:solidFill>
                  <a:srgbClr val="262626"/>
                </a:solidFill>
                <a:latin typeface="Arial" pitchFamily="34" charset="0"/>
                <a:ea typeface="Arial" pitchFamily="34" charset="-122"/>
                <a:cs typeface="Arial" pitchFamily="34" charset="-120"/>
              </a:rPr>
              <a:t/>
            </a:r>
            <a:endParaRPr lang="fr-FR" sz="1300" noProof="0" dirty="0"/>
          </a:p>
        </p:txBody>
      </p:sp>
      <p:sp>
        <p:nvSpPr>
          <p:cNvPr id="5" name="Text 3"/>
          <p:cNvSpPr/>
          <p:nvPr/>
        </p:nvSpPr>
        <p:spPr>
          <a:xfrm>
            <a:off x="457200" y="2743200"/>
            <a:ext cx="5212080" cy="1005840"/>
          </a:xfrm>
          <a:prstGeom prst="rect">
            <a:avLst/>
          </a:prstGeom>
          <a:noFill/>
          <a:ln/>
        </p:spPr>
        <p:txBody>
          <a:bodyPr wrap="square" lIns="0" tIns="0" rIns="0" bIns="0" rtlCol="0" anchor="t"/>
          <a:lstStyle/>
          <a:p>
            <a:pPr marL="0" indent="0" algn="l">
              <a:lnSpc>
                <a:spcPct val="125000"/>
              </a:lnSpc>
              <a:buNone/>
            </a:pPr>
            <a:r>
              <a:rPr lang="fr-FR" sz="1300" noProof="0" dirty="0">
                <a:solidFill>
                  <a:srgbClr val="262626"/>
                </a:solidFill>
                <a:latin typeface="Arial" pitchFamily="34" charset="0"/>
                <a:ea typeface="Arial" pitchFamily="34" charset="-122"/>
                <a:cs typeface="Arial" pitchFamily="34" charset="-120"/>
              </a:rPr>
              <a:t>Les demandes existent, mais brutes : aucune priorisation, aucun workflow d’approbation clair.</a:t>
            </a:r>
            <a:endParaRPr lang="fr-FR" sz="1300" noProof="0" dirty="0"/>
          </a:p>
        </p:txBody>
      </p:sp>
      <p:sp>
        <p:nvSpPr>
          <p:cNvPr id="6" name="Text 4"/>
          <p:cNvSpPr/>
          <p:nvPr/>
        </p:nvSpPr>
        <p:spPr>
          <a:xfrm>
            <a:off x="457200" y="3794760"/>
            <a:ext cx="5212080" cy="1005840"/>
          </a:xfrm>
          <a:prstGeom prst="rect">
            <a:avLst/>
          </a:prstGeom>
          <a:noFill/>
          <a:ln/>
        </p:spPr>
        <p:txBody>
          <a:bodyPr wrap="square" lIns="0" tIns="0" rIns="0" bIns="0" rtlCol="0" anchor="t"/>
          <a:lstStyle/>
          <a:p>
            <a:pPr marL="0" indent="0" algn="l">
              <a:lnSpc>
                <a:spcPct val="125000"/>
              </a:lnSpc>
              <a:buNone/>
            </a:pPr>
            <a:r>
              <a:rPr lang="fr-FR" sz="1300" noProof="0" dirty="0">
                <a:solidFill>
                  <a:srgbClr val="262626"/>
                </a:solidFill>
                <a:latin typeface="Arial" pitchFamily="34" charset="0"/>
                <a:ea typeface="Arial" pitchFamily="34" charset="-122"/>
                <a:cs typeface="Arial" pitchFamily="34" charset="-120"/>
              </a:rPr>
              <a:t>Nous n'avons pas besoin de formulaires — nous avons besoin d'un processus actionnable.</a:t>
            </a:r>
            <a:endParaRPr lang="fr-FR" sz="1300" noProof="0" dirty="0"/>
          </a:p>
        </p:txBody>
      </p:sp>
      <p:sp>
        <p:nvSpPr>
          <p:cNvPr id="7" name="Text 5"/>
          <p:cNvSpPr/>
          <p:nvPr/>
        </p:nvSpPr>
        <p:spPr>
          <a:xfrm>
            <a:off x="457200" y="4846320"/>
            <a:ext cx="5212080" cy="1005840"/>
          </a:xfrm>
          <a:prstGeom prst="rect">
            <a:avLst/>
          </a:prstGeom>
          <a:noFill/>
          <a:ln/>
        </p:spPr>
        <p:txBody>
          <a:bodyPr wrap="square" lIns="0" tIns="0" rIns="0" bIns="0" rtlCol="0" anchor="t"/>
          <a:lstStyle/>
          <a:p>
            <a:pPr marL="0" indent="0" algn="l">
              <a:lnSpc>
                <a:spcPct val="125000"/>
              </a:lnSpc>
              <a:buNone/>
            </a:pPr>
            <a:r>
              <a:rPr lang="fr-FR" sz="1300" noProof="0" dirty="0">
                <a:solidFill>
                  <a:srgbClr val="262626"/>
                </a:solidFill>
                <a:latin typeface="Arial" pitchFamily="34" charset="0"/>
                <a:ea typeface="Arial" pitchFamily="34" charset="-122"/>
                <a:cs typeface="Arial" pitchFamily="34" charset="-120"/>
              </a:rPr>
              <a:t>Une demande de congé sans suivi n'est pas une formalité : c'est un risque RH et opérationnel.</a:t>
            </a:r>
            <a:endParaRPr lang="fr-FR" sz="1300" noProof="0" dirty="0"/>
          </a:p>
        </p:txBody>
      </p:sp>
      <p:sp>
        <p:nvSpPr>
          <p:cNvPr id="8" name="Shape 6"/>
          <p:cNvSpPr/>
          <p:nvPr/>
        </p:nvSpPr>
        <p:spPr>
          <a:xfrm>
            <a:off x="6035040" y="1600200"/>
            <a:ext cx="2734056" cy="457200"/>
          </a:xfrm>
          <a:prstGeom prst="rect">
            <a:avLst/>
          </a:prstGeom>
          <a:solidFill>
            <a:srgbClr val="494B69"/>
          </a:solidFill>
          <a:ln/>
        </p:spPr>
        <p:txBody>
          <a:bodyPr/>
          <a:lstStyle/>
          <a:p>
            <a:endParaRPr lang="fr-FR" noProof="0" dirty="0"/>
          </a:p>
        </p:txBody>
      </p:sp>
      <p:sp>
        <p:nvSpPr>
          <p:cNvPr id="9" name="Text 7"/>
          <p:cNvSpPr/>
          <p:nvPr/>
        </p:nvSpPr>
        <p:spPr>
          <a:xfrm>
            <a:off x="6035040" y="1600200"/>
            <a:ext cx="2734056" cy="457200"/>
          </a:xfrm>
          <a:prstGeom prst="rect">
            <a:avLst/>
          </a:prstGeom>
          <a:noFill/>
          <a:ln/>
        </p:spPr>
        <p:txBody>
          <a:bodyPr wrap="square" lIns="0" tIns="0" rIns="0" bIns="0" rtlCol="0" anchor="ctr"/>
          <a:lstStyle/>
          <a:p>
            <a:pPr marL="0" indent="0" algn="ctr">
              <a:buNone/>
            </a:pPr>
            <a:r>
              <a:rPr lang="fr-FR" sz="1300" b="1" noProof="0" dirty="0">
                <a:solidFill>
                  <a:srgbClr val="FFFFFF"/>
                </a:solidFill>
                <a:latin typeface="Arial" pitchFamily="34" charset="0"/>
                <a:ea typeface="Arial" pitchFamily="34" charset="-122"/>
                <a:cs typeface="Arial" pitchFamily="34" charset="-120"/>
              </a:rPr>
              <a:t>Processus manuel</a:t>
            </a:r>
            <a:endParaRPr lang="fr-FR" sz="1300" noProof="0" dirty="0"/>
          </a:p>
        </p:txBody>
      </p:sp>
      <p:sp>
        <p:nvSpPr>
          <p:cNvPr id="10" name="Shape 8"/>
          <p:cNvSpPr/>
          <p:nvPr/>
        </p:nvSpPr>
        <p:spPr>
          <a:xfrm>
            <a:off x="6035040" y="2057400"/>
            <a:ext cx="2734056" cy="1728216"/>
          </a:xfrm>
          <a:prstGeom prst="rect">
            <a:avLst/>
          </a:prstGeom>
          <a:solidFill>
            <a:srgbClr val="F2F2F2"/>
          </a:solidFill>
          <a:ln/>
        </p:spPr>
        <p:txBody>
          <a:bodyPr/>
          <a:lstStyle/>
          <a:p>
            <a:endParaRPr lang="fr-FR" noProof="0" dirty="0"/>
          </a:p>
        </p:txBody>
      </p:sp>
      <p:sp>
        <p:nvSpPr>
          <p:cNvPr id="11" name="Text 9"/>
          <p:cNvSpPr/>
          <p:nvPr/>
        </p:nvSpPr>
        <p:spPr>
          <a:xfrm>
            <a:off x="6035040" y="2148840"/>
            <a:ext cx="2734056" cy="864108"/>
          </a:xfrm>
          <a:prstGeom prst="rect">
            <a:avLst/>
          </a:prstGeom>
          <a:noFill/>
          <a:ln/>
        </p:spPr>
        <p:txBody>
          <a:bodyPr wrap="square" lIns="0" tIns="0" rIns="0" bIns="0" rtlCol="0" anchor="b"/>
          <a:lstStyle/>
          <a:p>
            <a:pPr marL="0" indent="0" algn="ctr">
              <a:buNone/>
            </a:pPr>
            <a:r>
              <a:rPr lang="fr-FR" sz="3400" b="1" noProof="0" dirty="0">
                <a:solidFill>
                  <a:srgbClr val="494B69"/>
                </a:solidFill>
                <a:latin typeface="Arial" pitchFamily="34" charset="0"/>
                <a:ea typeface="Arial" pitchFamily="34" charset="-122"/>
                <a:cs typeface="Arial" pitchFamily="34" charset="-120"/>
              </a:rPr>
              <a:t>65%</a:t>
            </a:r>
            <a:endParaRPr lang="fr-FR" sz="3400" noProof="0" dirty="0"/>
          </a:p>
        </p:txBody>
      </p:sp>
      <p:sp>
        <p:nvSpPr>
          <p:cNvPr id="12" name="Text 10"/>
          <p:cNvSpPr/>
          <p:nvPr/>
        </p:nvSpPr>
        <p:spPr>
          <a:xfrm>
            <a:off x="6217920" y="3049524"/>
            <a:ext cx="2368296" cy="725851"/>
          </a:xfrm>
          <a:prstGeom prst="rect">
            <a:avLst/>
          </a:prstGeom>
          <a:noFill/>
          <a:ln/>
        </p:spPr>
        <p:txBody>
          <a:bodyPr wrap="square" lIns="0" tIns="0" rIns="0" bIns="0" rtlCol="0" anchor="t"/>
          <a:lstStyle/>
          <a:p>
            <a:pPr marL="0" indent="0" algn="ctr">
              <a:lnSpc>
                <a:spcPct val="115000"/>
              </a:lnSpc>
              <a:buNone/>
            </a:pPr>
            <a:r>
              <a:rPr lang="fr-FR" sz="1050" noProof="0" dirty="0">
                <a:solidFill>
                  <a:srgbClr val="595959"/>
                </a:solidFill>
                <a:latin typeface="Arial" pitchFamily="34" charset="0"/>
                <a:ea typeface="Arial" pitchFamily="34" charset="-122"/>
                <a:cs typeface="Arial" pitchFamily="34" charset="-120"/>
              </a:rPr>
              <a:t>Des équipes RH gèrent encore les congés via Excel ou messagerie.</a:t>
            </a:r>
            <a:endParaRPr lang="fr-FR" sz="1050" noProof="0" dirty="0"/>
          </a:p>
        </p:txBody>
      </p:sp>
      <p:sp>
        <p:nvSpPr>
          <p:cNvPr id="13" name="Shape 11"/>
          <p:cNvSpPr/>
          <p:nvPr/>
        </p:nvSpPr>
        <p:spPr>
          <a:xfrm>
            <a:off x="8970264" y="1600200"/>
            <a:ext cx="2734056" cy="457200"/>
          </a:xfrm>
          <a:prstGeom prst="rect">
            <a:avLst/>
          </a:prstGeom>
          <a:solidFill>
            <a:srgbClr val="695D7A"/>
          </a:solidFill>
          <a:ln/>
        </p:spPr>
        <p:txBody>
          <a:bodyPr/>
          <a:lstStyle/>
          <a:p>
            <a:endParaRPr lang="fr-FR" noProof="0" dirty="0"/>
          </a:p>
        </p:txBody>
      </p:sp>
      <p:sp>
        <p:nvSpPr>
          <p:cNvPr id="14" name="Text 12"/>
          <p:cNvSpPr/>
          <p:nvPr/>
        </p:nvSpPr>
        <p:spPr>
          <a:xfrm>
            <a:off x="8970264" y="1600200"/>
            <a:ext cx="2734056" cy="457200"/>
          </a:xfrm>
          <a:prstGeom prst="rect">
            <a:avLst/>
          </a:prstGeom>
          <a:noFill/>
          <a:ln/>
        </p:spPr>
        <p:txBody>
          <a:bodyPr wrap="square" lIns="0" tIns="0" rIns="0" bIns="0" rtlCol="0" anchor="ctr"/>
          <a:lstStyle/>
          <a:p>
            <a:pPr marL="0" indent="0" algn="ctr">
              <a:buNone/>
            </a:pPr>
            <a:r>
              <a:rPr lang="fr-FR" sz="1300" b="1" noProof="0" dirty="0">
                <a:solidFill>
                  <a:srgbClr val="FFFFFF"/>
                </a:solidFill>
                <a:latin typeface="Arial" pitchFamily="34" charset="0"/>
                <a:ea typeface="Arial" pitchFamily="34" charset="-122"/>
                <a:cs typeface="Arial" pitchFamily="34" charset="-120"/>
              </a:rPr>
              <a:t>Visibilité</a:t>
            </a:r>
            <a:endParaRPr lang="fr-FR" sz="1300" noProof="0" dirty="0"/>
          </a:p>
        </p:txBody>
      </p:sp>
      <p:sp>
        <p:nvSpPr>
          <p:cNvPr id="15" name="Shape 13"/>
          <p:cNvSpPr/>
          <p:nvPr/>
        </p:nvSpPr>
        <p:spPr>
          <a:xfrm>
            <a:off x="8970264" y="2057400"/>
            <a:ext cx="2734056" cy="1728216"/>
          </a:xfrm>
          <a:prstGeom prst="rect">
            <a:avLst/>
          </a:prstGeom>
          <a:solidFill>
            <a:srgbClr val="F2F2F2"/>
          </a:solidFill>
          <a:ln/>
        </p:spPr>
        <p:txBody>
          <a:bodyPr/>
          <a:lstStyle/>
          <a:p>
            <a:endParaRPr lang="fr-FR" noProof="0" dirty="0"/>
          </a:p>
        </p:txBody>
      </p:sp>
      <p:sp>
        <p:nvSpPr>
          <p:cNvPr id="16" name="Text 14"/>
          <p:cNvSpPr/>
          <p:nvPr/>
        </p:nvSpPr>
        <p:spPr>
          <a:xfrm>
            <a:off x="8970264" y="2148840"/>
            <a:ext cx="2734056" cy="864108"/>
          </a:xfrm>
          <a:prstGeom prst="rect">
            <a:avLst/>
          </a:prstGeom>
          <a:noFill/>
          <a:ln/>
        </p:spPr>
        <p:txBody>
          <a:bodyPr wrap="square" lIns="0" tIns="0" rIns="0" bIns="0" rtlCol="0" anchor="b"/>
          <a:lstStyle/>
          <a:p>
            <a:pPr marL="0" indent="0" algn="ctr">
              <a:buNone/>
            </a:pPr>
            <a:r>
              <a:rPr lang="fr-FR" sz="3400" b="1" noProof="0" dirty="0">
                <a:solidFill>
                  <a:srgbClr val="695D7A"/>
                </a:solidFill>
                <a:latin typeface="Arial" pitchFamily="34" charset="0"/>
                <a:ea typeface="Arial" pitchFamily="34" charset="-122"/>
                <a:cs typeface="Arial" pitchFamily="34" charset="-120"/>
              </a:rPr>
              <a:t>1 / 3</a:t>
            </a:r>
            <a:endParaRPr lang="fr-FR" sz="3400" noProof="0" dirty="0"/>
          </a:p>
        </p:txBody>
      </p:sp>
      <p:sp>
        <p:nvSpPr>
          <p:cNvPr id="17" name="Text 15"/>
          <p:cNvSpPr/>
          <p:nvPr/>
        </p:nvSpPr>
        <p:spPr>
          <a:xfrm>
            <a:off x="9153144" y="3049524"/>
            <a:ext cx="2368296" cy="725851"/>
          </a:xfrm>
          <a:prstGeom prst="rect">
            <a:avLst/>
          </a:prstGeom>
          <a:noFill/>
          <a:ln/>
        </p:spPr>
        <p:txBody>
          <a:bodyPr wrap="square" lIns="0" tIns="0" rIns="0" bIns="0" rtlCol="0" anchor="t"/>
          <a:lstStyle/>
          <a:p>
            <a:pPr marL="0" indent="0" algn="ctr">
              <a:lnSpc>
                <a:spcPct val="115000"/>
              </a:lnSpc>
              <a:buNone/>
            </a:pPr>
            <a:r>
              <a:rPr lang="fr-FR" sz="1050" noProof="0" dirty="0">
                <a:solidFill>
                  <a:srgbClr val="595959"/>
                </a:solidFill>
                <a:latin typeface="Arial" pitchFamily="34" charset="0"/>
                <a:ea typeface="Arial" pitchFamily="34" charset="-122"/>
                <a:cs typeface="Arial" pitchFamily="34" charset="-120"/>
              </a:rPr>
              <a:t>Des managers n'ont pas de vue temps réel sur les absences de l'équipe.</a:t>
            </a:r>
            <a:endParaRPr lang="fr-FR" sz="1050" noProof="0" dirty="0"/>
          </a:p>
        </p:txBody>
      </p:sp>
      <p:sp>
        <p:nvSpPr>
          <p:cNvPr id="18" name="Shape 16"/>
          <p:cNvSpPr/>
          <p:nvPr/>
        </p:nvSpPr>
        <p:spPr>
          <a:xfrm>
            <a:off x="6035040" y="3986784"/>
            <a:ext cx="2734056" cy="457200"/>
          </a:xfrm>
          <a:prstGeom prst="rect">
            <a:avLst/>
          </a:prstGeom>
          <a:solidFill>
            <a:srgbClr val="9F5B72"/>
          </a:solidFill>
          <a:ln/>
        </p:spPr>
        <p:txBody>
          <a:bodyPr/>
          <a:lstStyle/>
          <a:p>
            <a:endParaRPr lang="fr-FR" noProof="0" dirty="0"/>
          </a:p>
        </p:txBody>
      </p:sp>
      <p:sp>
        <p:nvSpPr>
          <p:cNvPr id="19" name="Text 17"/>
          <p:cNvSpPr/>
          <p:nvPr/>
        </p:nvSpPr>
        <p:spPr>
          <a:xfrm>
            <a:off x="6035040" y="3986784"/>
            <a:ext cx="2734056" cy="457200"/>
          </a:xfrm>
          <a:prstGeom prst="rect">
            <a:avLst/>
          </a:prstGeom>
          <a:noFill/>
          <a:ln/>
        </p:spPr>
        <p:txBody>
          <a:bodyPr wrap="square" lIns="0" tIns="0" rIns="0" bIns="0" rtlCol="0" anchor="ctr"/>
          <a:lstStyle/>
          <a:p>
            <a:pPr marL="0" indent="0" algn="ctr">
              <a:buNone/>
            </a:pPr>
            <a:r>
              <a:rPr lang="fr-FR" sz="1300" b="1" noProof="0" dirty="0">
                <a:solidFill>
                  <a:srgbClr val="FFFFFF"/>
                </a:solidFill>
                <a:latin typeface="Arial" pitchFamily="34" charset="0"/>
                <a:ea typeface="Arial" pitchFamily="34" charset="-122"/>
                <a:cs typeface="Arial" pitchFamily="34" charset="-120"/>
              </a:rPr>
              <a:t>Temps perdu</a:t>
            </a:r>
            <a:endParaRPr lang="fr-FR" sz="1300" noProof="0" dirty="0"/>
          </a:p>
        </p:txBody>
      </p:sp>
      <p:sp>
        <p:nvSpPr>
          <p:cNvPr id="20" name="Shape 18"/>
          <p:cNvSpPr/>
          <p:nvPr/>
        </p:nvSpPr>
        <p:spPr>
          <a:xfrm>
            <a:off x="6035040" y="4443984"/>
            <a:ext cx="2734056" cy="1728216"/>
          </a:xfrm>
          <a:prstGeom prst="rect">
            <a:avLst/>
          </a:prstGeom>
          <a:solidFill>
            <a:srgbClr val="F2F2F2"/>
          </a:solidFill>
          <a:ln/>
        </p:spPr>
        <p:txBody>
          <a:bodyPr/>
          <a:lstStyle/>
          <a:p>
            <a:endParaRPr lang="fr-FR" noProof="0" dirty="0"/>
          </a:p>
        </p:txBody>
      </p:sp>
      <p:sp>
        <p:nvSpPr>
          <p:cNvPr id="21" name="Text 19"/>
          <p:cNvSpPr/>
          <p:nvPr/>
        </p:nvSpPr>
        <p:spPr>
          <a:xfrm>
            <a:off x="6035040" y="4535424"/>
            <a:ext cx="2734056" cy="864108"/>
          </a:xfrm>
          <a:prstGeom prst="rect">
            <a:avLst/>
          </a:prstGeom>
          <a:noFill/>
          <a:ln/>
        </p:spPr>
        <p:txBody>
          <a:bodyPr wrap="square" lIns="0" tIns="0" rIns="0" bIns="0" rtlCol="0" anchor="b"/>
          <a:lstStyle/>
          <a:p>
            <a:pPr marL="0" indent="0" algn="ctr">
              <a:buNone/>
            </a:pPr>
            <a:r>
              <a:rPr lang="fr-FR" sz="3400" b="1" noProof="0" dirty="0">
                <a:solidFill>
                  <a:srgbClr val="9F5B72"/>
                </a:solidFill>
                <a:latin typeface="Arial" pitchFamily="34" charset="0"/>
                <a:ea typeface="Arial" pitchFamily="34" charset="-122"/>
                <a:cs typeface="Arial" pitchFamily="34" charset="-120"/>
              </a:rPr>
              <a:t>2-4 h</a:t>
            </a:r>
            <a:endParaRPr lang="fr-FR" sz="3400" noProof="0" dirty="0"/>
          </a:p>
        </p:txBody>
      </p:sp>
      <p:sp>
        <p:nvSpPr>
          <p:cNvPr id="22" name="Text 20"/>
          <p:cNvSpPr/>
          <p:nvPr/>
        </p:nvSpPr>
        <p:spPr>
          <a:xfrm>
            <a:off x="6217920" y="5436108"/>
            <a:ext cx="2368296" cy="725851"/>
          </a:xfrm>
          <a:prstGeom prst="rect">
            <a:avLst/>
          </a:prstGeom>
          <a:noFill/>
          <a:ln/>
        </p:spPr>
        <p:txBody>
          <a:bodyPr wrap="square" lIns="0" tIns="0" rIns="0" bIns="0" rtlCol="0" anchor="t"/>
          <a:lstStyle/>
          <a:p>
            <a:pPr marL="0" indent="0" algn="ctr">
              <a:lnSpc>
                <a:spcPct val="115000"/>
              </a:lnSpc>
              <a:buNone/>
            </a:pPr>
            <a:r>
              <a:rPr lang="fr-FR" sz="1050" noProof="0" dirty="0">
                <a:solidFill>
                  <a:srgbClr val="595959"/>
                </a:solidFill>
                <a:latin typeface="Arial" pitchFamily="34" charset="0"/>
                <a:ea typeface="Arial" pitchFamily="34" charset="-122"/>
                <a:cs typeface="Arial" pitchFamily="34" charset="-120"/>
              </a:rPr>
              <a:t>Par semaine pour suivre soldes, validations et planning à la main.</a:t>
            </a:r>
            <a:r>
              <a:rPr lang="fr-FR" sz="1050" noProof="0" dirty="0" err="1">
                <a:solidFill>
                  <a:srgbClr val="595959"/>
                </a:solidFill>
                <a:latin typeface="Arial" pitchFamily="34" charset="0"/>
                <a:ea typeface="Arial" pitchFamily="34" charset="-122"/>
                <a:cs typeface="Arial" pitchFamily="34" charset="-120"/>
              </a:rPr>
              <a:t/>
            </a:r>
            <a:r>
              <a:rPr lang="fr-FR" sz="1050" noProof="0" dirty="0">
                <a:solidFill>
                  <a:srgbClr val="595959"/>
                </a:solidFill>
                <a:latin typeface="Arial" pitchFamily="34" charset="0"/>
                <a:ea typeface="Arial" pitchFamily="34" charset="-122"/>
                <a:cs typeface="Arial" pitchFamily="34" charset="-120"/>
              </a:rPr>
              <a:t/>
            </a:r>
            <a:endParaRPr lang="fr-FR" sz="1050" noProof="0" dirty="0"/>
          </a:p>
        </p:txBody>
      </p:sp>
      <p:sp>
        <p:nvSpPr>
          <p:cNvPr id="23" name="Shape 21"/>
          <p:cNvSpPr/>
          <p:nvPr/>
        </p:nvSpPr>
        <p:spPr>
          <a:xfrm>
            <a:off x="8970264" y="3986784"/>
            <a:ext cx="2734056" cy="457200"/>
          </a:xfrm>
          <a:prstGeom prst="rect">
            <a:avLst/>
          </a:prstGeom>
          <a:solidFill>
            <a:srgbClr val="D8707C"/>
          </a:solidFill>
          <a:ln/>
        </p:spPr>
        <p:txBody>
          <a:bodyPr/>
          <a:lstStyle/>
          <a:p>
            <a:endParaRPr lang="fr-FR" noProof="0" dirty="0"/>
          </a:p>
        </p:txBody>
      </p:sp>
      <p:sp>
        <p:nvSpPr>
          <p:cNvPr id="24" name="Text 22"/>
          <p:cNvSpPr/>
          <p:nvPr/>
        </p:nvSpPr>
        <p:spPr>
          <a:xfrm>
            <a:off x="8970264" y="3986784"/>
            <a:ext cx="2734056" cy="457200"/>
          </a:xfrm>
          <a:prstGeom prst="rect">
            <a:avLst/>
          </a:prstGeom>
          <a:noFill/>
          <a:ln/>
        </p:spPr>
        <p:txBody>
          <a:bodyPr wrap="square" lIns="0" tIns="0" rIns="0" bIns="0" rtlCol="0" anchor="ctr"/>
          <a:lstStyle/>
          <a:p>
            <a:pPr marL="0" indent="0" algn="ctr">
              <a:buNone/>
            </a:pPr>
            <a:r>
              <a:rPr lang="fr-FR" sz="1300" b="1" noProof="0" dirty="0">
                <a:solidFill>
                  <a:srgbClr val="FFFFFF"/>
                </a:solidFill>
                <a:latin typeface="Arial" pitchFamily="34" charset="0"/>
                <a:ea typeface="Arial" pitchFamily="34" charset="-122"/>
                <a:cs typeface="Arial" pitchFamily="34" charset="-120"/>
              </a:rPr>
              <a:t>Sans reporting</a:t>
            </a:r>
            <a:endParaRPr lang="fr-FR" sz="1300" noProof="0" dirty="0"/>
          </a:p>
        </p:txBody>
      </p:sp>
      <p:sp>
        <p:nvSpPr>
          <p:cNvPr id="25" name="Shape 23"/>
          <p:cNvSpPr/>
          <p:nvPr/>
        </p:nvSpPr>
        <p:spPr>
          <a:xfrm>
            <a:off x="8970264" y="4443984"/>
            <a:ext cx="2734056" cy="1728216"/>
          </a:xfrm>
          <a:prstGeom prst="rect">
            <a:avLst/>
          </a:prstGeom>
          <a:solidFill>
            <a:srgbClr val="F2F2F2"/>
          </a:solidFill>
          <a:ln/>
        </p:spPr>
        <p:txBody>
          <a:bodyPr/>
          <a:lstStyle/>
          <a:p>
            <a:endParaRPr lang="fr-FR" noProof="0" dirty="0"/>
          </a:p>
        </p:txBody>
      </p:sp>
      <p:sp>
        <p:nvSpPr>
          <p:cNvPr id="26" name="Text 24"/>
          <p:cNvSpPr/>
          <p:nvPr/>
        </p:nvSpPr>
        <p:spPr>
          <a:xfrm>
            <a:off x="8970264" y="4535424"/>
            <a:ext cx="2734056" cy="864108"/>
          </a:xfrm>
          <a:prstGeom prst="rect">
            <a:avLst/>
          </a:prstGeom>
          <a:noFill/>
          <a:ln/>
        </p:spPr>
        <p:txBody>
          <a:bodyPr wrap="square" lIns="0" tIns="0" rIns="0" bIns="0" rtlCol="0" anchor="b"/>
          <a:lstStyle/>
          <a:p>
            <a:pPr marL="0" indent="0" algn="ctr">
              <a:buNone/>
            </a:pPr>
            <a:r>
              <a:rPr lang="fr-FR" sz="3400" b="1" noProof="0" dirty="0">
                <a:solidFill>
                  <a:srgbClr val="D8707C"/>
                </a:solidFill>
                <a:latin typeface="Arial" pitchFamily="34" charset="0"/>
                <a:ea typeface="Arial" pitchFamily="34" charset="-122"/>
                <a:cs typeface="Arial" pitchFamily="34" charset="-120"/>
              </a:rPr>
              <a:t>70%</a:t>
            </a:r>
            <a:endParaRPr lang="fr-FR" sz="3400" noProof="0" dirty="0"/>
          </a:p>
        </p:txBody>
      </p:sp>
      <p:sp>
        <p:nvSpPr>
          <p:cNvPr id="27" name="Text 25"/>
          <p:cNvSpPr/>
          <p:nvPr/>
        </p:nvSpPr>
        <p:spPr>
          <a:xfrm>
            <a:off x="9153144" y="5436108"/>
            <a:ext cx="2368296" cy="725851"/>
          </a:xfrm>
          <a:prstGeom prst="rect">
            <a:avLst/>
          </a:prstGeom>
          <a:noFill/>
          <a:ln/>
        </p:spPr>
        <p:txBody>
          <a:bodyPr wrap="square" lIns="0" tIns="0" rIns="0" bIns="0" rtlCol="0" anchor="t"/>
          <a:lstStyle/>
          <a:p>
            <a:pPr marL="0" indent="0" algn="ctr">
              <a:lnSpc>
                <a:spcPct val="115000"/>
              </a:lnSpc>
              <a:buNone/>
            </a:pPr>
            <a:r>
              <a:rPr lang="fr-FR" sz="1050" noProof="0" dirty="0">
                <a:solidFill>
                  <a:srgbClr val="595959"/>
                </a:solidFill>
                <a:latin typeface="Arial" pitchFamily="34" charset="0"/>
                <a:ea typeface="Arial" pitchFamily="34" charset="-122"/>
                <a:cs typeface="Arial" pitchFamily="34" charset="-120"/>
              </a:rPr>
              <a:t>Des décideurs veulent un export clair avant de piloter les congés.</a:t>
            </a:r>
            <a:endParaRPr lang="fr-FR" sz="1050" noProof="0" dirty="0"/>
          </a:p>
        </p:txBody>
      </p:sp>
      <p:sp>
        <p:nvSpPr>
          <p:cNvPr id="28" name="Text 26"/>
          <p:cNvSpPr/>
          <p:nvPr/>
        </p:nvSpPr>
        <p:spPr>
          <a:xfrm>
            <a:off x="11368735" y="6400800"/>
            <a:ext cx="548640" cy="274320"/>
          </a:xfrm>
          <a:prstGeom prst="rect">
            <a:avLst/>
          </a:prstGeom>
          <a:noFill/>
          <a:ln/>
        </p:spPr>
        <p:txBody>
          <a:bodyPr wrap="square" rtlCol="0" anchor="ctr"/>
          <a:lstStyle/>
          <a:p>
            <a:pPr marL="0" indent="0" algn="r">
              <a:buNone/>
            </a:pPr>
            <a:r>
              <a:rPr lang="fr-FR" sz="1000" noProof="0" dirty="0">
                <a:solidFill>
                  <a:srgbClr val="8A8A8A"/>
                </a:solidFill>
                <a:latin typeface="Arial" pitchFamily="34" charset="0"/>
                <a:ea typeface="Arial" pitchFamily="34" charset="-122"/>
                <a:cs typeface="Arial" pitchFamily="34" charset="-120"/>
              </a:rPr>
              <a:t>02</a:t>
            </a:r>
            <a:endParaRPr lang="fr-FR" sz="1000" noProof="0" dirty="0"/>
          </a:p>
        </p:txBody>
      </p:sp>
      <p:sp>
        <p:nvSpPr>
          <p:cNvPr id="29" name="Text 27"/>
          <p:cNvSpPr/>
          <p:nvPr/>
        </p:nvSpPr>
        <p:spPr>
          <a:xfrm>
            <a:off x="457200" y="6400800"/>
            <a:ext cx="4572000" cy="274320"/>
          </a:xfrm>
          <a:prstGeom prst="rect">
            <a:avLst/>
          </a:prstGeom>
          <a:noFill/>
          <a:ln/>
        </p:spPr>
        <p:txBody>
          <a:bodyPr wrap="square" rtlCol="0" anchor="ctr"/>
          <a:lstStyle/>
          <a:p>
            <a:pPr marL="0" indent="0" algn="l">
              <a:buNone/>
            </a:pPr>
            <a:r>
              <a:rPr lang="fr-FR" sz="900" noProof="0" dirty="0">
                <a:solidFill>
                  <a:srgbClr val="8A8A8A"/>
                </a:solidFill>
                <a:latin typeface="Arial" pitchFamily="34" charset="0"/>
                <a:ea typeface="Arial" pitchFamily="34" charset="-122"/>
                <a:cs typeface="Arial" pitchFamily="34" charset="-120"/>
              </a:rPr>
              <a:t>Gestion de congés · Présentation de projet</a:t>
            </a:r>
            <a:endParaRPr lang="fr-FR" sz="9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Etude Préliminaire</a:t>
            </a:r>
            <a:endParaRPr lang="en-US" sz="3200" dirty="0"/>
          </a:p>
        </p:txBody>
      </p:sp>
      <p:sp>
        <p:nvSpPr>
          <p:cNvPr id="3" name="Text 1"/>
          <p:cNvSpPr/>
          <p:nvPr/>
        </p:nvSpPr>
        <p:spPr>
          <a:xfrm>
            <a:off x="457200" y="987552"/>
            <a:ext cx="11277295" cy="292608"/>
          </a:xfrm>
          <a:prstGeom prst="rect">
            <a:avLst/>
          </a:prstGeom>
          <a:noFill/>
          <a:ln/>
        </p:spPr>
        <p:txBody>
          <a:bodyPr wrap="square" rtlCol="0" anchor="ctr"/>
          <a:lstStyle/>
          <a:p>
            <a:pPr marL="0" indent="0" algn="l">
              <a:buNone/>
            </a:pPr>
            <a:r>
              <a:rPr lang="en-US" sz="1200" b="1" kern="0" spc="100" dirty="0">
                <a:solidFill>
                  <a:srgbClr val="9F5B72"/>
                </a:solidFill>
                <a:latin typeface="Arial" pitchFamily="34" charset="0"/>
                <a:ea typeface="Arial" pitchFamily="34" charset="-122"/>
                <a:cs typeface="Arial" pitchFamily="34" charset="-120"/>
              </a:rPr>
              <a:t>PROBLÉMATIQUE</a:t>
            </a:r>
            <a:endParaRPr lang="en-US" sz="1200" dirty="0"/>
          </a:p>
        </p:txBody>
      </p:sp>
      <p:sp>
        <p:nvSpPr>
          <p:cNvPr id="4" name="Shape 2"/>
          <p:cNvSpPr/>
          <p:nvPr/>
        </p:nvSpPr>
        <p:spPr>
          <a:xfrm>
            <a:off x="457200" y="1691640"/>
            <a:ext cx="1965960" cy="2148840"/>
          </a:xfrm>
          <a:prstGeom prst="rect">
            <a:avLst/>
          </a:prstGeom>
          <a:solidFill>
            <a:srgbClr val="494B69"/>
          </a:solidFill>
          <a:ln/>
        </p:spPr>
        <p:txBody>
          <a:bodyPr/>
          <a:lstStyle/>
          <a:p>
            <a:endParaRPr lang="fr-FR"/>
          </a:p>
        </p:txBody>
      </p:sp>
      <p:sp>
        <p:nvSpPr>
          <p:cNvPr id="5" name="Text 3"/>
          <p:cNvSpPr/>
          <p:nvPr/>
        </p:nvSpPr>
        <p:spPr>
          <a:xfrm>
            <a:off x="548640" y="1691640"/>
            <a:ext cx="1783080" cy="214884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Suivi dispersé</a:t>
            </a:r>
            <a:endParaRPr lang="en-US" sz="1500" dirty="0"/>
          </a:p>
        </p:txBody>
      </p:sp>
      <p:sp>
        <p:nvSpPr>
          <p:cNvPr id="6" name="Shape 4"/>
          <p:cNvSpPr/>
          <p:nvPr/>
        </p:nvSpPr>
        <p:spPr>
          <a:xfrm>
            <a:off x="2423160" y="1691640"/>
            <a:ext cx="3512668" cy="2148840"/>
          </a:xfrm>
          <a:prstGeom prst="rect">
            <a:avLst/>
          </a:prstGeom>
          <a:solidFill>
            <a:srgbClr val="F2F2F2"/>
          </a:solidFill>
          <a:ln/>
        </p:spPr>
        <p:txBody>
          <a:bodyPr/>
          <a:lstStyle/>
          <a:p>
            <a:endParaRPr lang="fr-FR"/>
          </a:p>
        </p:txBody>
      </p:sp>
      <p:sp>
        <p:nvSpPr>
          <p:cNvPr id="7" name="Text 5"/>
          <p:cNvSpPr/>
          <p:nvPr/>
        </p:nvSpPr>
        <p:spPr>
          <a:xfrm>
            <a:off x="2606040" y="1783080"/>
            <a:ext cx="3146908" cy="1965960"/>
          </a:xfrm>
          <a:prstGeom prst="rect">
            <a:avLst/>
          </a:prstGeom>
          <a:noFill/>
          <a:ln/>
        </p:spPr>
        <p:txBody>
          <a:bodyPr wrap="square" lIns="0" tIns="0" rIns="0" bIns="0" rtlCol="0" anchor="ctr"/>
          <a:lstStyle/>
          <a:p>
            <a:pPr marL="0" indent="0" algn="l">
              <a:lnSpc>
                <a:spcPct val="115000"/>
              </a:lnSpc>
              <a:buNone/>
            </a:pPr>
            <a:r>
              <a:rPr lang="en-US" sz="1150" dirty="0">
                <a:solidFill>
                  <a:srgbClr val="262626"/>
                </a:solidFill>
                <a:latin typeface="Arial" pitchFamily="34" charset="0"/>
                <a:ea typeface="Arial" pitchFamily="34" charset="-122"/>
                <a:cs typeface="Arial" pitchFamily="34" charset="-120"/>
              </a:rPr>
              <a:t>Obtenir une vision précise des soldes et des absences est difficile — et souvent très chronophage. Les collecter dans Excel ou par e-mail prend un temps considérable.</a:t>
            </a:r>
            <a:endParaRPr lang="en-US" sz="1150" dirty="0"/>
          </a:p>
        </p:txBody>
      </p:sp>
      <p:sp>
        <p:nvSpPr>
          <p:cNvPr id="8" name="Shape 6"/>
          <p:cNvSpPr/>
          <p:nvPr/>
        </p:nvSpPr>
        <p:spPr>
          <a:xfrm>
            <a:off x="6255868" y="1691640"/>
            <a:ext cx="1965960" cy="2148840"/>
          </a:xfrm>
          <a:prstGeom prst="rect">
            <a:avLst/>
          </a:prstGeom>
          <a:solidFill>
            <a:srgbClr val="695D7A"/>
          </a:solidFill>
          <a:ln/>
        </p:spPr>
        <p:txBody>
          <a:bodyPr/>
          <a:lstStyle/>
          <a:p>
            <a:endParaRPr lang="fr-FR"/>
          </a:p>
        </p:txBody>
      </p:sp>
      <p:sp>
        <p:nvSpPr>
          <p:cNvPr id="9" name="Text 7"/>
          <p:cNvSpPr/>
          <p:nvPr/>
        </p:nvSpPr>
        <p:spPr>
          <a:xfrm>
            <a:off x="6347308" y="1691640"/>
            <a:ext cx="1783080" cy="214884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Approbation opaque</a:t>
            </a:r>
            <a:endParaRPr lang="en-US" sz="1500" dirty="0"/>
          </a:p>
        </p:txBody>
      </p:sp>
      <p:sp>
        <p:nvSpPr>
          <p:cNvPr id="10" name="Shape 8"/>
          <p:cNvSpPr/>
          <p:nvPr/>
        </p:nvSpPr>
        <p:spPr>
          <a:xfrm>
            <a:off x="8221828" y="1691640"/>
            <a:ext cx="3512668" cy="2148840"/>
          </a:xfrm>
          <a:prstGeom prst="rect">
            <a:avLst/>
          </a:prstGeom>
          <a:solidFill>
            <a:srgbClr val="F2F2F2"/>
          </a:solidFill>
          <a:ln/>
        </p:spPr>
        <p:txBody>
          <a:bodyPr/>
          <a:lstStyle/>
          <a:p>
            <a:endParaRPr lang="fr-FR"/>
          </a:p>
        </p:txBody>
      </p:sp>
      <p:sp>
        <p:nvSpPr>
          <p:cNvPr id="11" name="Text 9"/>
          <p:cNvSpPr/>
          <p:nvPr/>
        </p:nvSpPr>
        <p:spPr>
          <a:xfrm>
            <a:off x="8404708" y="1783080"/>
            <a:ext cx="3146908" cy="1965960"/>
          </a:xfrm>
          <a:prstGeom prst="rect">
            <a:avLst/>
          </a:prstGeom>
          <a:noFill/>
          <a:ln/>
        </p:spPr>
        <p:txBody>
          <a:bodyPr wrap="square" lIns="0" tIns="0" rIns="0" bIns="0" rtlCol="0" anchor="ctr"/>
          <a:lstStyle/>
          <a:p>
            <a:pPr marL="0" indent="0" algn="l">
              <a:lnSpc>
                <a:spcPct val="115000"/>
              </a:lnSpc>
              <a:buNone/>
            </a:pPr>
            <a:r>
              <a:rPr lang="en-US" sz="1150" dirty="0">
                <a:solidFill>
                  <a:srgbClr val="262626"/>
                </a:solidFill>
                <a:latin typeface="Arial" pitchFamily="34" charset="0"/>
                <a:ea typeface="Arial" pitchFamily="34" charset="-122"/>
                <a:cs typeface="Arial" pitchFamily="34" charset="-120"/>
              </a:rPr>
              <a:t>Impossible de savoir vite qui valide, ce qui est en attente, ou si un solde est réellement disponible.</a:t>
            </a:r>
            <a:endParaRPr lang="en-US" sz="1150" dirty="0"/>
          </a:p>
        </p:txBody>
      </p:sp>
      <p:sp>
        <p:nvSpPr>
          <p:cNvPr id="12" name="Shape 10"/>
          <p:cNvSpPr/>
          <p:nvPr/>
        </p:nvSpPr>
        <p:spPr>
          <a:xfrm>
            <a:off x="457200" y="4160520"/>
            <a:ext cx="1965960" cy="2148840"/>
          </a:xfrm>
          <a:prstGeom prst="rect">
            <a:avLst/>
          </a:prstGeom>
          <a:solidFill>
            <a:srgbClr val="9F5B72"/>
          </a:solidFill>
          <a:ln/>
        </p:spPr>
        <p:txBody>
          <a:bodyPr/>
          <a:lstStyle/>
          <a:p>
            <a:endParaRPr lang="fr-FR"/>
          </a:p>
        </p:txBody>
      </p:sp>
      <p:sp>
        <p:nvSpPr>
          <p:cNvPr id="13" name="Text 11"/>
          <p:cNvSpPr/>
          <p:nvPr/>
        </p:nvSpPr>
        <p:spPr>
          <a:xfrm>
            <a:off x="548640" y="4160520"/>
            <a:ext cx="1783080" cy="214884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Risque planning</a:t>
            </a:r>
            <a:endParaRPr lang="en-US" sz="1500" dirty="0"/>
          </a:p>
        </p:txBody>
      </p:sp>
      <p:sp>
        <p:nvSpPr>
          <p:cNvPr id="14" name="Shape 12"/>
          <p:cNvSpPr/>
          <p:nvPr/>
        </p:nvSpPr>
        <p:spPr>
          <a:xfrm>
            <a:off x="2423160" y="4160520"/>
            <a:ext cx="3512668" cy="2148840"/>
          </a:xfrm>
          <a:prstGeom prst="rect">
            <a:avLst/>
          </a:prstGeom>
          <a:solidFill>
            <a:srgbClr val="F2F2F2"/>
          </a:solidFill>
          <a:ln/>
        </p:spPr>
        <p:txBody>
          <a:bodyPr/>
          <a:lstStyle/>
          <a:p>
            <a:endParaRPr lang="fr-FR"/>
          </a:p>
        </p:txBody>
      </p:sp>
      <p:sp>
        <p:nvSpPr>
          <p:cNvPr id="15" name="Text 13"/>
          <p:cNvSpPr/>
          <p:nvPr/>
        </p:nvSpPr>
        <p:spPr>
          <a:xfrm>
            <a:off x="2606040" y="4251960"/>
            <a:ext cx="3146908" cy="1965960"/>
          </a:xfrm>
          <a:prstGeom prst="rect">
            <a:avLst/>
          </a:prstGeom>
          <a:noFill/>
          <a:ln/>
        </p:spPr>
        <p:txBody>
          <a:bodyPr wrap="square" lIns="0" tIns="0" rIns="0" bIns="0" rtlCol="0" anchor="ctr"/>
          <a:lstStyle/>
          <a:p>
            <a:pPr marL="0" indent="0" algn="l">
              <a:lnSpc>
                <a:spcPct val="115000"/>
              </a:lnSpc>
              <a:buNone/>
            </a:pPr>
            <a:r>
              <a:rPr lang="en-US" sz="1150" dirty="0">
                <a:solidFill>
                  <a:srgbClr val="262626"/>
                </a:solidFill>
                <a:latin typeface="Arial" pitchFamily="34" charset="0"/>
                <a:ea typeface="Arial" pitchFamily="34" charset="-122"/>
                <a:cs typeface="Arial" pitchFamily="34" charset="-120"/>
              </a:rPr>
              <a:t>Valider sans vue d'équipe crée des chevauchements… et souvent des tensions si l'effectif est sous-dimensionné.</a:t>
            </a:r>
            <a:endParaRPr lang="en-US" sz="1150" dirty="0"/>
          </a:p>
        </p:txBody>
      </p:sp>
      <p:sp>
        <p:nvSpPr>
          <p:cNvPr id="16" name="Shape 14"/>
          <p:cNvSpPr/>
          <p:nvPr/>
        </p:nvSpPr>
        <p:spPr>
          <a:xfrm>
            <a:off x="6255868" y="4160520"/>
            <a:ext cx="1965960" cy="2148840"/>
          </a:xfrm>
          <a:prstGeom prst="rect">
            <a:avLst/>
          </a:prstGeom>
          <a:solidFill>
            <a:srgbClr val="D8707C"/>
          </a:solidFill>
          <a:ln/>
        </p:spPr>
        <p:txBody>
          <a:bodyPr/>
          <a:lstStyle/>
          <a:p>
            <a:endParaRPr lang="fr-FR"/>
          </a:p>
        </p:txBody>
      </p:sp>
      <p:sp>
        <p:nvSpPr>
          <p:cNvPr id="17" name="Text 15"/>
          <p:cNvSpPr/>
          <p:nvPr/>
        </p:nvSpPr>
        <p:spPr>
          <a:xfrm>
            <a:off x="6347308" y="4160520"/>
            <a:ext cx="1783080" cy="214884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Fuite RH</a:t>
            </a:r>
            <a:endParaRPr lang="en-US" sz="1500" dirty="0"/>
          </a:p>
        </p:txBody>
      </p:sp>
      <p:sp>
        <p:nvSpPr>
          <p:cNvPr id="18" name="Shape 16"/>
          <p:cNvSpPr/>
          <p:nvPr/>
        </p:nvSpPr>
        <p:spPr>
          <a:xfrm>
            <a:off x="8221828" y="4160520"/>
            <a:ext cx="3512668" cy="2148840"/>
          </a:xfrm>
          <a:prstGeom prst="rect">
            <a:avLst/>
          </a:prstGeom>
          <a:solidFill>
            <a:srgbClr val="F2F2F2"/>
          </a:solidFill>
          <a:ln/>
        </p:spPr>
        <p:txBody>
          <a:bodyPr/>
          <a:lstStyle/>
          <a:p>
            <a:endParaRPr lang="fr-FR"/>
          </a:p>
        </p:txBody>
      </p:sp>
      <p:sp>
        <p:nvSpPr>
          <p:cNvPr id="19" name="Text 17"/>
          <p:cNvSpPr/>
          <p:nvPr/>
        </p:nvSpPr>
        <p:spPr>
          <a:xfrm>
            <a:off x="8404708" y="4251960"/>
            <a:ext cx="3146908" cy="1965960"/>
          </a:xfrm>
          <a:prstGeom prst="rect">
            <a:avLst/>
          </a:prstGeom>
          <a:noFill/>
          <a:ln/>
        </p:spPr>
        <p:txBody>
          <a:bodyPr wrap="square" lIns="0" tIns="0" rIns="0" bIns="0" rtlCol="0" anchor="ctr"/>
          <a:lstStyle/>
          <a:p>
            <a:pPr marL="0" indent="0" algn="l">
              <a:lnSpc>
                <a:spcPct val="115000"/>
              </a:lnSpc>
              <a:buNone/>
            </a:pPr>
            <a:r>
              <a:rPr lang="en-US" sz="1150" dirty="0">
                <a:solidFill>
                  <a:srgbClr val="262626"/>
                </a:solidFill>
                <a:latin typeface="Arial" pitchFamily="34" charset="0"/>
                <a:ea typeface="Arial" pitchFamily="34" charset="-122"/>
                <a:cs typeface="Arial" pitchFamily="34" charset="-120"/>
              </a:rPr>
              <a:t>Sans preuve traçable (historique, notifications, export), le suivi reste fragile et la conformité ralentit.</a:t>
            </a:r>
            <a:endParaRPr lang="en-US" sz="1150" dirty="0"/>
          </a:p>
        </p:txBody>
      </p:sp>
      <p:sp>
        <p:nvSpPr>
          <p:cNvPr id="20" name="Text 1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03</a:t>
            </a:r>
            <a:endParaRPr lang="en-US" sz="1000" dirty="0"/>
          </a:p>
        </p:txBody>
      </p:sp>
      <p:sp>
        <p:nvSpPr>
          <p:cNvPr id="21" name="Text 19"/>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L'objectif</a:t>
            </a:r>
            <a:endParaRPr lang="en-US" sz="3200" dirty="0"/>
          </a:p>
        </p:txBody>
      </p:sp>
      <p:sp>
        <p:nvSpPr>
          <p:cNvPr id="3" name="Shape 1"/>
          <p:cNvSpPr/>
          <p:nvPr/>
        </p:nvSpPr>
        <p:spPr>
          <a:xfrm>
            <a:off x="1466812" y="1828800"/>
            <a:ext cx="594360" cy="594360"/>
          </a:xfrm>
          <a:prstGeom prst="ellipse">
            <a:avLst/>
          </a:prstGeom>
          <a:solidFill>
            <a:srgbClr val="494B69"/>
          </a:solidFill>
          <a:ln/>
        </p:spPr>
        <p:txBody>
          <a:bodyPr/>
          <a:lstStyle/>
          <a:p>
            <a:endParaRPr lang="fr-FR"/>
          </a:p>
        </p:txBody>
      </p:sp>
      <p:sp>
        <p:nvSpPr>
          <p:cNvPr id="4" name="Text 2"/>
          <p:cNvSpPr/>
          <p:nvPr/>
        </p:nvSpPr>
        <p:spPr>
          <a:xfrm>
            <a:off x="1466812" y="182880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5" name="Shape 3"/>
          <p:cNvSpPr/>
          <p:nvPr/>
        </p:nvSpPr>
        <p:spPr>
          <a:xfrm>
            <a:off x="457200" y="2651760"/>
            <a:ext cx="2613584" cy="2468880"/>
          </a:xfrm>
          <a:prstGeom prst="rect">
            <a:avLst/>
          </a:prstGeom>
          <a:solidFill>
            <a:srgbClr val="F2F2F2"/>
          </a:solidFill>
          <a:ln/>
        </p:spPr>
        <p:txBody>
          <a:bodyPr/>
          <a:lstStyle/>
          <a:p>
            <a:endParaRPr lang="fr-FR"/>
          </a:p>
        </p:txBody>
      </p:sp>
      <p:sp>
        <p:nvSpPr>
          <p:cNvPr id="6" name="Text 4"/>
          <p:cNvSpPr/>
          <p:nvPr/>
        </p:nvSpPr>
        <p:spPr>
          <a:xfrm>
            <a:off x="621792" y="2834640"/>
            <a:ext cx="2284400" cy="2103120"/>
          </a:xfrm>
          <a:prstGeom prst="rect">
            <a:avLst/>
          </a:prstGeom>
          <a:noFill/>
          <a:ln/>
        </p:spPr>
        <p:txBody>
          <a:bodyPr wrap="square" lIns="0" tIns="0" rIns="0" bIns="0" rtlCol="0" anchor="t"/>
          <a:lstStyle/>
          <a:p>
            <a:pPr marL="0" indent="0" algn="l">
              <a:lnSpc>
                <a:spcPct val="120000"/>
              </a:lnSpc>
              <a:buNone/>
            </a:pPr>
            <a:r>
              <a:rPr lang="en-US" sz="1200" dirty="0">
                <a:solidFill>
                  <a:srgbClr val="262626"/>
                </a:solidFill>
                <a:latin typeface="Arial" pitchFamily="34" charset="0"/>
                <a:ea typeface="Arial" pitchFamily="34" charset="-122"/>
                <a:cs typeface="Arial" pitchFamily="34" charset="-120"/>
              </a:rPr>
              <a:t>Centraliser les demandes de congés (annuel, maladie, personnel, sans solde) dans un parcours unique.</a:t>
            </a:r>
            <a:endParaRPr lang="en-US" sz="1200" dirty="0"/>
          </a:p>
        </p:txBody>
      </p:sp>
      <p:sp>
        <p:nvSpPr>
          <p:cNvPr id="7" name="Shape 5"/>
          <p:cNvSpPr/>
          <p:nvPr/>
        </p:nvSpPr>
        <p:spPr>
          <a:xfrm>
            <a:off x="4354716" y="1828800"/>
            <a:ext cx="594360" cy="594360"/>
          </a:xfrm>
          <a:prstGeom prst="ellipse">
            <a:avLst/>
          </a:prstGeom>
          <a:solidFill>
            <a:srgbClr val="695D7A"/>
          </a:solidFill>
          <a:ln/>
        </p:spPr>
        <p:txBody>
          <a:bodyPr/>
          <a:lstStyle/>
          <a:p>
            <a:endParaRPr lang="fr-FR"/>
          </a:p>
        </p:txBody>
      </p:sp>
      <p:sp>
        <p:nvSpPr>
          <p:cNvPr id="8" name="Text 6"/>
          <p:cNvSpPr/>
          <p:nvPr/>
        </p:nvSpPr>
        <p:spPr>
          <a:xfrm>
            <a:off x="4354716" y="182880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9" name="Shape 7"/>
          <p:cNvSpPr/>
          <p:nvPr/>
        </p:nvSpPr>
        <p:spPr>
          <a:xfrm>
            <a:off x="3345104" y="2651760"/>
            <a:ext cx="2613584" cy="2468880"/>
          </a:xfrm>
          <a:prstGeom prst="rect">
            <a:avLst/>
          </a:prstGeom>
          <a:solidFill>
            <a:srgbClr val="F2F2F2"/>
          </a:solidFill>
          <a:ln/>
        </p:spPr>
        <p:txBody>
          <a:bodyPr/>
          <a:lstStyle/>
          <a:p>
            <a:endParaRPr lang="fr-FR"/>
          </a:p>
        </p:txBody>
      </p:sp>
      <p:sp>
        <p:nvSpPr>
          <p:cNvPr id="10" name="Text 8"/>
          <p:cNvSpPr/>
          <p:nvPr/>
        </p:nvSpPr>
        <p:spPr>
          <a:xfrm>
            <a:off x="3509696" y="2834640"/>
            <a:ext cx="2284400" cy="2103120"/>
          </a:xfrm>
          <a:prstGeom prst="rect">
            <a:avLst/>
          </a:prstGeom>
          <a:noFill/>
          <a:ln/>
        </p:spPr>
        <p:txBody>
          <a:bodyPr wrap="square" lIns="0" tIns="0" rIns="0" bIns="0" rtlCol="0" anchor="t"/>
          <a:lstStyle/>
          <a:p>
            <a:pPr marL="0" indent="0" algn="l">
              <a:lnSpc>
                <a:spcPct val="120000"/>
              </a:lnSpc>
              <a:buNone/>
            </a:pPr>
            <a:r>
              <a:rPr lang="en-US" sz="1200" dirty="0">
                <a:solidFill>
                  <a:srgbClr val="262626"/>
                </a:solidFill>
                <a:latin typeface="Arial" pitchFamily="34" charset="0"/>
                <a:ea typeface="Arial" pitchFamily="34" charset="-122"/>
                <a:cs typeface="Arial" pitchFamily="34" charset="-120"/>
              </a:rPr>
              <a:t>Suivre automatiquement chaque solde : total, utilisé, en attente, restant — y compris demi-journées.</a:t>
            </a:r>
            <a:endParaRPr lang="en-US" sz="1200" dirty="0"/>
          </a:p>
        </p:txBody>
      </p:sp>
      <p:sp>
        <p:nvSpPr>
          <p:cNvPr id="11" name="Shape 9"/>
          <p:cNvSpPr/>
          <p:nvPr/>
        </p:nvSpPr>
        <p:spPr>
          <a:xfrm>
            <a:off x="7242620" y="1828800"/>
            <a:ext cx="594360" cy="594360"/>
          </a:xfrm>
          <a:prstGeom prst="ellipse">
            <a:avLst/>
          </a:prstGeom>
          <a:solidFill>
            <a:srgbClr val="9F5B72"/>
          </a:solidFill>
          <a:ln/>
        </p:spPr>
        <p:txBody>
          <a:bodyPr/>
          <a:lstStyle/>
          <a:p>
            <a:endParaRPr lang="fr-FR"/>
          </a:p>
        </p:txBody>
      </p:sp>
      <p:sp>
        <p:nvSpPr>
          <p:cNvPr id="12" name="Text 10"/>
          <p:cNvSpPr/>
          <p:nvPr/>
        </p:nvSpPr>
        <p:spPr>
          <a:xfrm>
            <a:off x="7242620" y="182880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3" name="Shape 11"/>
          <p:cNvSpPr/>
          <p:nvPr/>
        </p:nvSpPr>
        <p:spPr>
          <a:xfrm>
            <a:off x="6233008" y="2651760"/>
            <a:ext cx="2613584" cy="2468880"/>
          </a:xfrm>
          <a:prstGeom prst="rect">
            <a:avLst/>
          </a:prstGeom>
          <a:solidFill>
            <a:srgbClr val="F2F2F2"/>
          </a:solidFill>
          <a:ln/>
        </p:spPr>
        <p:txBody>
          <a:bodyPr/>
          <a:lstStyle/>
          <a:p>
            <a:endParaRPr lang="fr-FR"/>
          </a:p>
        </p:txBody>
      </p:sp>
      <p:sp>
        <p:nvSpPr>
          <p:cNvPr id="14" name="Text 12"/>
          <p:cNvSpPr/>
          <p:nvPr/>
        </p:nvSpPr>
        <p:spPr>
          <a:xfrm>
            <a:off x="6397600" y="2834640"/>
            <a:ext cx="2284400" cy="2103120"/>
          </a:xfrm>
          <a:prstGeom prst="rect">
            <a:avLst/>
          </a:prstGeom>
          <a:noFill/>
          <a:ln/>
        </p:spPr>
        <p:txBody>
          <a:bodyPr wrap="square" lIns="0" tIns="0" rIns="0" bIns="0" rtlCol="0" anchor="t"/>
          <a:lstStyle/>
          <a:p>
            <a:pPr marL="0" indent="0" algn="l">
              <a:lnSpc>
                <a:spcPct val="120000"/>
              </a:lnSpc>
              <a:buNone/>
            </a:pPr>
            <a:r>
              <a:rPr lang="en-US" sz="1200" dirty="0">
                <a:solidFill>
                  <a:srgbClr val="262626"/>
                </a:solidFill>
                <a:latin typeface="Arial" pitchFamily="34" charset="0"/>
                <a:ea typeface="Arial" pitchFamily="34" charset="-122"/>
                <a:cs typeface="Arial" pitchFamily="34" charset="-120"/>
              </a:rPr>
              <a:t>Donner aux managers et admins une vue calendrier + équipe pour décider sans friction.</a:t>
            </a:r>
            <a:endParaRPr lang="en-US" sz="1200" dirty="0"/>
          </a:p>
        </p:txBody>
      </p:sp>
      <p:sp>
        <p:nvSpPr>
          <p:cNvPr id="15" name="Shape 13"/>
          <p:cNvSpPr/>
          <p:nvPr/>
        </p:nvSpPr>
        <p:spPr>
          <a:xfrm>
            <a:off x="10130523" y="1828800"/>
            <a:ext cx="594360" cy="594360"/>
          </a:xfrm>
          <a:prstGeom prst="ellipse">
            <a:avLst/>
          </a:prstGeom>
          <a:solidFill>
            <a:srgbClr val="D8707C"/>
          </a:solidFill>
          <a:ln/>
        </p:spPr>
        <p:txBody>
          <a:bodyPr/>
          <a:lstStyle/>
          <a:p>
            <a:endParaRPr lang="fr-FR"/>
          </a:p>
        </p:txBody>
      </p:sp>
      <p:sp>
        <p:nvSpPr>
          <p:cNvPr id="16" name="Text 14"/>
          <p:cNvSpPr/>
          <p:nvPr/>
        </p:nvSpPr>
        <p:spPr>
          <a:xfrm>
            <a:off x="10130523" y="182880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17" name="Shape 15"/>
          <p:cNvSpPr/>
          <p:nvPr/>
        </p:nvSpPr>
        <p:spPr>
          <a:xfrm>
            <a:off x="9120911" y="2651760"/>
            <a:ext cx="2613584" cy="2468880"/>
          </a:xfrm>
          <a:prstGeom prst="rect">
            <a:avLst/>
          </a:prstGeom>
          <a:solidFill>
            <a:srgbClr val="F2F2F2"/>
          </a:solidFill>
          <a:ln/>
        </p:spPr>
        <p:txBody>
          <a:bodyPr/>
          <a:lstStyle/>
          <a:p>
            <a:endParaRPr lang="fr-FR"/>
          </a:p>
        </p:txBody>
      </p:sp>
      <p:sp>
        <p:nvSpPr>
          <p:cNvPr id="18" name="Text 16"/>
          <p:cNvSpPr/>
          <p:nvPr/>
        </p:nvSpPr>
        <p:spPr>
          <a:xfrm>
            <a:off x="9285503" y="2834640"/>
            <a:ext cx="2284400" cy="2103120"/>
          </a:xfrm>
          <a:prstGeom prst="rect">
            <a:avLst/>
          </a:prstGeom>
          <a:noFill/>
          <a:ln/>
        </p:spPr>
        <p:txBody>
          <a:bodyPr wrap="square" lIns="0" tIns="0" rIns="0" bIns="0" rtlCol="0" anchor="t"/>
          <a:lstStyle/>
          <a:p>
            <a:pPr marL="0" indent="0" algn="l">
              <a:lnSpc>
                <a:spcPct val="120000"/>
              </a:lnSpc>
              <a:buNone/>
            </a:pPr>
            <a:r>
              <a:rPr lang="en-US" sz="1200" dirty="0">
                <a:solidFill>
                  <a:srgbClr val="262626"/>
                </a:solidFill>
                <a:latin typeface="Arial" pitchFamily="34" charset="0"/>
                <a:ea typeface="Arial" pitchFamily="34" charset="-122"/>
                <a:cs typeface="Arial" pitchFamily="34" charset="-120"/>
              </a:rPr>
              <a:t>Piloter via rapports, notifications e-mail et export Excel du planning annuel.</a:t>
            </a:r>
            <a:endParaRPr lang="en-US" sz="1200" dirty="0"/>
          </a:p>
        </p:txBody>
      </p:sp>
      <p:sp>
        <p:nvSpPr>
          <p:cNvPr id="19" name="Text 1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04</a:t>
            </a:r>
            <a:endParaRPr lang="en-US" sz="1000" dirty="0"/>
          </a:p>
        </p:txBody>
      </p:sp>
      <p:sp>
        <p:nvSpPr>
          <p:cNvPr id="20" name="Text 18"/>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Périmètre fonctionnel</a:t>
            </a:r>
            <a:endParaRPr lang="en-US" sz="3200" dirty="0"/>
          </a:p>
        </p:txBody>
      </p:sp>
      <p:sp>
        <p:nvSpPr>
          <p:cNvPr id="3" name="Text 1"/>
          <p:cNvSpPr/>
          <p:nvPr/>
        </p:nvSpPr>
        <p:spPr>
          <a:xfrm>
            <a:off x="457200" y="987552"/>
            <a:ext cx="11277295" cy="292608"/>
          </a:xfrm>
          <a:prstGeom prst="rect">
            <a:avLst/>
          </a:prstGeom>
          <a:noFill/>
          <a:ln/>
        </p:spPr>
        <p:txBody>
          <a:bodyPr wrap="square" rtlCol="0" anchor="ctr"/>
          <a:lstStyle/>
          <a:p>
            <a:pPr marL="0" indent="0" algn="l">
              <a:buNone/>
            </a:pPr>
            <a:r>
              <a:rPr lang="en-US" sz="1200" b="1" kern="0" spc="100" dirty="0">
                <a:solidFill>
                  <a:srgbClr val="9F5B72"/>
                </a:solidFill>
                <a:latin typeface="Arial" pitchFamily="34" charset="0"/>
                <a:ea typeface="Arial" pitchFamily="34" charset="-122"/>
                <a:cs typeface="Arial" pitchFamily="34" charset="-120"/>
              </a:rPr>
              <a:t>4 MODULES PRODUIT</a:t>
            </a:r>
            <a:endParaRPr lang="en-US" sz="1200" dirty="0"/>
          </a:p>
        </p:txBody>
      </p:sp>
      <p:sp>
        <p:nvSpPr>
          <p:cNvPr id="4" name="Shape 2"/>
          <p:cNvSpPr/>
          <p:nvPr/>
        </p:nvSpPr>
        <p:spPr>
          <a:xfrm>
            <a:off x="457200" y="1737360"/>
            <a:ext cx="2442134" cy="685800"/>
          </a:xfrm>
          <a:prstGeom prst="rect">
            <a:avLst/>
          </a:prstGeom>
          <a:solidFill>
            <a:srgbClr val="494B69"/>
          </a:solidFill>
          <a:ln/>
        </p:spPr>
        <p:txBody>
          <a:bodyPr/>
          <a:lstStyle/>
          <a:p>
            <a:endParaRPr lang="fr-FR"/>
          </a:p>
        </p:txBody>
      </p:sp>
      <p:sp>
        <p:nvSpPr>
          <p:cNvPr id="5" name="Text 3"/>
          <p:cNvSpPr/>
          <p:nvPr/>
        </p:nvSpPr>
        <p:spPr>
          <a:xfrm>
            <a:off x="548640" y="1737360"/>
            <a:ext cx="2259254" cy="68580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Demandes &amp; workflow</a:t>
            </a:r>
            <a:endParaRPr lang="en-US" sz="1350" dirty="0"/>
          </a:p>
        </p:txBody>
      </p:sp>
      <p:sp>
        <p:nvSpPr>
          <p:cNvPr id="6" name="Shape 4"/>
          <p:cNvSpPr/>
          <p:nvPr/>
        </p:nvSpPr>
        <p:spPr>
          <a:xfrm>
            <a:off x="457200" y="2423160"/>
            <a:ext cx="2442134" cy="3291840"/>
          </a:xfrm>
          <a:prstGeom prst="rect">
            <a:avLst/>
          </a:prstGeom>
          <a:solidFill>
            <a:srgbClr val="F2F2F2"/>
          </a:solidFill>
          <a:ln/>
        </p:spPr>
        <p:txBody>
          <a:bodyPr/>
          <a:lstStyle/>
          <a:p>
            <a:endParaRPr lang="fr-FR"/>
          </a:p>
        </p:txBody>
      </p:sp>
      <p:sp>
        <p:nvSpPr>
          <p:cNvPr id="7" name="Text 5"/>
          <p:cNvSpPr/>
          <p:nvPr/>
        </p:nvSpPr>
        <p:spPr>
          <a:xfrm>
            <a:off x="603504" y="2606040"/>
            <a:ext cx="2149526" cy="2926080"/>
          </a:xfrm>
          <a:prstGeom prst="rect">
            <a:avLst/>
          </a:prstGeom>
          <a:noFill/>
          <a:ln/>
        </p:spPr>
        <p:txBody>
          <a:bodyPr wrap="square" lIns="0" tIns="0" rIns="0" bIns="0" rtlCol="0" anchor="t"/>
          <a:lstStyle/>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Création en quelques clics</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Statuts pending / approved / rejected</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Urgence &amp; demi-journées</a:t>
            </a:r>
            <a:endParaRPr lang="en-US" sz="1100" dirty="0"/>
          </a:p>
        </p:txBody>
      </p:sp>
      <p:sp>
        <p:nvSpPr>
          <p:cNvPr id="8" name="Text 6"/>
          <p:cNvSpPr/>
          <p:nvPr/>
        </p:nvSpPr>
        <p:spPr>
          <a:xfrm>
            <a:off x="2899334" y="3703320"/>
            <a:ext cx="502920" cy="731520"/>
          </a:xfrm>
          <a:prstGeom prst="rect">
            <a:avLst/>
          </a:prstGeom>
          <a:noFill/>
          <a:ln/>
        </p:spPr>
        <p:txBody>
          <a:bodyPr wrap="square" lIns="0" tIns="0" rIns="0" bIns="0" rtlCol="0" anchor="ctr"/>
          <a:lstStyle/>
          <a:p>
            <a:pPr marL="0" indent="0" algn="ctr">
              <a:buNone/>
            </a:pPr>
            <a:r>
              <a:rPr lang="en-US" sz="2200" b="1" dirty="0">
                <a:solidFill>
                  <a:srgbClr val="8A8A8A"/>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3402254" y="1737360"/>
            <a:ext cx="2442134" cy="685800"/>
          </a:xfrm>
          <a:prstGeom prst="rect">
            <a:avLst/>
          </a:prstGeom>
          <a:solidFill>
            <a:srgbClr val="695D7A"/>
          </a:solidFill>
          <a:ln/>
        </p:spPr>
        <p:txBody>
          <a:bodyPr/>
          <a:lstStyle/>
          <a:p>
            <a:endParaRPr lang="fr-FR"/>
          </a:p>
        </p:txBody>
      </p:sp>
      <p:sp>
        <p:nvSpPr>
          <p:cNvPr id="10" name="Text 8"/>
          <p:cNvSpPr/>
          <p:nvPr/>
        </p:nvSpPr>
        <p:spPr>
          <a:xfrm>
            <a:off x="3493694" y="1737360"/>
            <a:ext cx="2259254" cy="68580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Soldes &amp; types</a:t>
            </a:r>
            <a:endParaRPr lang="en-US" sz="1350" dirty="0"/>
          </a:p>
        </p:txBody>
      </p:sp>
      <p:sp>
        <p:nvSpPr>
          <p:cNvPr id="11" name="Shape 9"/>
          <p:cNvSpPr/>
          <p:nvPr/>
        </p:nvSpPr>
        <p:spPr>
          <a:xfrm>
            <a:off x="3402254" y="2423160"/>
            <a:ext cx="2442134" cy="3291840"/>
          </a:xfrm>
          <a:prstGeom prst="rect">
            <a:avLst/>
          </a:prstGeom>
          <a:solidFill>
            <a:srgbClr val="F2F2F2"/>
          </a:solidFill>
          <a:ln/>
        </p:spPr>
        <p:txBody>
          <a:bodyPr/>
          <a:lstStyle/>
          <a:p>
            <a:endParaRPr lang="fr-FR"/>
          </a:p>
        </p:txBody>
      </p:sp>
      <p:sp>
        <p:nvSpPr>
          <p:cNvPr id="12" name="Text 10"/>
          <p:cNvSpPr/>
          <p:nvPr/>
        </p:nvSpPr>
        <p:spPr>
          <a:xfrm>
            <a:off x="3548558" y="2606040"/>
            <a:ext cx="2149526" cy="2926080"/>
          </a:xfrm>
          <a:prstGeom prst="rect">
            <a:avLst/>
          </a:prstGeom>
          <a:noFill/>
          <a:ln/>
        </p:spPr>
        <p:txBody>
          <a:bodyPr wrap="square" lIns="0" tIns="0" rIns="0" bIns="0" rtlCol="0" anchor="t"/>
          <a:lstStyle/>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Annuel / maladie / personnel</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Sans solde inclus</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Gestion admin des quotas</a:t>
            </a:r>
            <a:endParaRPr lang="en-US" sz="1100" dirty="0"/>
          </a:p>
        </p:txBody>
      </p:sp>
      <p:sp>
        <p:nvSpPr>
          <p:cNvPr id="13" name="Text 11"/>
          <p:cNvSpPr/>
          <p:nvPr/>
        </p:nvSpPr>
        <p:spPr>
          <a:xfrm>
            <a:off x="5844388" y="3703320"/>
            <a:ext cx="502920" cy="731520"/>
          </a:xfrm>
          <a:prstGeom prst="rect">
            <a:avLst/>
          </a:prstGeom>
          <a:noFill/>
          <a:ln/>
        </p:spPr>
        <p:txBody>
          <a:bodyPr wrap="square" lIns="0" tIns="0" rIns="0" bIns="0" rtlCol="0" anchor="ctr"/>
          <a:lstStyle/>
          <a:p>
            <a:pPr marL="0" indent="0" algn="ctr">
              <a:buNone/>
            </a:pPr>
            <a:r>
              <a:rPr lang="en-US" sz="2200" b="1" dirty="0">
                <a:solidFill>
                  <a:srgbClr val="8A8A8A"/>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6347308" y="1737360"/>
            <a:ext cx="2442134" cy="685800"/>
          </a:xfrm>
          <a:prstGeom prst="rect">
            <a:avLst/>
          </a:prstGeom>
          <a:solidFill>
            <a:srgbClr val="D8707C"/>
          </a:solidFill>
          <a:ln/>
        </p:spPr>
        <p:txBody>
          <a:bodyPr/>
          <a:lstStyle/>
          <a:p>
            <a:endParaRPr lang="fr-FR"/>
          </a:p>
        </p:txBody>
      </p:sp>
      <p:sp>
        <p:nvSpPr>
          <p:cNvPr id="15" name="Text 13"/>
          <p:cNvSpPr/>
          <p:nvPr/>
        </p:nvSpPr>
        <p:spPr>
          <a:xfrm>
            <a:off x="6438748" y="1737360"/>
            <a:ext cx="2259254" cy="68580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Calendrier &amp; équipe</a:t>
            </a:r>
            <a:endParaRPr lang="en-US" sz="1350" dirty="0"/>
          </a:p>
        </p:txBody>
      </p:sp>
      <p:sp>
        <p:nvSpPr>
          <p:cNvPr id="16" name="Shape 14"/>
          <p:cNvSpPr/>
          <p:nvPr/>
        </p:nvSpPr>
        <p:spPr>
          <a:xfrm>
            <a:off x="6347308" y="2423160"/>
            <a:ext cx="2442134" cy="3291840"/>
          </a:xfrm>
          <a:prstGeom prst="rect">
            <a:avLst/>
          </a:prstGeom>
          <a:solidFill>
            <a:srgbClr val="F2F2F2"/>
          </a:solidFill>
          <a:ln/>
        </p:spPr>
        <p:txBody>
          <a:bodyPr/>
          <a:lstStyle/>
          <a:p>
            <a:endParaRPr lang="fr-FR"/>
          </a:p>
        </p:txBody>
      </p:sp>
      <p:sp>
        <p:nvSpPr>
          <p:cNvPr id="17" name="Text 15"/>
          <p:cNvSpPr/>
          <p:nvPr/>
        </p:nvSpPr>
        <p:spPr>
          <a:xfrm>
            <a:off x="6493612" y="2606040"/>
            <a:ext cx="2149526" cy="2926080"/>
          </a:xfrm>
          <a:prstGeom prst="rect">
            <a:avLst/>
          </a:prstGeom>
          <a:noFill/>
          <a:ln/>
        </p:spPr>
        <p:txBody>
          <a:bodyPr wrap="square" lIns="0" tIns="0" rIns="0" bIns="0" rtlCol="0" anchor="t"/>
          <a:lstStyle/>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Vue mensuelle claire</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Disponibilité équipe</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Jours fériés intégrés</a:t>
            </a:r>
            <a:endParaRPr lang="en-US" sz="1100" dirty="0"/>
          </a:p>
        </p:txBody>
      </p:sp>
      <p:sp>
        <p:nvSpPr>
          <p:cNvPr id="18" name="Text 16"/>
          <p:cNvSpPr/>
          <p:nvPr/>
        </p:nvSpPr>
        <p:spPr>
          <a:xfrm>
            <a:off x="8789441" y="3703320"/>
            <a:ext cx="502920" cy="731520"/>
          </a:xfrm>
          <a:prstGeom prst="rect">
            <a:avLst/>
          </a:prstGeom>
          <a:noFill/>
          <a:ln/>
        </p:spPr>
        <p:txBody>
          <a:bodyPr wrap="square" lIns="0" tIns="0" rIns="0" bIns="0" rtlCol="0" anchor="ctr"/>
          <a:lstStyle/>
          <a:p>
            <a:pPr marL="0" indent="0" algn="ctr">
              <a:buNone/>
            </a:pPr>
            <a:r>
              <a:rPr lang="en-US" sz="2200" b="1" dirty="0">
                <a:solidFill>
                  <a:srgbClr val="8A8A8A"/>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9292361" y="1737360"/>
            <a:ext cx="2442134" cy="685800"/>
          </a:xfrm>
          <a:prstGeom prst="rect">
            <a:avLst/>
          </a:prstGeom>
          <a:solidFill>
            <a:srgbClr val="FDCD5A"/>
          </a:solidFill>
          <a:ln/>
        </p:spPr>
        <p:txBody>
          <a:bodyPr/>
          <a:lstStyle/>
          <a:p>
            <a:endParaRPr lang="fr-FR"/>
          </a:p>
        </p:txBody>
      </p:sp>
      <p:sp>
        <p:nvSpPr>
          <p:cNvPr id="20" name="Text 18"/>
          <p:cNvSpPr/>
          <p:nvPr/>
        </p:nvSpPr>
        <p:spPr>
          <a:xfrm>
            <a:off x="9383801" y="1737360"/>
            <a:ext cx="2259254" cy="685800"/>
          </a:xfrm>
          <a:prstGeom prst="rect">
            <a:avLst/>
          </a:prstGeom>
          <a:noFill/>
          <a:ln/>
        </p:spPr>
        <p:txBody>
          <a:bodyPr wrap="square" lIns="0" tIns="0" rIns="0" bIns="0" rtlCol="0" anchor="ctr"/>
          <a:lstStyle/>
          <a:p>
            <a:pPr marL="0" indent="0" algn="ctr">
              <a:buNone/>
            </a:pPr>
            <a:r>
              <a:rPr lang="en-US" sz="1350" b="1" dirty="0">
                <a:solidFill>
                  <a:srgbClr val="262626"/>
                </a:solidFill>
                <a:latin typeface="Arial" pitchFamily="34" charset="0"/>
                <a:ea typeface="Arial" pitchFamily="34" charset="-122"/>
                <a:cs typeface="Arial" pitchFamily="34" charset="-120"/>
              </a:rPr>
              <a:t>Admin &amp; reporting</a:t>
            </a:r>
            <a:endParaRPr lang="en-US" sz="1350" dirty="0"/>
          </a:p>
        </p:txBody>
      </p:sp>
      <p:sp>
        <p:nvSpPr>
          <p:cNvPr id="21" name="Shape 19"/>
          <p:cNvSpPr/>
          <p:nvPr/>
        </p:nvSpPr>
        <p:spPr>
          <a:xfrm>
            <a:off x="9292361" y="2423160"/>
            <a:ext cx="2442134" cy="3291840"/>
          </a:xfrm>
          <a:prstGeom prst="rect">
            <a:avLst/>
          </a:prstGeom>
          <a:solidFill>
            <a:srgbClr val="F2F2F2"/>
          </a:solidFill>
          <a:ln/>
        </p:spPr>
        <p:txBody>
          <a:bodyPr/>
          <a:lstStyle/>
          <a:p>
            <a:endParaRPr lang="fr-FR"/>
          </a:p>
        </p:txBody>
      </p:sp>
      <p:sp>
        <p:nvSpPr>
          <p:cNvPr id="22" name="Text 20"/>
          <p:cNvSpPr/>
          <p:nvPr/>
        </p:nvSpPr>
        <p:spPr>
          <a:xfrm>
            <a:off x="9438665" y="2606040"/>
            <a:ext cx="2149526" cy="2926080"/>
          </a:xfrm>
          <a:prstGeom prst="rect">
            <a:avLst/>
          </a:prstGeom>
          <a:noFill/>
          <a:ln/>
        </p:spPr>
        <p:txBody>
          <a:bodyPr wrap="square" lIns="0" tIns="0" rIns="0" bIns="0" rtlCol="0" anchor="t"/>
          <a:lstStyle/>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Utilisateurs &amp; rôles</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Tableaux &amp; tendances</a:t>
            </a:r>
            <a:endParaRPr lang="en-US" sz="1100" dirty="0"/>
          </a:p>
          <a:p>
            <a:pPr marL="152400" indent="-152400" algn="l">
              <a:lnSpc>
                <a:spcPct val="115000"/>
              </a:lnSpc>
              <a:spcAft>
                <a:spcPts val="1000"/>
              </a:spcAft>
              <a:buSzPct val="100000"/>
              <a:buChar char="•"/>
            </a:pPr>
            <a:r>
              <a:rPr lang="en-US" sz="1100" dirty="0">
                <a:solidFill>
                  <a:srgbClr val="262626"/>
                </a:solidFill>
                <a:latin typeface="Arial" pitchFamily="34" charset="0"/>
                <a:ea typeface="Arial" pitchFamily="34" charset="-122"/>
                <a:cs typeface="Arial" pitchFamily="34" charset="-120"/>
              </a:rPr>
              <a:t>Export Excel planning</a:t>
            </a:r>
            <a:endParaRPr lang="en-US" sz="1100" dirty="0"/>
          </a:p>
        </p:txBody>
      </p:sp>
      <p:sp>
        <p:nvSpPr>
          <p:cNvPr id="23" name="Text 2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05</a:t>
            </a:r>
            <a:endParaRPr lang="en-US" sz="1000" dirty="0"/>
          </a:p>
        </p:txBody>
      </p:sp>
      <p:sp>
        <p:nvSpPr>
          <p:cNvPr id="24" name="Text 2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Architecture technique</a:t>
            </a:r>
            <a:endParaRPr lang="en-US" sz="3200" dirty="0"/>
          </a:p>
        </p:txBody>
      </p:sp>
      <p:sp>
        <p:nvSpPr>
          <p:cNvPr id="3" name="Shape 1"/>
          <p:cNvSpPr/>
          <p:nvPr/>
        </p:nvSpPr>
        <p:spPr>
          <a:xfrm>
            <a:off x="457200" y="1691640"/>
            <a:ext cx="1554480" cy="457200"/>
          </a:xfrm>
          <a:prstGeom prst="roundRect">
            <a:avLst>
              <a:gd name="adj" fmla="val 50000"/>
            </a:avLst>
          </a:prstGeom>
          <a:solidFill>
            <a:srgbClr val="494B69"/>
          </a:solidFill>
          <a:ln/>
        </p:spPr>
        <p:txBody>
          <a:bodyPr/>
          <a:lstStyle/>
          <a:p>
            <a:endParaRPr lang="fr-FR"/>
          </a:p>
        </p:txBody>
      </p:sp>
      <p:sp>
        <p:nvSpPr>
          <p:cNvPr id="4" name="Text 2"/>
          <p:cNvSpPr/>
          <p:nvPr/>
        </p:nvSpPr>
        <p:spPr>
          <a:xfrm>
            <a:off x="457200" y="1691640"/>
            <a:ext cx="15544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Stack</a:t>
            </a:r>
            <a:endParaRPr lang="en-US" sz="1300" dirty="0"/>
          </a:p>
        </p:txBody>
      </p:sp>
      <p:sp>
        <p:nvSpPr>
          <p:cNvPr id="5" name="Shape 3"/>
          <p:cNvSpPr/>
          <p:nvPr/>
        </p:nvSpPr>
        <p:spPr>
          <a:xfrm>
            <a:off x="6400800" y="1691640"/>
            <a:ext cx="1828800" cy="457200"/>
          </a:xfrm>
          <a:prstGeom prst="roundRect">
            <a:avLst>
              <a:gd name="adj" fmla="val 50000"/>
            </a:avLst>
          </a:prstGeom>
          <a:solidFill>
            <a:srgbClr val="9F5B72"/>
          </a:solidFill>
          <a:ln/>
        </p:spPr>
        <p:txBody>
          <a:bodyPr/>
          <a:lstStyle/>
          <a:p>
            <a:endParaRPr lang="fr-FR"/>
          </a:p>
        </p:txBody>
      </p:sp>
      <p:sp>
        <p:nvSpPr>
          <p:cNvPr id="6" name="Text 4"/>
          <p:cNvSpPr/>
          <p:nvPr/>
        </p:nvSpPr>
        <p:spPr>
          <a:xfrm>
            <a:off x="6400800" y="1691640"/>
            <a:ext cx="18288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Fiabilité</a:t>
            </a:r>
            <a:endParaRPr lang="en-US" sz="1300" dirty="0"/>
          </a:p>
        </p:txBody>
      </p:sp>
      <p:sp>
        <p:nvSpPr>
          <p:cNvPr id="7" name="Shape 5"/>
          <p:cNvSpPr/>
          <p:nvPr/>
        </p:nvSpPr>
        <p:spPr>
          <a:xfrm>
            <a:off x="10180015" y="1417320"/>
            <a:ext cx="1097280" cy="1097280"/>
          </a:xfrm>
          <a:prstGeom prst="ellipse">
            <a:avLst/>
          </a:prstGeom>
          <a:solidFill>
            <a:srgbClr val="9F5B72"/>
          </a:solidFill>
          <a:ln/>
        </p:spPr>
        <p:txBody>
          <a:bodyPr/>
          <a:lstStyle/>
          <a:p>
            <a:endParaRPr lang="fr-FR"/>
          </a:p>
        </p:txBody>
      </p:sp>
      <p:pic>
        <p:nvPicPr>
          <p:cNvPr id="8" name="Image 0" descr="/home/claude/assets/icon_brain.png"/>
          <p:cNvPicPr>
            <a:picLocks noChangeAspect="1"/>
          </p:cNvPicPr>
          <p:nvPr/>
        </p:nvPicPr>
        <p:blipFill>
          <a:blip r:embed="rId3"/>
          <a:stretch>
            <a:fillRect/>
          </a:stretch>
        </p:blipFill>
        <p:spPr>
          <a:xfrm>
            <a:off x="10344607" y="1581912"/>
            <a:ext cx="777240" cy="777240"/>
          </a:xfrm>
          <a:prstGeom prst="rect">
            <a:avLst/>
          </a:prstGeom>
        </p:spPr>
      </p:pic>
      <p:sp>
        <p:nvSpPr>
          <p:cNvPr id="9" name="Text 6"/>
          <p:cNvSpPr/>
          <p:nvPr/>
        </p:nvSpPr>
        <p:spPr>
          <a:xfrm>
            <a:off x="457200" y="2468880"/>
            <a:ext cx="5120640" cy="3657600"/>
          </a:xfrm>
          <a:prstGeom prst="rect">
            <a:avLst/>
          </a:prstGeom>
          <a:noFill/>
          <a:ln/>
        </p:spPr>
        <p:txBody>
          <a:bodyPr wrap="square" lIns="0" tIns="0" rIns="0" bIns="0" rtlCol="0" anchor="t"/>
          <a:lstStyle/>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Interface React + TypeScript + Tailwind</a:t>
            </a:r>
            <a:endParaRPr lang="en-US" sz="1400" dirty="0"/>
          </a:p>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Serveur Django / DRF — API REST et métier congés</a:t>
            </a:r>
            <a:endParaRPr lang="en-US" sz="1400" dirty="0"/>
          </a:p>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JWT + activation compte / OTP e-mail</a:t>
            </a:r>
            <a:endParaRPr lang="en-US" sz="1400" dirty="0"/>
          </a:p>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MySQL — utilisateurs, soldes, demandes, historique</a:t>
            </a:r>
            <a:endParaRPr lang="en-US" sz="1400" dirty="0"/>
          </a:p>
        </p:txBody>
      </p:sp>
      <p:sp>
        <p:nvSpPr>
          <p:cNvPr id="10" name="Text 7"/>
          <p:cNvSpPr/>
          <p:nvPr/>
        </p:nvSpPr>
        <p:spPr>
          <a:xfrm>
            <a:off x="6400800" y="2468880"/>
            <a:ext cx="5120640" cy="3657600"/>
          </a:xfrm>
          <a:prstGeom prst="rect">
            <a:avLst/>
          </a:prstGeom>
          <a:noFill/>
          <a:ln/>
        </p:spPr>
        <p:txBody>
          <a:bodyPr wrap="square" lIns="0" tIns="0" rIns="0" bIns="0" rtlCol="0" anchor="t"/>
          <a:lstStyle/>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Rôles : employé / admin avec droits séparés</a:t>
            </a:r>
            <a:endParaRPr lang="en-US" sz="1400" dirty="0"/>
          </a:p>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Notifications in-app + alertes e-mail SMTP</a:t>
            </a:r>
            <a:endParaRPr lang="en-US" sz="1400" dirty="0"/>
          </a:p>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Vite + React SPA pour parcours fluide</a:t>
            </a:r>
            <a:endParaRPr lang="en-US" sz="1400" dirty="0"/>
          </a:p>
          <a:p>
            <a:pPr marL="203200" indent="-203200" algn="l">
              <a:lnSpc>
                <a:spcPct val="120000"/>
              </a:lnSpc>
              <a:spcAft>
                <a:spcPts val="2200"/>
              </a:spcAft>
              <a:buSzPct val="100000"/>
              <a:buChar char="▸"/>
            </a:pPr>
            <a:r>
              <a:rPr lang="en-US" sz="1400" dirty="0">
                <a:solidFill>
                  <a:srgbClr val="262626"/>
                </a:solidFill>
                <a:latin typeface="Arial" pitchFamily="34" charset="0"/>
                <a:ea typeface="Arial" pitchFamily="34" charset="-122"/>
                <a:cs typeface="Arial" pitchFamily="34" charset="-120"/>
              </a:rPr>
              <a:t>Rapports mensuels &amp; export Excel planning</a:t>
            </a:r>
            <a:endParaRPr lang="en-US" sz="1400" dirty="0"/>
          </a:p>
        </p:txBody>
      </p:sp>
      <p:sp>
        <p:nvSpPr>
          <p:cNvPr id="11" name="Text 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06</a:t>
            </a:r>
            <a:endParaRPr lang="en-US" sz="1000" dirty="0"/>
          </a:p>
        </p:txBody>
      </p:sp>
      <p:sp>
        <p:nvSpPr>
          <p:cNvPr id="12" name="Text 9"/>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Module 1 : Demandes &amp; workflow</a:t>
            </a:r>
            <a:endParaRPr lang="en-US" sz="3200" dirty="0"/>
          </a:p>
        </p:txBody>
      </p:sp>
      <p:sp>
        <p:nvSpPr>
          <p:cNvPr id="3" name="Text 1"/>
          <p:cNvSpPr/>
          <p:nvPr/>
        </p:nvSpPr>
        <p:spPr>
          <a:xfrm>
            <a:off x="457200" y="987552"/>
            <a:ext cx="11277295" cy="292608"/>
          </a:xfrm>
          <a:prstGeom prst="rect">
            <a:avLst/>
          </a:prstGeom>
          <a:noFill/>
          <a:ln/>
        </p:spPr>
        <p:txBody>
          <a:bodyPr wrap="square" rtlCol="0" anchor="ctr"/>
          <a:lstStyle/>
          <a:p>
            <a:pPr marL="0" indent="0" algn="l">
              <a:buNone/>
            </a:pPr>
            <a:r>
              <a:rPr lang="en-US" sz="1200" b="1" kern="0" spc="100" dirty="0">
                <a:solidFill>
                  <a:srgbClr val="9F5B72"/>
                </a:solidFill>
                <a:latin typeface="Arial" pitchFamily="34" charset="0"/>
                <a:ea typeface="Arial" pitchFamily="34" charset="-122"/>
                <a:cs typeface="Arial" pitchFamily="34" charset="-120"/>
              </a:rPr>
              <a:t>DÉMONSTRATION DES 4 MODULES</a:t>
            </a:r>
            <a:endParaRPr lang="en-US" sz="1200" dirty="0"/>
          </a:p>
        </p:txBody>
      </p:sp>
      <p:sp>
        <p:nvSpPr>
          <p:cNvPr id="4" name="Shape 2"/>
          <p:cNvSpPr/>
          <p:nvPr/>
        </p:nvSpPr>
        <p:spPr>
          <a:xfrm>
            <a:off x="640080" y="2148840"/>
            <a:ext cx="4846320" cy="3840480"/>
          </a:xfrm>
          <a:prstGeom prst="roundRect">
            <a:avLst>
              <a:gd name="adj" fmla="val 1905"/>
            </a:avLst>
          </a:prstGeom>
          <a:solidFill>
            <a:srgbClr val="9F5B72"/>
          </a:solidFill>
          <a:ln/>
        </p:spPr>
        <p:txBody>
          <a:bodyPr/>
          <a:lstStyle/>
          <a:p>
            <a:endParaRPr lang="fr-FR"/>
          </a:p>
        </p:txBody>
      </p:sp>
      <p:sp>
        <p:nvSpPr>
          <p:cNvPr id="5" name="Shape 3"/>
          <p:cNvSpPr/>
          <p:nvPr/>
        </p:nvSpPr>
        <p:spPr>
          <a:xfrm>
            <a:off x="2720340" y="1805940"/>
            <a:ext cx="685800" cy="685800"/>
          </a:xfrm>
          <a:prstGeom prst="ellipse">
            <a:avLst/>
          </a:prstGeom>
          <a:solidFill>
            <a:srgbClr val="9F5B72"/>
          </a:solidFill>
          <a:ln w="28575">
            <a:solidFill>
              <a:srgbClr val="FFFFFF"/>
            </a:solidFill>
            <a:prstDash val="solid"/>
          </a:ln>
        </p:spPr>
        <p:txBody>
          <a:bodyPr/>
          <a:lstStyle/>
          <a:p>
            <a:endParaRPr lang="fr-FR"/>
          </a:p>
        </p:txBody>
      </p:sp>
      <p:pic>
        <p:nvPicPr>
          <p:cNvPr id="6" name="Image 0" descr="/home/claude/assets/icon_clipboard.png"/>
          <p:cNvPicPr>
            <a:picLocks noChangeAspect="1"/>
          </p:cNvPicPr>
          <p:nvPr/>
        </p:nvPicPr>
        <p:blipFill>
          <a:blip r:embed="rId3"/>
          <a:stretch>
            <a:fillRect/>
          </a:stretch>
        </p:blipFill>
        <p:spPr>
          <a:xfrm>
            <a:off x="2889504" y="1947672"/>
            <a:ext cx="347472" cy="347472"/>
          </a:xfrm>
          <a:prstGeom prst="rect">
            <a:avLst/>
          </a:prstGeom>
        </p:spPr>
      </p:pic>
      <p:sp>
        <p:nvSpPr>
          <p:cNvPr id="7" name="Text 4"/>
          <p:cNvSpPr/>
          <p:nvPr/>
        </p:nvSpPr>
        <p:spPr>
          <a:xfrm>
            <a:off x="86868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Ce que le module livre</a:t>
            </a:r>
            <a:endParaRPr lang="en-US" sz="1500" dirty="0"/>
          </a:p>
        </p:txBody>
      </p:sp>
      <p:sp>
        <p:nvSpPr>
          <p:cNvPr id="8" name="Text 5"/>
          <p:cNvSpPr/>
          <p:nvPr/>
        </p:nvSpPr>
        <p:spPr>
          <a:xfrm>
            <a:off x="96012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Demande multi-types en un flux</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Demi-journée &amp; urgence</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Validation admin traçable</a:t>
            </a:r>
            <a:endParaRPr lang="en-US" sz="1250" dirty="0"/>
          </a:p>
        </p:txBody>
      </p:sp>
      <p:sp>
        <p:nvSpPr>
          <p:cNvPr id="9" name="Shape 6"/>
          <p:cNvSpPr/>
          <p:nvPr/>
        </p:nvSpPr>
        <p:spPr>
          <a:xfrm>
            <a:off x="6309360" y="2148840"/>
            <a:ext cx="4846320" cy="3840480"/>
          </a:xfrm>
          <a:prstGeom prst="roundRect">
            <a:avLst>
              <a:gd name="adj" fmla="val 1905"/>
            </a:avLst>
          </a:prstGeom>
          <a:solidFill>
            <a:srgbClr val="695D7A"/>
          </a:solidFill>
          <a:ln/>
        </p:spPr>
        <p:txBody>
          <a:bodyPr/>
          <a:lstStyle/>
          <a:p>
            <a:endParaRPr lang="fr-FR"/>
          </a:p>
        </p:txBody>
      </p:sp>
      <p:sp>
        <p:nvSpPr>
          <p:cNvPr id="10" name="Shape 7"/>
          <p:cNvSpPr/>
          <p:nvPr/>
        </p:nvSpPr>
        <p:spPr>
          <a:xfrm>
            <a:off x="8389620" y="1805940"/>
            <a:ext cx="685800" cy="685800"/>
          </a:xfrm>
          <a:prstGeom prst="ellipse">
            <a:avLst/>
          </a:prstGeom>
          <a:solidFill>
            <a:srgbClr val="695D7A"/>
          </a:solidFill>
          <a:ln w="28575">
            <a:solidFill>
              <a:srgbClr val="FFFFFF"/>
            </a:solidFill>
            <a:prstDash val="solid"/>
          </a:ln>
        </p:spPr>
        <p:txBody>
          <a:bodyPr/>
          <a:lstStyle/>
          <a:p>
            <a:endParaRPr lang="fr-FR"/>
          </a:p>
        </p:txBody>
      </p:sp>
      <p:pic>
        <p:nvPicPr>
          <p:cNvPr id="11" name="Image 1" descr="/home/claude/assets/icon_chat.png"/>
          <p:cNvPicPr>
            <a:picLocks noChangeAspect="1"/>
          </p:cNvPicPr>
          <p:nvPr/>
        </p:nvPicPr>
        <p:blipFill>
          <a:blip r:embed="rId4"/>
          <a:stretch>
            <a:fillRect/>
          </a:stretch>
        </p:blipFill>
        <p:spPr>
          <a:xfrm>
            <a:off x="8558784" y="1947672"/>
            <a:ext cx="347472" cy="347472"/>
          </a:xfrm>
          <a:prstGeom prst="rect">
            <a:avLst/>
          </a:prstGeom>
        </p:spPr>
      </p:pic>
      <p:sp>
        <p:nvSpPr>
          <p:cNvPr id="12" name="Text 8"/>
          <p:cNvSpPr/>
          <p:nvPr/>
        </p:nvSpPr>
        <p:spPr>
          <a:xfrm>
            <a:off x="653796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Valeur immédiate</a:t>
            </a:r>
            <a:endParaRPr lang="en-US" sz="1500" dirty="0"/>
          </a:p>
        </p:txBody>
      </p:sp>
      <p:sp>
        <p:nvSpPr>
          <p:cNvPr id="13" name="Text 9"/>
          <p:cNvSpPr/>
          <p:nvPr/>
        </p:nvSpPr>
        <p:spPr>
          <a:xfrm>
            <a:off x="662940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Remplace Excel / e-mails</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Statut visible à tout moment</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Moins d’allers-retours RH</a:t>
            </a:r>
            <a:endParaRPr lang="en-US" sz="1250" dirty="0"/>
          </a:p>
        </p:txBody>
      </p:sp>
      <p:sp>
        <p:nvSpPr>
          <p:cNvPr id="14" name="Text 10"/>
          <p:cNvSpPr/>
          <p:nvPr/>
        </p:nvSpPr>
        <p:spPr>
          <a:xfrm>
            <a:off x="5486400" y="3703320"/>
            <a:ext cx="822960" cy="731520"/>
          </a:xfrm>
          <a:prstGeom prst="rect">
            <a:avLst/>
          </a:prstGeom>
          <a:noFill/>
          <a:ln/>
        </p:spPr>
        <p:txBody>
          <a:bodyPr wrap="square" lIns="0" tIns="0" rIns="0" bIns="0" rtlCol="0" anchor="ctr"/>
          <a:lstStyle/>
          <a:p>
            <a:pPr marL="0" indent="0" algn="ctr">
              <a:buNone/>
            </a:pPr>
            <a:r>
              <a:rPr lang="en-US" sz="2600" b="1" dirty="0">
                <a:solidFill>
                  <a:srgbClr val="8A8A8A"/>
                </a:solidFill>
                <a:latin typeface="Arial" pitchFamily="34" charset="0"/>
                <a:ea typeface="Arial" pitchFamily="34" charset="-122"/>
                <a:cs typeface="Arial" pitchFamily="34" charset="-120"/>
              </a:rPr>
              <a:t>▸</a:t>
            </a:r>
            <a:endParaRPr lang="en-US" sz="2600" dirty="0"/>
          </a:p>
        </p:txBody>
      </p:sp>
      <p:sp>
        <p:nvSpPr>
          <p:cNvPr id="15" name="Text 1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07</a:t>
            </a:r>
            <a:endParaRPr lang="en-US" sz="1000" dirty="0"/>
          </a:p>
        </p:txBody>
      </p:sp>
      <p:sp>
        <p:nvSpPr>
          <p:cNvPr id="16" name="Text 1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Module 2 : Soldes &amp; types</a:t>
            </a:r>
            <a:endParaRPr lang="en-US" sz="3200" dirty="0"/>
          </a:p>
        </p:txBody>
      </p:sp>
      <p:sp>
        <p:nvSpPr>
          <p:cNvPr id="3" name="Text 1"/>
          <p:cNvSpPr/>
          <p:nvPr/>
        </p:nvSpPr>
        <p:spPr>
          <a:xfrm>
            <a:off x="457200" y="987552"/>
            <a:ext cx="11277295" cy="292608"/>
          </a:xfrm>
          <a:prstGeom prst="rect">
            <a:avLst/>
          </a:prstGeom>
          <a:noFill/>
          <a:ln/>
        </p:spPr>
        <p:txBody>
          <a:bodyPr wrap="square" rtlCol="0" anchor="ctr"/>
          <a:lstStyle/>
          <a:p>
            <a:pPr marL="0" indent="0" algn="l">
              <a:buNone/>
            </a:pPr>
            <a:r>
              <a:rPr lang="en-US" sz="1200" b="1" kern="0" spc="100" dirty="0">
                <a:solidFill>
                  <a:srgbClr val="9F5B72"/>
                </a:solidFill>
                <a:latin typeface="Arial" pitchFamily="34" charset="0"/>
                <a:ea typeface="Arial" pitchFamily="34" charset="-122"/>
                <a:cs typeface="Arial" pitchFamily="34" charset="-120"/>
              </a:rPr>
              <a:t>DÉMONSTRATION DES 4 MODULES</a:t>
            </a:r>
            <a:endParaRPr lang="en-US" sz="1200" dirty="0"/>
          </a:p>
        </p:txBody>
      </p:sp>
      <p:sp>
        <p:nvSpPr>
          <p:cNvPr id="4" name="Shape 2"/>
          <p:cNvSpPr/>
          <p:nvPr/>
        </p:nvSpPr>
        <p:spPr>
          <a:xfrm>
            <a:off x="640080" y="2148840"/>
            <a:ext cx="4846320" cy="3840480"/>
          </a:xfrm>
          <a:prstGeom prst="roundRect">
            <a:avLst>
              <a:gd name="adj" fmla="val 1905"/>
            </a:avLst>
          </a:prstGeom>
          <a:solidFill>
            <a:srgbClr val="9F5B72"/>
          </a:solidFill>
          <a:ln/>
        </p:spPr>
        <p:txBody>
          <a:bodyPr/>
          <a:lstStyle/>
          <a:p>
            <a:endParaRPr lang="fr-FR"/>
          </a:p>
        </p:txBody>
      </p:sp>
      <p:sp>
        <p:nvSpPr>
          <p:cNvPr id="5" name="Shape 3"/>
          <p:cNvSpPr/>
          <p:nvPr/>
        </p:nvSpPr>
        <p:spPr>
          <a:xfrm>
            <a:off x="2720340" y="1805940"/>
            <a:ext cx="685800" cy="685800"/>
          </a:xfrm>
          <a:prstGeom prst="ellipse">
            <a:avLst/>
          </a:prstGeom>
          <a:solidFill>
            <a:srgbClr val="9F5B72"/>
          </a:solidFill>
          <a:ln w="28575">
            <a:solidFill>
              <a:srgbClr val="FFFFFF"/>
            </a:solidFill>
            <a:prstDash val="solid"/>
          </a:ln>
        </p:spPr>
        <p:txBody>
          <a:bodyPr/>
          <a:lstStyle/>
          <a:p>
            <a:endParaRPr lang="fr-FR"/>
          </a:p>
        </p:txBody>
      </p:sp>
      <p:pic>
        <p:nvPicPr>
          <p:cNvPr id="6" name="Image 0" descr="/home/claude/assets/icon_question.png"/>
          <p:cNvPicPr>
            <a:picLocks noChangeAspect="1"/>
          </p:cNvPicPr>
          <p:nvPr/>
        </p:nvPicPr>
        <p:blipFill>
          <a:blip r:embed="rId3"/>
          <a:stretch>
            <a:fillRect/>
          </a:stretch>
        </p:blipFill>
        <p:spPr>
          <a:xfrm>
            <a:off x="2889504" y="1947672"/>
            <a:ext cx="347472" cy="347472"/>
          </a:xfrm>
          <a:prstGeom prst="rect">
            <a:avLst/>
          </a:prstGeom>
        </p:spPr>
      </p:pic>
      <p:sp>
        <p:nvSpPr>
          <p:cNvPr id="7" name="Text 4"/>
          <p:cNvSpPr/>
          <p:nvPr/>
        </p:nvSpPr>
        <p:spPr>
          <a:xfrm>
            <a:off x="86868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Scénario</a:t>
            </a:r>
            <a:endParaRPr lang="en-US" sz="1500" dirty="0"/>
          </a:p>
        </p:txBody>
      </p:sp>
      <p:sp>
        <p:nvSpPr>
          <p:cNvPr id="8" name="Text 5"/>
          <p:cNvSpPr/>
          <p:nvPr/>
        </p:nvSpPr>
        <p:spPr>
          <a:xfrm>
            <a:off x="96012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Lecture solde en temps réel</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Total / used / pending / restant</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Ajustement admin des quotas</a:t>
            </a:r>
            <a:endParaRPr lang="en-US" sz="1250" dirty="0"/>
          </a:p>
        </p:txBody>
      </p:sp>
      <p:sp>
        <p:nvSpPr>
          <p:cNvPr id="9" name="Shape 6"/>
          <p:cNvSpPr/>
          <p:nvPr/>
        </p:nvSpPr>
        <p:spPr>
          <a:xfrm>
            <a:off x="6309360" y="2148840"/>
            <a:ext cx="4846320" cy="3840480"/>
          </a:xfrm>
          <a:prstGeom prst="roundRect">
            <a:avLst>
              <a:gd name="adj" fmla="val 1905"/>
            </a:avLst>
          </a:prstGeom>
          <a:solidFill>
            <a:srgbClr val="695D7A"/>
          </a:solidFill>
          <a:ln/>
        </p:spPr>
        <p:txBody>
          <a:bodyPr/>
          <a:lstStyle/>
          <a:p>
            <a:endParaRPr lang="fr-FR"/>
          </a:p>
        </p:txBody>
      </p:sp>
      <p:sp>
        <p:nvSpPr>
          <p:cNvPr id="10" name="Shape 7"/>
          <p:cNvSpPr/>
          <p:nvPr/>
        </p:nvSpPr>
        <p:spPr>
          <a:xfrm>
            <a:off x="8389620" y="1805940"/>
            <a:ext cx="685800" cy="685800"/>
          </a:xfrm>
          <a:prstGeom prst="ellipse">
            <a:avLst/>
          </a:prstGeom>
          <a:solidFill>
            <a:srgbClr val="695D7A"/>
          </a:solidFill>
          <a:ln w="28575">
            <a:solidFill>
              <a:srgbClr val="FFFFFF"/>
            </a:solidFill>
            <a:prstDash val="solid"/>
          </a:ln>
        </p:spPr>
        <p:txBody>
          <a:bodyPr/>
          <a:lstStyle/>
          <a:p>
            <a:endParaRPr lang="fr-FR"/>
          </a:p>
        </p:txBody>
      </p:sp>
      <p:pic>
        <p:nvPicPr>
          <p:cNvPr id="11" name="Image 1" descr="/home/claude/assets/icon_chat.png"/>
          <p:cNvPicPr>
            <a:picLocks noChangeAspect="1"/>
          </p:cNvPicPr>
          <p:nvPr/>
        </p:nvPicPr>
        <p:blipFill>
          <a:blip r:embed="rId4"/>
          <a:stretch>
            <a:fillRect/>
          </a:stretch>
        </p:blipFill>
        <p:spPr>
          <a:xfrm>
            <a:off x="8558784" y="1947672"/>
            <a:ext cx="347472" cy="347472"/>
          </a:xfrm>
          <a:prstGeom prst="rect">
            <a:avLst/>
          </a:prstGeom>
        </p:spPr>
      </p:pic>
      <p:sp>
        <p:nvSpPr>
          <p:cNvPr id="12" name="Text 8"/>
          <p:cNvSpPr/>
          <p:nvPr/>
        </p:nvSpPr>
        <p:spPr>
          <a:xfrm>
            <a:off x="653796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Pourquoi c'est critique</a:t>
            </a:r>
            <a:endParaRPr lang="en-US" sz="1500" dirty="0"/>
          </a:p>
        </p:txBody>
      </p:sp>
      <p:sp>
        <p:nvSpPr>
          <p:cNvPr id="13" name="Text 9"/>
          <p:cNvSpPr/>
          <p:nvPr/>
        </p:nvSpPr>
        <p:spPr>
          <a:xfrm>
            <a:off x="662940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Évite les dépassements</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Priorité aux règles métier</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Plus fiable qu’un tableur</a:t>
            </a:r>
            <a:endParaRPr lang="en-US" sz="1250" dirty="0"/>
          </a:p>
        </p:txBody>
      </p:sp>
      <p:sp>
        <p:nvSpPr>
          <p:cNvPr id="14" name="Text 10"/>
          <p:cNvSpPr/>
          <p:nvPr/>
        </p:nvSpPr>
        <p:spPr>
          <a:xfrm>
            <a:off x="5486400" y="3703320"/>
            <a:ext cx="822960" cy="731520"/>
          </a:xfrm>
          <a:prstGeom prst="rect">
            <a:avLst/>
          </a:prstGeom>
          <a:noFill/>
          <a:ln/>
        </p:spPr>
        <p:txBody>
          <a:bodyPr wrap="square" lIns="0" tIns="0" rIns="0" bIns="0" rtlCol="0" anchor="ctr"/>
          <a:lstStyle/>
          <a:p>
            <a:pPr marL="0" indent="0" algn="ctr">
              <a:buNone/>
            </a:pPr>
            <a:r>
              <a:rPr lang="en-US" sz="2600" b="1" dirty="0">
                <a:solidFill>
                  <a:srgbClr val="8A8A8A"/>
                </a:solidFill>
                <a:latin typeface="Arial" pitchFamily="34" charset="0"/>
                <a:ea typeface="Arial" pitchFamily="34" charset="-122"/>
                <a:cs typeface="Arial" pitchFamily="34" charset="-120"/>
              </a:rPr>
              <a:t>▸</a:t>
            </a:r>
            <a:endParaRPr lang="en-US" sz="2600" dirty="0"/>
          </a:p>
        </p:txBody>
      </p:sp>
      <p:sp>
        <p:nvSpPr>
          <p:cNvPr id="15" name="Text 1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08</a:t>
            </a:r>
            <a:endParaRPr lang="en-US" sz="1000" dirty="0"/>
          </a:p>
        </p:txBody>
      </p:sp>
      <p:sp>
        <p:nvSpPr>
          <p:cNvPr id="16" name="Text 1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Module 3 : Calendrier &amp; équipe</a:t>
            </a:r>
            <a:endParaRPr lang="en-US" sz="3200" dirty="0"/>
          </a:p>
        </p:txBody>
      </p:sp>
      <p:sp>
        <p:nvSpPr>
          <p:cNvPr id="3" name="Text 1"/>
          <p:cNvSpPr/>
          <p:nvPr/>
        </p:nvSpPr>
        <p:spPr>
          <a:xfrm>
            <a:off x="457200" y="987552"/>
            <a:ext cx="11277295" cy="292608"/>
          </a:xfrm>
          <a:prstGeom prst="rect">
            <a:avLst/>
          </a:prstGeom>
          <a:noFill/>
          <a:ln/>
        </p:spPr>
        <p:txBody>
          <a:bodyPr wrap="square" rtlCol="0" anchor="ctr"/>
          <a:lstStyle/>
          <a:p>
            <a:pPr marL="0" indent="0" algn="l">
              <a:buNone/>
            </a:pPr>
            <a:r>
              <a:rPr lang="en-US" sz="1200" b="1" kern="0" spc="100" dirty="0">
                <a:solidFill>
                  <a:srgbClr val="9F5B72"/>
                </a:solidFill>
                <a:latin typeface="Arial" pitchFamily="34" charset="0"/>
                <a:ea typeface="Arial" pitchFamily="34" charset="-122"/>
                <a:cs typeface="Arial" pitchFamily="34" charset="-120"/>
              </a:rPr>
              <a:t>DÉMONSTRATION DES 4 MODULES</a:t>
            </a:r>
            <a:endParaRPr lang="en-US" sz="1200" dirty="0"/>
          </a:p>
        </p:txBody>
      </p:sp>
      <p:sp>
        <p:nvSpPr>
          <p:cNvPr id="4" name="Shape 2"/>
          <p:cNvSpPr/>
          <p:nvPr/>
        </p:nvSpPr>
        <p:spPr>
          <a:xfrm>
            <a:off x="640080" y="2148840"/>
            <a:ext cx="4846320" cy="3840480"/>
          </a:xfrm>
          <a:prstGeom prst="roundRect">
            <a:avLst>
              <a:gd name="adj" fmla="val 1905"/>
            </a:avLst>
          </a:prstGeom>
          <a:solidFill>
            <a:srgbClr val="9F5B72"/>
          </a:solidFill>
          <a:ln/>
        </p:spPr>
        <p:txBody>
          <a:bodyPr/>
          <a:lstStyle/>
          <a:p>
            <a:endParaRPr lang="fr-FR"/>
          </a:p>
        </p:txBody>
      </p:sp>
      <p:sp>
        <p:nvSpPr>
          <p:cNvPr id="5" name="Shape 3"/>
          <p:cNvSpPr/>
          <p:nvPr/>
        </p:nvSpPr>
        <p:spPr>
          <a:xfrm>
            <a:off x="2720340" y="1805940"/>
            <a:ext cx="685800" cy="685800"/>
          </a:xfrm>
          <a:prstGeom prst="ellipse">
            <a:avLst/>
          </a:prstGeom>
          <a:solidFill>
            <a:srgbClr val="9F5B72"/>
          </a:solidFill>
          <a:ln w="28575">
            <a:solidFill>
              <a:srgbClr val="FFFFFF"/>
            </a:solidFill>
            <a:prstDash val="solid"/>
          </a:ln>
        </p:spPr>
        <p:txBody>
          <a:bodyPr/>
          <a:lstStyle/>
          <a:p>
            <a:endParaRPr lang="fr-FR"/>
          </a:p>
        </p:txBody>
      </p:sp>
      <p:pic>
        <p:nvPicPr>
          <p:cNvPr id="6" name="Image 0" descr="/home/claude/assets/icon_question.png"/>
          <p:cNvPicPr>
            <a:picLocks noChangeAspect="1"/>
          </p:cNvPicPr>
          <p:nvPr/>
        </p:nvPicPr>
        <p:blipFill>
          <a:blip r:embed="rId3"/>
          <a:stretch>
            <a:fillRect/>
          </a:stretch>
        </p:blipFill>
        <p:spPr>
          <a:xfrm>
            <a:off x="2889504" y="1947672"/>
            <a:ext cx="347472" cy="347472"/>
          </a:xfrm>
          <a:prstGeom prst="rect">
            <a:avLst/>
          </a:prstGeom>
        </p:spPr>
      </p:pic>
      <p:sp>
        <p:nvSpPr>
          <p:cNvPr id="7" name="Text 4"/>
          <p:cNvSpPr/>
          <p:nvPr/>
        </p:nvSpPr>
        <p:spPr>
          <a:xfrm>
            <a:off x="86868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Scénario</a:t>
            </a:r>
            <a:endParaRPr lang="en-US" sz="1500" dirty="0"/>
          </a:p>
        </p:txBody>
      </p:sp>
      <p:sp>
        <p:nvSpPr>
          <p:cNvPr id="8" name="Text 5"/>
          <p:cNvSpPr/>
          <p:nvPr/>
        </p:nvSpPr>
        <p:spPr>
          <a:xfrm>
            <a:off x="96012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Calendrier des absences</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Disponibilité de l’équipe</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Jours fériés &amp; historique</a:t>
            </a:r>
            <a:endParaRPr lang="en-US" sz="1250" dirty="0"/>
          </a:p>
        </p:txBody>
      </p:sp>
      <p:sp>
        <p:nvSpPr>
          <p:cNvPr id="9" name="Shape 6"/>
          <p:cNvSpPr/>
          <p:nvPr/>
        </p:nvSpPr>
        <p:spPr>
          <a:xfrm>
            <a:off x="6309360" y="2148840"/>
            <a:ext cx="4846320" cy="3840480"/>
          </a:xfrm>
          <a:prstGeom prst="roundRect">
            <a:avLst>
              <a:gd name="adj" fmla="val 1905"/>
            </a:avLst>
          </a:prstGeom>
          <a:solidFill>
            <a:srgbClr val="695D7A"/>
          </a:solidFill>
          <a:ln/>
        </p:spPr>
        <p:txBody>
          <a:bodyPr/>
          <a:lstStyle/>
          <a:p>
            <a:endParaRPr lang="fr-FR"/>
          </a:p>
        </p:txBody>
      </p:sp>
      <p:sp>
        <p:nvSpPr>
          <p:cNvPr id="10" name="Shape 7"/>
          <p:cNvSpPr/>
          <p:nvPr/>
        </p:nvSpPr>
        <p:spPr>
          <a:xfrm>
            <a:off x="8389620" y="1805940"/>
            <a:ext cx="685800" cy="685800"/>
          </a:xfrm>
          <a:prstGeom prst="ellipse">
            <a:avLst/>
          </a:prstGeom>
          <a:solidFill>
            <a:srgbClr val="695D7A"/>
          </a:solidFill>
          <a:ln w="28575">
            <a:solidFill>
              <a:srgbClr val="FFFFFF"/>
            </a:solidFill>
            <a:prstDash val="solid"/>
          </a:ln>
        </p:spPr>
        <p:txBody>
          <a:bodyPr/>
          <a:lstStyle/>
          <a:p>
            <a:endParaRPr lang="fr-FR"/>
          </a:p>
        </p:txBody>
      </p:sp>
      <p:pic>
        <p:nvPicPr>
          <p:cNvPr id="11" name="Image 1" descr="/home/claude/assets/icon_chat.png"/>
          <p:cNvPicPr>
            <a:picLocks noChangeAspect="1"/>
          </p:cNvPicPr>
          <p:nvPr/>
        </p:nvPicPr>
        <p:blipFill>
          <a:blip r:embed="rId4"/>
          <a:stretch>
            <a:fillRect/>
          </a:stretch>
        </p:blipFill>
        <p:spPr>
          <a:xfrm>
            <a:off x="8558784" y="1947672"/>
            <a:ext cx="347472" cy="347472"/>
          </a:xfrm>
          <a:prstGeom prst="rect">
            <a:avLst/>
          </a:prstGeom>
        </p:spPr>
      </p:pic>
      <p:sp>
        <p:nvSpPr>
          <p:cNvPr id="12" name="Text 8"/>
          <p:cNvSpPr/>
          <p:nvPr/>
        </p:nvSpPr>
        <p:spPr>
          <a:xfrm>
            <a:off x="653796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Diagnostic opérationnel</a:t>
            </a:r>
            <a:endParaRPr lang="en-US" sz="1500" dirty="0"/>
          </a:p>
        </p:txBody>
      </p:sp>
      <p:sp>
        <p:nvSpPr>
          <p:cNvPr id="13" name="Text 9"/>
          <p:cNvSpPr/>
          <p:nvPr/>
        </p:nvSpPr>
        <p:spPr>
          <a:xfrm>
            <a:off x="662940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Une vue prête pour décider</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Anticipation des chevauchements</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Données réutilisées au reporting</a:t>
            </a:r>
            <a:endParaRPr lang="en-US" sz="1250" dirty="0"/>
          </a:p>
        </p:txBody>
      </p:sp>
      <p:sp>
        <p:nvSpPr>
          <p:cNvPr id="14" name="Text 10"/>
          <p:cNvSpPr/>
          <p:nvPr/>
        </p:nvSpPr>
        <p:spPr>
          <a:xfrm>
            <a:off x="5486400" y="3703320"/>
            <a:ext cx="822960" cy="731520"/>
          </a:xfrm>
          <a:prstGeom prst="rect">
            <a:avLst/>
          </a:prstGeom>
          <a:noFill/>
          <a:ln/>
        </p:spPr>
        <p:txBody>
          <a:bodyPr wrap="square" lIns="0" tIns="0" rIns="0" bIns="0" rtlCol="0" anchor="ctr"/>
          <a:lstStyle/>
          <a:p>
            <a:pPr marL="0" indent="0" algn="ctr">
              <a:buNone/>
            </a:pPr>
            <a:r>
              <a:rPr lang="en-US" sz="2600" b="1" dirty="0">
                <a:solidFill>
                  <a:srgbClr val="8A8A8A"/>
                </a:solidFill>
                <a:latin typeface="Arial" pitchFamily="34" charset="0"/>
                <a:ea typeface="Arial" pitchFamily="34" charset="-122"/>
                <a:cs typeface="Arial" pitchFamily="34" charset="-120"/>
              </a:rPr>
              <a:t>▸</a:t>
            </a:r>
            <a:endParaRPr lang="en-US" sz="2600" dirty="0"/>
          </a:p>
        </p:txBody>
      </p:sp>
      <p:sp>
        <p:nvSpPr>
          <p:cNvPr id="15" name="Text 1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09</a:t>
            </a:r>
            <a:endParaRPr lang="en-US" sz="1000" dirty="0"/>
          </a:p>
        </p:txBody>
      </p:sp>
      <p:sp>
        <p:nvSpPr>
          <p:cNvPr id="16" name="Text 1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Module 4 : Admin &amp; reporting</a:t>
            </a:r>
            <a:endParaRPr lang="en-US" sz="3200" dirty="0"/>
          </a:p>
        </p:txBody>
      </p:sp>
      <p:sp>
        <p:nvSpPr>
          <p:cNvPr id="3" name="Text 1"/>
          <p:cNvSpPr/>
          <p:nvPr/>
        </p:nvSpPr>
        <p:spPr>
          <a:xfrm>
            <a:off x="457200" y="987552"/>
            <a:ext cx="11277295" cy="292608"/>
          </a:xfrm>
          <a:prstGeom prst="rect">
            <a:avLst/>
          </a:prstGeom>
          <a:noFill/>
          <a:ln/>
        </p:spPr>
        <p:txBody>
          <a:bodyPr wrap="square" rtlCol="0" anchor="ctr"/>
          <a:lstStyle/>
          <a:p>
            <a:pPr marL="0" indent="0" algn="l">
              <a:buNone/>
            </a:pPr>
            <a:r>
              <a:rPr lang="en-US" sz="1200" b="1" kern="0" spc="100" dirty="0">
                <a:solidFill>
                  <a:srgbClr val="9F5B72"/>
                </a:solidFill>
                <a:latin typeface="Arial" pitchFamily="34" charset="0"/>
                <a:ea typeface="Arial" pitchFamily="34" charset="-122"/>
                <a:cs typeface="Arial" pitchFamily="34" charset="-120"/>
              </a:rPr>
              <a:t>DÉMONSTRATION DES 4 MODULES</a:t>
            </a:r>
            <a:endParaRPr lang="en-US" sz="1200" dirty="0"/>
          </a:p>
        </p:txBody>
      </p:sp>
      <p:sp>
        <p:nvSpPr>
          <p:cNvPr id="4" name="Shape 2"/>
          <p:cNvSpPr/>
          <p:nvPr/>
        </p:nvSpPr>
        <p:spPr>
          <a:xfrm>
            <a:off x="640080" y="2148840"/>
            <a:ext cx="4846320" cy="3840480"/>
          </a:xfrm>
          <a:prstGeom prst="roundRect">
            <a:avLst>
              <a:gd name="adj" fmla="val 1905"/>
            </a:avLst>
          </a:prstGeom>
          <a:solidFill>
            <a:srgbClr val="9F5B72"/>
          </a:solidFill>
          <a:ln/>
        </p:spPr>
        <p:txBody>
          <a:bodyPr/>
          <a:lstStyle/>
          <a:p>
            <a:endParaRPr lang="fr-FR"/>
          </a:p>
        </p:txBody>
      </p:sp>
      <p:sp>
        <p:nvSpPr>
          <p:cNvPr id="5" name="Shape 3"/>
          <p:cNvSpPr/>
          <p:nvPr/>
        </p:nvSpPr>
        <p:spPr>
          <a:xfrm>
            <a:off x="2720340" y="1805940"/>
            <a:ext cx="685800" cy="685800"/>
          </a:xfrm>
          <a:prstGeom prst="ellipse">
            <a:avLst/>
          </a:prstGeom>
          <a:solidFill>
            <a:srgbClr val="9F5B72"/>
          </a:solidFill>
          <a:ln w="28575">
            <a:solidFill>
              <a:srgbClr val="FFFFFF"/>
            </a:solidFill>
            <a:prstDash val="solid"/>
          </a:ln>
        </p:spPr>
        <p:txBody>
          <a:bodyPr/>
          <a:lstStyle/>
          <a:p>
            <a:endParaRPr lang="fr-FR"/>
          </a:p>
        </p:txBody>
      </p:sp>
      <p:pic>
        <p:nvPicPr>
          <p:cNvPr id="6" name="Image 0" descr="/home/claude/assets/icon_question.png"/>
          <p:cNvPicPr>
            <a:picLocks noChangeAspect="1"/>
          </p:cNvPicPr>
          <p:nvPr/>
        </p:nvPicPr>
        <p:blipFill>
          <a:blip r:embed="rId3"/>
          <a:stretch>
            <a:fillRect/>
          </a:stretch>
        </p:blipFill>
        <p:spPr>
          <a:xfrm>
            <a:off x="2889504" y="1947672"/>
            <a:ext cx="347472" cy="347472"/>
          </a:xfrm>
          <a:prstGeom prst="rect">
            <a:avLst/>
          </a:prstGeom>
        </p:spPr>
      </p:pic>
      <p:sp>
        <p:nvSpPr>
          <p:cNvPr id="7" name="Text 4"/>
          <p:cNvSpPr/>
          <p:nvPr/>
        </p:nvSpPr>
        <p:spPr>
          <a:xfrm>
            <a:off x="86868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Scénario</a:t>
            </a:r>
            <a:endParaRPr lang="en-US" sz="1500" dirty="0"/>
          </a:p>
        </p:txBody>
      </p:sp>
      <p:sp>
        <p:nvSpPr>
          <p:cNvPr id="8" name="Text 5"/>
          <p:cNvSpPr/>
          <p:nvPr/>
        </p:nvSpPr>
        <p:spPr>
          <a:xfrm>
            <a:off x="96012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Gestion utilisateurs &amp; rôles</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Tableaux de bord &amp; tendances</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Export Excel planning annuel</a:t>
            </a:r>
            <a:endParaRPr lang="en-US" sz="1250" dirty="0"/>
          </a:p>
        </p:txBody>
      </p:sp>
      <p:sp>
        <p:nvSpPr>
          <p:cNvPr id="9" name="Shape 6"/>
          <p:cNvSpPr/>
          <p:nvPr/>
        </p:nvSpPr>
        <p:spPr>
          <a:xfrm>
            <a:off x="6309360" y="2148840"/>
            <a:ext cx="4846320" cy="3840480"/>
          </a:xfrm>
          <a:prstGeom prst="roundRect">
            <a:avLst>
              <a:gd name="adj" fmla="val 1905"/>
            </a:avLst>
          </a:prstGeom>
          <a:solidFill>
            <a:srgbClr val="695D7A"/>
          </a:solidFill>
          <a:ln/>
        </p:spPr>
        <p:txBody>
          <a:bodyPr/>
          <a:lstStyle/>
          <a:p>
            <a:endParaRPr lang="fr-FR"/>
          </a:p>
        </p:txBody>
      </p:sp>
      <p:sp>
        <p:nvSpPr>
          <p:cNvPr id="10" name="Shape 7"/>
          <p:cNvSpPr/>
          <p:nvPr/>
        </p:nvSpPr>
        <p:spPr>
          <a:xfrm>
            <a:off x="8389620" y="1805940"/>
            <a:ext cx="685800" cy="685800"/>
          </a:xfrm>
          <a:prstGeom prst="ellipse">
            <a:avLst/>
          </a:prstGeom>
          <a:solidFill>
            <a:srgbClr val="695D7A"/>
          </a:solidFill>
          <a:ln w="28575">
            <a:solidFill>
              <a:srgbClr val="FFFFFF"/>
            </a:solidFill>
            <a:prstDash val="solid"/>
          </a:ln>
        </p:spPr>
        <p:txBody>
          <a:bodyPr/>
          <a:lstStyle/>
          <a:p>
            <a:endParaRPr lang="fr-FR"/>
          </a:p>
        </p:txBody>
      </p:sp>
      <p:pic>
        <p:nvPicPr>
          <p:cNvPr id="11" name="Image 1" descr="/home/claude/assets/icon_chat.png"/>
          <p:cNvPicPr>
            <a:picLocks noChangeAspect="1"/>
          </p:cNvPicPr>
          <p:nvPr/>
        </p:nvPicPr>
        <p:blipFill>
          <a:blip r:embed="rId4"/>
          <a:stretch>
            <a:fillRect/>
          </a:stretch>
        </p:blipFill>
        <p:spPr>
          <a:xfrm>
            <a:off x="8558784" y="1947672"/>
            <a:ext cx="347472" cy="347472"/>
          </a:xfrm>
          <a:prstGeom prst="rect">
            <a:avLst/>
          </a:prstGeom>
        </p:spPr>
      </p:pic>
      <p:sp>
        <p:nvSpPr>
          <p:cNvPr id="12" name="Text 8"/>
          <p:cNvSpPr/>
          <p:nvPr/>
        </p:nvSpPr>
        <p:spPr>
          <a:xfrm>
            <a:off x="6537960" y="2532888"/>
            <a:ext cx="438912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Pourquoi c'est critique</a:t>
            </a:r>
            <a:endParaRPr lang="en-US" sz="1500" dirty="0"/>
          </a:p>
        </p:txBody>
      </p:sp>
      <p:sp>
        <p:nvSpPr>
          <p:cNvPr id="13" name="Text 9"/>
          <p:cNvSpPr/>
          <p:nvPr/>
        </p:nvSpPr>
        <p:spPr>
          <a:xfrm>
            <a:off x="6629400" y="3017520"/>
            <a:ext cx="4251960" cy="2788920"/>
          </a:xfrm>
          <a:prstGeom prst="rect">
            <a:avLst/>
          </a:prstGeom>
          <a:noFill/>
          <a:ln/>
        </p:spPr>
        <p:txBody>
          <a:bodyPr wrap="square" lIns="0" tIns="0" rIns="0" bIns="0" rtlCol="0" anchor="t"/>
          <a:lstStyle/>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Pilotage RH en un clic</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Accélère les décisions admin</a:t>
            </a:r>
            <a:endParaRPr lang="en-US" sz="1250" dirty="0"/>
          </a:p>
          <a:p>
            <a:pPr marL="177800" indent="-177800" algn="l">
              <a:lnSpc>
                <a:spcPct val="115000"/>
              </a:lnSpc>
              <a:spcAft>
                <a:spcPts val="1200"/>
              </a:spcAft>
              <a:buSzPct val="100000"/>
              <a:buChar char="▸"/>
            </a:pPr>
            <a:r>
              <a:rPr lang="en-US" sz="1250" dirty="0">
                <a:solidFill>
                  <a:srgbClr val="FFFFFF"/>
                </a:solidFill>
                <a:latin typeface="Arial" pitchFamily="34" charset="0"/>
                <a:ea typeface="Arial" pitchFamily="34" charset="-122"/>
                <a:cs typeface="Arial" pitchFamily="34" charset="-120"/>
              </a:rPr>
              <a:t>Preuve pour compta / direction</a:t>
            </a:r>
            <a:endParaRPr lang="en-US" sz="1250" dirty="0"/>
          </a:p>
        </p:txBody>
      </p:sp>
      <p:sp>
        <p:nvSpPr>
          <p:cNvPr id="14" name="Text 10"/>
          <p:cNvSpPr/>
          <p:nvPr/>
        </p:nvSpPr>
        <p:spPr>
          <a:xfrm>
            <a:off x="5486400" y="3703320"/>
            <a:ext cx="822960" cy="731520"/>
          </a:xfrm>
          <a:prstGeom prst="rect">
            <a:avLst/>
          </a:prstGeom>
          <a:noFill/>
          <a:ln/>
        </p:spPr>
        <p:txBody>
          <a:bodyPr wrap="square" lIns="0" tIns="0" rIns="0" bIns="0" rtlCol="0" anchor="ctr"/>
          <a:lstStyle/>
          <a:p>
            <a:pPr marL="0" indent="0" algn="ctr">
              <a:buNone/>
            </a:pPr>
            <a:r>
              <a:rPr lang="en-US" sz="2600" b="1" dirty="0">
                <a:solidFill>
                  <a:srgbClr val="8A8A8A"/>
                </a:solidFill>
                <a:latin typeface="Arial" pitchFamily="34" charset="0"/>
                <a:ea typeface="Arial" pitchFamily="34" charset="-122"/>
                <a:cs typeface="Arial" pitchFamily="34" charset="-120"/>
              </a:rPr>
              <a:t>▸</a:t>
            </a:r>
            <a:endParaRPr lang="en-US" sz="2600" dirty="0"/>
          </a:p>
        </p:txBody>
      </p:sp>
      <p:sp>
        <p:nvSpPr>
          <p:cNvPr id="15" name="Text 1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10</a:t>
            </a:r>
            <a:endParaRPr lang="en-US" sz="1000" dirty="0"/>
          </a:p>
        </p:txBody>
      </p:sp>
      <p:sp>
        <p:nvSpPr>
          <p:cNvPr id="16" name="Text 12"/>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65760"/>
            <a:ext cx="11274552"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600"/>
              </a:spcAft>
            </a:pPr>
            <a:r>
              <a:rPr sz="3200" dirty="0" err="1">
                <a:solidFill>
                  <a:srgbClr val="262626"/>
                </a:solidFill>
                <a:latin typeface="Arial" pitchFamily="34" charset="0"/>
                <a:cs typeface="Arial" pitchFamily="34" charset="-120"/>
              </a:rPr>
              <a:t>Différenciateurs clés</a:t>
            </a:r>
            <a:r>
              <a:rPr sz="3200" dirty="0">
                <a:solidFill>
                  <a:srgbClr val="262626"/>
                </a:solidFill>
                <a:latin typeface="Arial" pitchFamily="34" charset="0"/>
                <a:cs typeface="Arial" pitchFamily="34" charset="-120"/>
              </a:rPr>
              <a:t/>
            </a:r>
            <a:r>
              <a:rPr sz="3200" dirty="0" err="1">
                <a:solidFill>
                  <a:srgbClr val="262626"/>
                </a:solidFill>
                <a:latin typeface="Arial" pitchFamily="34" charset="0"/>
                <a:cs typeface="Arial" pitchFamily="34" charset="-120"/>
              </a:rPr>
              <a:t/>
            </a:r>
            <a:endParaRPr sz="3200" dirty="0">
              <a:solidFill>
                <a:srgbClr val="262626"/>
              </a:solidFill>
              <a:latin typeface="Arial" pitchFamily="34" charset="0"/>
              <a:cs typeface="Arial" pitchFamily="34" charset="-120"/>
            </a:endParaRPr>
          </a:p>
        </p:txBody>
      </p:sp>
      <p:sp>
        <p:nvSpPr>
          <p:cNvPr id="4" name="Rectangle 3"/>
          <p:cNvSpPr/>
          <p:nvPr/>
        </p:nvSpPr>
        <p:spPr>
          <a:xfrm>
            <a:off x="457200" y="1554480"/>
            <a:ext cx="3624072" cy="502920"/>
          </a:xfrm>
          <a:prstGeom prst="rect">
            <a:avLst/>
          </a:prstGeom>
          <a:solidFill>
            <a:srgbClr val="49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30352" y="1554480"/>
            <a:ext cx="3477768"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0"/>
              </a:spcAft>
            </a:pPr>
            <a:r>
              <a:rPr sz="1300" b="1">
                <a:solidFill>
                  <a:srgbClr val="FFFFFF"/>
                </a:solidFill>
                <a:latin typeface="Arial"/>
              </a:rPr>
              <a:t>Workflow bout-en-bout</a:t>
            </a:r>
          </a:p>
        </p:txBody>
      </p:sp>
      <p:sp>
        <p:nvSpPr>
          <p:cNvPr id="6" name="Rectangle 5"/>
          <p:cNvSpPr/>
          <p:nvPr/>
        </p:nvSpPr>
        <p:spPr>
          <a:xfrm>
            <a:off x="457200" y="2057400"/>
            <a:ext cx="3624072" cy="1874519"/>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85216" y="2221992"/>
            <a:ext cx="3368040" cy="161848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1000"/>
              </a:spcAft>
            </a:pPr>
            <a:r>
              <a:rPr sz="1100" b="0">
                <a:solidFill>
                  <a:srgbClr val="262626"/>
                </a:solidFill>
                <a:latin typeface="Arial"/>
              </a:rPr>
              <a:t>Demande → validation → solde</a:t>
            </a:r>
          </a:p>
          <a:p>
            <a:pPr algn="l">
              <a:spcBef>
                <a:spcPts val="0"/>
              </a:spcBef>
              <a:spcAft>
                <a:spcPts val="1000"/>
              </a:spcAft>
            </a:pPr>
            <a:r>
              <a:rPr sz="1100" b="0">
                <a:solidFill>
                  <a:srgbClr val="262626"/>
                </a:solidFill>
                <a:latin typeface="Arial"/>
              </a:rPr>
              <a:t>Notifications e-mail + in-app</a:t>
            </a:r>
          </a:p>
          <a:p>
            <a:pPr algn="l">
              <a:spcBef>
                <a:spcPts val="0"/>
              </a:spcBef>
              <a:spcAft>
                <a:spcPts val="1000"/>
              </a:spcAft>
            </a:pPr>
            <a:r>
              <a:rPr sz="1100" b="0">
                <a:solidFill>
                  <a:srgbClr val="262626"/>
                </a:solidFill>
                <a:latin typeface="Arial"/>
              </a:rPr>
              <a:t>Historique complet traçable</a:t>
            </a:r>
          </a:p>
        </p:txBody>
      </p:sp>
      <p:sp>
        <p:nvSpPr>
          <p:cNvPr id="8" name="Rectangle 7"/>
          <p:cNvSpPr/>
          <p:nvPr/>
        </p:nvSpPr>
        <p:spPr>
          <a:xfrm>
            <a:off x="4282440" y="1554480"/>
            <a:ext cx="3624072" cy="502920"/>
          </a:xfrm>
          <a:prstGeom prst="rect">
            <a:avLst/>
          </a:prstGeom>
          <a:solidFill>
            <a:srgbClr val="69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55592" y="1554480"/>
            <a:ext cx="3477768"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0"/>
              </a:spcAft>
            </a:pPr>
            <a:r>
              <a:rPr sz="1300" b="1">
                <a:solidFill>
                  <a:srgbClr val="FFFFFF"/>
                </a:solidFill>
                <a:latin typeface="Arial"/>
              </a:rPr>
              <a:t>Demi-journées &amp; urgence</a:t>
            </a:r>
          </a:p>
        </p:txBody>
      </p:sp>
      <p:sp>
        <p:nvSpPr>
          <p:cNvPr id="10" name="Rectangle 9"/>
          <p:cNvSpPr/>
          <p:nvPr/>
        </p:nvSpPr>
        <p:spPr>
          <a:xfrm>
            <a:off x="4282440" y="2057400"/>
            <a:ext cx="3624072" cy="1874519"/>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10456" y="2221992"/>
            <a:ext cx="3368040" cy="161848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1000"/>
              </a:spcAft>
            </a:pPr>
            <a:r>
              <a:rPr sz="1100" b="0">
                <a:solidFill>
                  <a:srgbClr val="262626"/>
                </a:solidFill>
                <a:latin typeface="Arial"/>
              </a:rPr>
              <a:t>Granularité fine des absences</a:t>
            </a:r>
          </a:p>
          <a:p>
            <a:pPr algn="l">
              <a:spcBef>
                <a:spcPts val="0"/>
              </a:spcBef>
              <a:spcAft>
                <a:spcPts val="1000"/>
              </a:spcAft>
            </a:pPr>
            <a:r>
              <a:rPr sz="1100" b="0">
                <a:solidFill>
                  <a:srgbClr val="262626"/>
                </a:solidFill>
                <a:latin typeface="Arial"/>
              </a:rPr>
              <a:t>Flag urgence pour prioriser</a:t>
            </a:r>
          </a:p>
          <a:p>
            <a:pPr algn="l">
              <a:spcBef>
                <a:spcPts val="0"/>
              </a:spcBef>
              <a:spcAft>
                <a:spcPts val="1000"/>
              </a:spcAft>
            </a:pPr>
            <a:r>
              <a:rPr sz="1100" b="0">
                <a:solidFill>
                  <a:srgbClr val="262626"/>
                </a:solidFill>
                <a:latin typeface="Arial"/>
              </a:rPr>
              <a:t>Règles métier intégrées</a:t>
            </a:r>
          </a:p>
        </p:txBody>
      </p:sp>
      <p:sp>
        <p:nvSpPr>
          <p:cNvPr id="12" name="Rectangle 11"/>
          <p:cNvSpPr/>
          <p:nvPr/>
        </p:nvSpPr>
        <p:spPr>
          <a:xfrm>
            <a:off x="8107680" y="1554480"/>
            <a:ext cx="3624072" cy="502920"/>
          </a:xfrm>
          <a:prstGeom prst="rect">
            <a:avLst/>
          </a:prstGeom>
          <a:solidFill>
            <a:srgbClr val="9F5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80832" y="1554480"/>
            <a:ext cx="3477768"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0"/>
              </a:spcAft>
            </a:pPr>
            <a:r>
              <a:rPr sz="1300" b="1">
                <a:solidFill>
                  <a:srgbClr val="FFFFFF"/>
                </a:solidFill>
                <a:latin typeface="Arial"/>
              </a:rPr>
              <a:t>Stack moderne React / Django</a:t>
            </a:r>
          </a:p>
        </p:txBody>
      </p:sp>
      <p:sp>
        <p:nvSpPr>
          <p:cNvPr id="14" name="Rectangle 13"/>
          <p:cNvSpPr/>
          <p:nvPr/>
        </p:nvSpPr>
        <p:spPr>
          <a:xfrm>
            <a:off x="8107680" y="2057400"/>
            <a:ext cx="3624072" cy="1874519"/>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ectangle 14"/>
          <p:cNvSpPr/>
          <p:nvPr/>
        </p:nvSpPr>
        <p:spPr>
          <a:xfrm>
            <a:off x="8235696" y="2221992"/>
            <a:ext cx="3368040" cy="161848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1000"/>
              </a:spcAft>
            </a:pPr>
            <a:r>
              <a:rPr sz="1100" b="0" dirty="0">
                <a:solidFill>
                  <a:srgbClr val="262626"/>
                </a:solidFill>
                <a:latin typeface="Arial"/>
              </a:rPr>
              <a:t>Vite + React + Tailwind + shadcn</a:t>
            </a:r>
          </a:p>
          <a:p>
            <a:pPr algn="l">
              <a:spcBef>
                <a:spcPts val="0"/>
              </a:spcBef>
              <a:spcAft>
                <a:spcPts val="1000"/>
              </a:spcAft>
            </a:pPr>
            <a:r>
              <a:rPr sz="1100" b="0" dirty="0">
                <a:solidFill>
                  <a:srgbClr val="262626"/>
                </a:solidFill>
                <a:latin typeface="Arial"/>
              </a:rPr>
              <a:t>API DRF sécurisée JWT</a:t>
            </a:r>
            <a:endParaRPr lang="fr-FR" sz="1100" b="0" dirty="0">
              <a:solidFill>
                <a:srgbClr val="262626"/>
              </a:solidFill>
              <a:latin typeface="Arial"/>
            </a:endParaRPr>
          </a:p>
          <a:p>
            <a:pPr algn="l">
              <a:spcBef>
                <a:spcPts val="0"/>
              </a:spcBef>
              <a:spcAft>
                <a:spcPts val="1000"/>
              </a:spcAft>
            </a:pPr>
            <a:r>
              <a:rPr lang="fr-FR" sz="1100" b="0" dirty="0">
                <a:solidFill>
                  <a:srgbClr val="262626"/>
                </a:solidFill>
                <a:latin typeface="Arial"/>
              </a:rPr>
              <a:t>MySQL — données métier stables</a:t>
            </a:r>
          </a:p>
        </p:txBody>
      </p:sp>
      <p:sp>
        <p:nvSpPr>
          <p:cNvPr id="16" name="Rectangle 15"/>
          <p:cNvSpPr/>
          <p:nvPr/>
        </p:nvSpPr>
        <p:spPr>
          <a:xfrm>
            <a:off x="457200" y="4023360"/>
            <a:ext cx="3624072" cy="502920"/>
          </a:xfrm>
          <a:prstGeom prst="rect">
            <a:avLst/>
          </a:prstGeom>
          <a:solidFill>
            <a:srgbClr val="D87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30352" y="4023360"/>
            <a:ext cx="3477768"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0"/>
              </a:spcAft>
            </a:pPr>
            <a:r>
              <a:rPr sz="1300" b="1">
                <a:solidFill>
                  <a:srgbClr val="FFFFFF"/>
                </a:solidFill>
                <a:latin typeface="Arial"/>
              </a:rPr>
              <a:t>Activation &amp; sécurité compte</a:t>
            </a:r>
          </a:p>
        </p:txBody>
      </p:sp>
      <p:sp>
        <p:nvSpPr>
          <p:cNvPr id="18" name="Rectangle 17"/>
          <p:cNvSpPr/>
          <p:nvPr/>
        </p:nvSpPr>
        <p:spPr>
          <a:xfrm>
            <a:off x="457200" y="4526280"/>
            <a:ext cx="3624072" cy="1874519"/>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85216" y="4690872"/>
            <a:ext cx="3368040" cy="161848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1000"/>
              </a:spcAft>
            </a:pPr>
            <a:r>
              <a:rPr sz="1100" b="0">
                <a:solidFill>
                  <a:srgbClr val="262626"/>
                </a:solidFill>
                <a:latin typeface="Arial"/>
              </a:rPr>
              <a:t>Invitation / activation contrôlée</a:t>
            </a:r>
          </a:p>
          <a:p>
            <a:pPr algn="l">
              <a:spcBef>
                <a:spcPts val="0"/>
              </a:spcBef>
              <a:spcAft>
                <a:spcPts val="1000"/>
              </a:spcAft>
            </a:pPr>
            <a:r>
              <a:rPr sz="1100" b="0">
                <a:solidFill>
                  <a:srgbClr val="262626"/>
                </a:solidFill>
                <a:latin typeface="Arial"/>
              </a:rPr>
              <a:t>OTP e-mail &amp; reset password</a:t>
            </a:r>
          </a:p>
          <a:p>
            <a:pPr algn="l">
              <a:spcBef>
                <a:spcPts val="0"/>
              </a:spcBef>
              <a:spcAft>
                <a:spcPts val="1000"/>
              </a:spcAft>
            </a:pPr>
            <a:r>
              <a:rPr sz="1100" b="0">
                <a:solidFill>
                  <a:srgbClr val="262626"/>
                </a:solidFill>
                <a:latin typeface="Arial"/>
              </a:rPr>
              <a:t>Rôles admin / employé stricts</a:t>
            </a:r>
          </a:p>
        </p:txBody>
      </p:sp>
      <p:sp>
        <p:nvSpPr>
          <p:cNvPr id="20" name="Rectangle 19"/>
          <p:cNvSpPr/>
          <p:nvPr/>
        </p:nvSpPr>
        <p:spPr>
          <a:xfrm>
            <a:off x="4282440" y="4023360"/>
            <a:ext cx="3624072" cy="502920"/>
          </a:xfrm>
          <a:prstGeom prst="rect">
            <a:avLst/>
          </a:prstGeom>
          <a:solidFill>
            <a:srgbClr val="FDC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55592" y="4023360"/>
            <a:ext cx="3477768"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0"/>
              </a:spcAft>
            </a:pPr>
            <a:r>
              <a:rPr sz="1300" b="1">
                <a:solidFill>
                  <a:srgbClr val="262626"/>
                </a:solidFill>
                <a:latin typeface="Arial"/>
              </a:rPr>
              <a:t>Reporting &amp; export Excel</a:t>
            </a:r>
          </a:p>
        </p:txBody>
      </p:sp>
      <p:sp>
        <p:nvSpPr>
          <p:cNvPr id="22" name="Rectangle 21"/>
          <p:cNvSpPr/>
          <p:nvPr/>
        </p:nvSpPr>
        <p:spPr>
          <a:xfrm>
            <a:off x="4282440" y="4526280"/>
            <a:ext cx="3624072" cy="1874519"/>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10456" y="4690872"/>
            <a:ext cx="3368040" cy="161848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1000"/>
              </a:spcAft>
            </a:pPr>
            <a:r>
              <a:rPr sz="1100" b="0">
                <a:solidFill>
                  <a:srgbClr val="262626"/>
                </a:solidFill>
                <a:latin typeface="Arial"/>
              </a:rPr>
              <a:t>Tendances, volumes, types</a:t>
            </a:r>
          </a:p>
          <a:p>
            <a:pPr algn="l">
              <a:spcBef>
                <a:spcPts val="0"/>
              </a:spcBef>
              <a:spcAft>
                <a:spcPts val="1000"/>
              </a:spcAft>
            </a:pPr>
            <a:r>
              <a:rPr sz="1100" b="0">
                <a:solidFill>
                  <a:srgbClr val="262626"/>
                </a:solidFill>
                <a:latin typeface="Arial"/>
              </a:rPr>
              <a:t>Planning annuel exportable</a:t>
            </a:r>
          </a:p>
          <a:p>
            <a:pPr algn="l">
              <a:spcBef>
                <a:spcPts val="0"/>
              </a:spcBef>
              <a:spcAft>
                <a:spcPts val="1000"/>
              </a:spcAft>
            </a:pPr>
            <a:r>
              <a:rPr sz="1100" b="0">
                <a:solidFill>
                  <a:srgbClr val="262626"/>
                </a:solidFill>
                <a:latin typeface="Arial"/>
              </a:rPr>
              <a:t>Prêt pour RH / comptabilité</a:t>
            </a:r>
          </a:p>
        </p:txBody>
      </p:sp>
      <p:sp>
        <p:nvSpPr>
          <p:cNvPr id="24" name="Rectangle 23"/>
          <p:cNvSpPr/>
          <p:nvPr/>
        </p:nvSpPr>
        <p:spPr>
          <a:xfrm>
            <a:off x="8107680" y="4023360"/>
            <a:ext cx="3624072" cy="502920"/>
          </a:xfrm>
          <a:prstGeom prst="rect">
            <a:avLst/>
          </a:prstGeom>
          <a:solidFill>
            <a:srgbClr val="49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80832" y="4023360"/>
            <a:ext cx="3477768"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0"/>
              </a:spcAft>
            </a:pPr>
            <a:r>
              <a:rPr sz="1300" b="1">
                <a:solidFill>
                  <a:srgbClr val="FFFFFF"/>
                </a:solidFill>
                <a:latin typeface="Arial"/>
              </a:rPr>
              <a:t>Jours fériés &amp; vue équipe</a:t>
            </a:r>
          </a:p>
        </p:txBody>
      </p:sp>
      <p:sp>
        <p:nvSpPr>
          <p:cNvPr id="26" name="Rectangle 25"/>
          <p:cNvSpPr/>
          <p:nvPr/>
        </p:nvSpPr>
        <p:spPr>
          <a:xfrm>
            <a:off x="8107680" y="4526280"/>
            <a:ext cx="3624072" cy="1874519"/>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35696" y="4690872"/>
            <a:ext cx="3368040" cy="161848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1000"/>
              </a:spcAft>
            </a:pPr>
            <a:r>
              <a:rPr sz="1100" b="0">
                <a:solidFill>
                  <a:srgbClr val="262626"/>
                </a:solidFill>
                <a:latin typeface="Arial"/>
              </a:rPr>
              <a:t>Calendrier national intégré</a:t>
            </a:r>
          </a:p>
          <a:p>
            <a:pPr algn="l">
              <a:spcBef>
                <a:spcPts val="0"/>
              </a:spcBef>
              <a:spcAft>
                <a:spcPts val="1000"/>
              </a:spcAft>
            </a:pPr>
            <a:r>
              <a:rPr sz="1100" b="0">
                <a:solidFill>
                  <a:srgbClr val="262626"/>
                </a:solidFill>
                <a:latin typeface="Arial"/>
              </a:rPr>
              <a:t>Qui est absent / disponible</a:t>
            </a:r>
          </a:p>
          <a:p>
            <a:pPr algn="l">
              <a:spcBef>
                <a:spcPts val="0"/>
              </a:spcBef>
              <a:spcAft>
                <a:spcPts val="1000"/>
              </a:spcAft>
            </a:pPr>
            <a:r>
              <a:rPr sz="1100" b="0">
                <a:solidFill>
                  <a:srgbClr val="262626"/>
                </a:solidFill>
                <a:latin typeface="Arial"/>
              </a:rPr>
              <a:t>Moins de surprises planning</a:t>
            </a:r>
          </a:p>
        </p:txBody>
      </p:sp>
      <p:sp>
        <p:nvSpPr>
          <p:cNvPr id="28" name="Rectangle 27"/>
          <p:cNvSpPr/>
          <p:nvPr/>
        </p:nvSpPr>
        <p:spPr>
          <a:xfrm>
            <a:off x="457200" y="6400800"/>
            <a:ext cx="45720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l">
              <a:spcBef>
                <a:spcPts val="0"/>
              </a:spcBef>
              <a:spcAft>
                <a:spcPts val="0"/>
              </a:spcAft>
            </a:pPr>
            <a:r>
              <a:rPr sz="900">
                <a:solidFill>
                  <a:srgbClr val="8A8A8A"/>
                </a:solidFill>
                <a:latin typeface="Arial"/>
              </a:rPr>
              <a:t>Gestion de congés · Présentation de projet</a:t>
            </a:r>
          </a:p>
        </p:txBody>
      </p:sp>
      <p:sp>
        <p:nvSpPr>
          <p:cNvPr id="29" name="Rectangle 28"/>
          <p:cNvSpPr/>
          <p:nvPr/>
        </p:nvSpPr>
        <p:spPr>
          <a:xfrm>
            <a:off x="11365992" y="6400800"/>
            <a:ext cx="5486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r">
              <a:spcBef>
                <a:spcPts val="0"/>
              </a:spcBef>
              <a:spcAft>
                <a:spcPts val="0"/>
              </a:spcAft>
            </a:pPr>
            <a:r>
              <a:rPr sz="1000">
                <a:solidFill>
                  <a:srgbClr val="8A8A8A"/>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Résultats Obtenus</a:t>
            </a:r>
            <a:endParaRPr lang="en-US" sz="3200" dirty="0"/>
          </a:p>
        </p:txBody>
      </p:sp>
      <p:sp>
        <p:nvSpPr>
          <p:cNvPr id="3" name="Text 1"/>
          <p:cNvSpPr/>
          <p:nvPr/>
        </p:nvSpPr>
        <p:spPr>
          <a:xfrm>
            <a:off x="457200" y="1691640"/>
            <a:ext cx="5120640" cy="365760"/>
          </a:xfrm>
          <a:prstGeom prst="rect">
            <a:avLst/>
          </a:prstGeom>
          <a:noFill/>
          <a:ln/>
        </p:spPr>
        <p:txBody>
          <a:bodyPr wrap="square" rtlCol="0" anchor="ctr"/>
          <a:lstStyle/>
          <a:p>
            <a:pPr marL="0" indent="0">
              <a:buNone/>
            </a:pPr>
            <a:r>
              <a:rPr lang="en-US" sz="1400" b="1" dirty="0">
                <a:solidFill>
                  <a:srgbClr val="262626"/>
                </a:solidFill>
                <a:latin typeface="Arial" pitchFamily="34" charset="0"/>
                <a:ea typeface="Arial" pitchFamily="34" charset="-122"/>
                <a:cs typeface="Arial" pitchFamily="34" charset="-120"/>
              </a:rPr>
              <a:t>Bénéfices mesurables</a:t>
            </a:r>
            <a:endParaRPr lang="en-US" sz="1400" dirty="0"/>
          </a:p>
        </p:txBody>
      </p:sp>
      <p:sp>
        <p:nvSpPr>
          <p:cNvPr id="4" name="Text 2"/>
          <p:cNvSpPr/>
          <p:nvPr/>
        </p:nvSpPr>
        <p:spPr>
          <a:xfrm>
            <a:off x="457200" y="2103120"/>
            <a:ext cx="5120640" cy="1554480"/>
          </a:xfrm>
          <a:prstGeom prst="rect">
            <a:avLst/>
          </a:prstGeom>
          <a:noFill/>
          <a:ln/>
        </p:spPr>
        <p:txBody>
          <a:bodyPr wrap="square" lIns="0" tIns="0" rIns="0" bIns="0" rtlCol="0" anchor="ctr"/>
          <a:lstStyle/>
          <a:p>
            <a:pPr marL="177800" indent="-177800">
              <a:lnSpc>
                <a:spcPct val="120000"/>
              </a:lnSpc>
              <a:spcAft>
                <a:spcPts val="1000"/>
              </a:spcAft>
              <a:buSzPct val="100000"/>
              <a:buChar char="▸"/>
            </a:pPr>
            <a:r>
              <a:rPr lang="en-US" sz="1250" dirty="0">
                <a:solidFill>
                  <a:srgbClr val="262626"/>
                </a:solidFill>
                <a:latin typeface="Arial" pitchFamily="34" charset="0"/>
                <a:ea typeface="Arial" pitchFamily="34" charset="-122"/>
                <a:cs typeface="Arial" pitchFamily="34" charset="-120"/>
              </a:rPr>
              <a:t>Demande validée en parcours digital — plus d’Excel dispersé</a:t>
            </a:r>
            <a:endParaRPr lang="en-US" sz="1250" dirty="0"/>
          </a:p>
          <a:p>
            <a:pPr marL="177800" indent="-177800">
              <a:lnSpc>
                <a:spcPct val="120000"/>
              </a:lnSpc>
              <a:spcAft>
                <a:spcPts val="1000"/>
              </a:spcAft>
              <a:buSzPct val="100000"/>
              <a:buChar char="▸"/>
            </a:pPr>
            <a:r>
              <a:rPr lang="en-US" sz="1250" dirty="0">
                <a:solidFill>
                  <a:srgbClr val="262626"/>
                </a:solidFill>
                <a:latin typeface="Arial" pitchFamily="34" charset="0"/>
                <a:ea typeface="Arial" pitchFamily="34" charset="-122"/>
                <a:cs typeface="Arial" pitchFamily="34" charset="-120"/>
              </a:rPr>
              <a:t>Priorisation claire : pending / approved / rejected</a:t>
            </a:r>
            <a:endParaRPr lang="en-US" sz="1250" dirty="0"/>
          </a:p>
          <a:p>
            <a:pPr marL="177800" indent="-177800">
              <a:lnSpc>
                <a:spcPct val="120000"/>
              </a:lnSpc>
              <a:spcAft>
                <a:spcPts val="1000"/>
              </a:spcAft>
              <a:buSzPct val="100000"/>
              <a:buChar char="▸"/>
            </a:pPr>
            <a:r>
              <a:rPr lang="en-US" sz="1250" dirty="0">
                <a:solidFill>
                  <a:srgbClr val="262626"/>
                </a:solidFill>
                <a:latin typeface="Arial" pitchFamily="34" charset="0"/>
                <a:ea typeface="Arial" pitchFamily="34" charset="-122"/>
                <a:cs typeface="Arial" pitchFamily="34" charset="-120"/>
              </a:rPr>
              <a:t>Export planning pour viser ×2 de clarté RH</a:t>
            </a:r>
            <a:endParaRPr lang="en-US" sz="1250" dirty="0"/>
          </a:p>
        </p:txBody>
      </p:sp>
      <p:sp>
        <p:nvSpPr>
          <p:cNvPr id="5" name="Text 3"/>
          <p:cNvSpPr/>
          <p:nvPr/>
        </p:nvSpPr>
        <p:spPr>
          <a:xfrm>
            <a:off x="457200" y="3886200"/>
            <a:ext cx="5120640" cy="365760"/>
          </a:xfrm>
          <a:prstGeom prst="rect">
            <a:avLst/>
          </a:prstGeom>
          <a:noFill/>
          <a:ln/>
        </p:spPr>
        <p:txBody>
          <a:bodyPr wrap="square" rtlCol="0" anchor="ctr"/>
          <a:lstStyle/>
          <a:p>
            <a:pPr marL="0" indent="0">
              <a:buNone/>
            </a:pPr>
            <a:r>
              <a:rPr lang="en-US" sz="1400" b="1" dirty="0">
                <a:solidFill>
                  <a:srgbClr val="262626"/>
                </a:solidFill>
                <a:latin typeface="Arial" pitchFamily="34" charset="0"/>
                <a:ea typeface="Arial" pitchFamily="34" charset="-122"/>
                <a:cs typeface="Arial" pitchFamily="34" charset="-120"/>
              </a:rPr>
              <a:t>Ce que livre la plateforme</a:t>
            </a:r>
            <a:endParaRPr lang="en-US" sz="1400" dirty="0"/>
          </a:p>
        </p:txBody>
      </p:sp>
      <p:sp>
        <p:nvSpPr>
          <p:cNvPr id="6" name="Text 4"/>
          <p:cNvSpPr/>
          <p:nvPr/>
        </p:nvSpPr>
        <p:spPr>
          <a:xfrm>
            <a:off x="457200" y="4297680"/>
            <a:ext cx="5120640" cy="1920240"/>
          </a:xfrm>
          <a:prstGeom prst="rect">
            <a:avLst/>
          </a:prstGeom>
          <a:noFill/>
          <a:ln/>
        </p:spPr>
        <p:txBody>
          <a:bodyPr wrap="square" lIns="0" tIns="0" rIns="0" bIns="0" rtlCol="0" anchor="ctr"/>
          <a:lstStyle/>
          <a:p>
            <a:pPr marL="177800" indent="-177800">
              <a:lnSpc>
                <a:spcPct val="120000"/>
              </a:lnSpc>
              <a:spcAft>
                <a:spcPts val="1000"/>
              </a:spcAft>
              <a:buSzPct val="100000"/>
              <a:buChar char="▸"/>
            </a:pPr>
            <a:r>
              <a:rPr lang="en-US" sz="1250" dirty="0">
                <a:solidFill>
                  <a:srgbClr val="262626"/>
                </a:solidFill>
                <a:latin typeface="Arial" pitchFamily="34" charset="0"/>
                <a:ea typeface="Arial" pitchFamily="34" charset="-122"/>
                <a:cs typeface="Arial" pitchFamily="34" charset="-120"/>
              </a:rPr>
              <a:t>Soldes multi-types structurés</a:t>
            </a:r>
            <a:endParaRPr lang="en-US" sz="1250" dirty="0"/>
          </a:p>
          <a:p>
            <a:pPr marL="177800" indent="-177800">
              <a:lnSpc>
                <a:spcPct val="120000"/>
              </a:lnSpc>
              <a:spcAft>
                <a:spcPts val="1000"/>
              </a:spcAft>
              <a:buSzPct val="100000"/>
              <a:buChar char="▸"/>
            </a:pPr>
            <a:r>
              <a:rPr lang="en-US" sz="1250" dirty="0">
                <a:solidFill>
                  <a:srgbClr val="262626"/>
                </a:solidFill>
                <a:latin typeface="Arial" pitchFamily="34" charset="0"/>
                <a:ea typeface="Arial" pitchFamily="34" charset="-122"/>
                <a:cs typeface="Arial" pitchFamily="34" charset="-120"/>
              </a:rPr>
              <a:t>Fiches demandes prêtes pour validation</a:t>
            </a:r>
            <a:endParaRPr lang="en-US" sz="1250" dirty="0"/>
          </a:p>
          <a:p>
            <a:pPr marL="177800" indent="-177800">
              <a:lnSpc>
                <a:spcPct val="120000"/>
              </a:lnSpc>
              <a:spcAft>
                <a:spcPts val="1000"/>
              </a:spcAft>
              <a:buSzPct val="100000"/>
              <a:buChar char="▸"/>
            </a:pPr>
            <a:r>
              <a:rPr lang="en-US" sz="1250" dirty="0">
                <a:solidFill>
                  <a:srgbClr val="262626"/>
                </a:solidFill>
                <a:latin typeface="Arial" pitchFamily="34" charset="0"/>
                <a:ea typeface="Arial" pitchFamily="34" charset="-122"/>
                <a:cs typeface="Arial" pitchFamily="34" charset="-120"/>
              </a:rPr>
              <a:t>Calendrier + disponibilité équipe</a:t>
            </a:r>
            <a:endParaRPr lang="en-US" sz="1250" dirty="0"/>
          </a:p>
          <a:p>
            <a:pPr marL="177800" indent="-177800">
              <a:lnSpc>
                <a:spcPct val="120000"/>
              </a:lnSpc>
              <a:spcAft>
                <a:spcPts val="1000"/>
              </a:spcAft>
              <a:buSzPct val="100000"/>
              <a:buChar char="▸"/>
            </a:pPr>
            <a:r>
              <a:rPr lang="en-US" sz="1250" dirty="0">
                <a:solidFill>
                  <a:srgbClr val="262626"/>
                </a:solidFill>
                <a:latin typeface="Arial" pitchFamily="34" charset="0"/>
                <a:ea typeface="Arial" pitchFamily="34" charset="-122"/>
                <a:cs typeface="Arial" pitchFamily="34" charset="-120"/>
              </a:rPr>
              <a:t>Accès admin partageable en séance</a:t>
            </a:r>
            <a:endParaRPr lang="en-US" sz="1250" dirty="0"/>
          </a:p>
        </p:txBody>
      </p:sp>
      <p:sp>
        <p:nvSpPr>
          <p:cNvPr id="7" name="Shape 5"/>
          <p:cNvSpPr/>
          <p:nvPr/>
        </p:nvSpPr>
        <p:spPr>
          <a:xfrm>
            <a:off x="6035040" y="1691640"/>
            <a:ext cx="2734056" cy="457200"/>
          </a:xfrm>
          <a:prstGeom prst="rect">
            <a:avLst/>
          </a:prstGeom>
          <a:solidFill>
            <a:srgbClr val="494B69"/>
          </a:solidFill>
          <a:ln/>
        </p:spPr>
        <p:txBody>
          <a:bodyPr/>
          <a:lstStyle/>
          <a:p>
            <a:endParaRPr lang="fr-FR"/>
          </a:p>
        </p:txBody>
      </p:sp>
      <p:sp>
        <p:nvSpPr>
          <p:cNvPr id="8" name="Text 6"/>
          <p:cNvSpPr/>
          <p:nvPr/>
        </p:nvSpPr>
        <p:spPr>
          <a:xfrm>
            <a:off x="6035040" y="1691640"/>
            <a:ext cx="2734056"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Temps</a:t>
            </a:r>
            <a:endParaRPr lang="en-US" sz="1300" dirty="0"/>
          </a:p>
        </p:txBody>
      </p:sp>
      <p:sp>
        <p:nvSpPr>
          <p:cNvPr id="9" name="Shape 7"/>
          <p:cNvSpPr/>
          <p:nvPr/>
        </p:nvSpPr>
        <p:spPr>
          <a:xfrm>
            <a:off x="6035040" y="2148840"/>
            <a:ext cx="2734056" cy="1682496"/>
          </a:xfrm>
          <a:prstGeom prst="rect">
            <a:avLst/>
          </a:prstGeom>
          <a:solidFill>
            <a:srgbClr val="F2F2F2"/>
          </a:solidFill>
          <a:ln/>
        </p:spPr>
        <p:txBody>
          <a:bodyPr/>
          <a:lstStyle/>
          <a:p>
            <a:endParaRPr lang="fr-FR"/>
          </a:p>
        </p:txBody>
      </p:sp>
      <p:sp>
        <p:nvSpPr>
          <p:cNvPr id="10" name="Text 8"/>
          <p:cNvSpPr/>
          <p:nvPr/>
        </p:nvSpPr>
        <p:spPr>
          <a:xfrm>
            <a:off x="6035040" y="2240280"/>
            <a:ext cx="2734056" cy="841248"/>
          </a:xfrm>
          <a:prstGeom prst="rect">
            <a:avLst/>
          </a:prstGeom>
          <a:noFill/>
          <a:ln/>
        </p:spPr>
        <p:txBody>
          <a:bodyPr wrap="square" lIns="0" tIns="0" rIns="0" bIns="0" rtlCol="0" anchor="b"/>
          <a:lstStyle/>
          <a:p>
            <a:pPr marL="0" indent="0" algn="ctr">
              <a:buNone/>
            </a:pPr>
            <a:r>
              <a:rPr lang="en-US" sz="3400" b="1" dirty="0">
                <a:solidFill>
                  <a:srgbClr val="494B69"/>
                </a:solidFill>
                <a:latin typeface="Arial" pitchFamily="34" charset="0"/>
                <a:ea typeface="Arial" pitchFamily="34" charset="-122"/>
                <a:cs typeface="Arial" pitchFamily="34" charset="-120"/>
              </a:rPr>
              <a:t>&lt;5 min</a:t>
            </a:r>
            <a:endParaRPr lang="en-US" sz="3400" dirty="0"/>
          </a:p>
        </p:txBody>
      </p:sp>
      <p:sp>
        <p:nvSpPr>
          <p:cNvPr id="11" name="Text 9"/>
          <p:cNvSpPr/>
          <p:nvPr/>
        </p:nvSpPr>
        <p:spPr>
          <a:xfrm>
            <a:off x="6217920" y="3118104"/>
            <a:ext cx="2368296" cy="706648"/>
          </a:xfrm>
          <a:prstGeom prst="rect">
            <a:avLst/>
          </a:prstGeom>
          <a:noFill/>
          <a:ln/>
        </p:spPr>
        <p:txBody>
          <a:bodyPr wrap="square" lIns="0" tIns="0" rIns="0" bIns="0" rtlCol="0" anchor="t"/>
          <a:lstStyle/>
          <a:p>
            <a:pPr marL="0" indent="0" algn="ctr">
              <a:lnSpc>
                <a:spcPct val="115000"/>
              </a:lnSpc>
              <a:buNone/>
            </a:pPr>
            <a:r>
              <a:rPr lang="en-US" sz="1050" dirty="0">
                <a:solidFill>
                  <a:srgbClr val="595959"/>
                </a:solidFill>
                <a:latin typeface="Arial" pitchFamily="34" charset="0"/>
                <a:ea typeface="Arial" pitchFamily="34" charset="-122"/>
                <a:cs typeface="Arial" pitchFamily="34" charset="-120"/>
              </a:rPr>
              <a:t>Au lieu de 2-4 h / semaine de suivi manuel.</a:t>
            </a:r>
            <a:endParaRPr lang="en-US" sz="1050" dirty="0"/>
          </a:p>
        </p:txBody>
      </p:sp>
      <p:sp>
        <p:nvSpPr>
          <p:cNvPr id="12" name="Shape 10"/>
          <p:cNvSpPr/>
          <p:nvPr/>
        </p:nvSpPr>
        <p:spPr>
          <a:xfrm>
            <a:off x="8970264" y="1691640"/>
            <a:ext cx="2734056" cy="457200"/>
          </a:xfrm>
          <a:prstGeom prst="rect">
            <a:avLst/>
          </a:prstGeom>
          <a:solidFill>
            <a:srgbClr val="695D7A"/>
          </a:solidFill>
          <a:ln/>
        </p:spPr>
        <p:txBody>
          <a:bodyPr/>
          <a:lstStyle/>
          <a:p>
            <a:endParaRPr lang="fr-FR"/>
          </a:p>
        </p:txBody>
      </p:sp>
      <p:sp>
        <p:nvSpPr>
          <p:cNvPr id="13" name="Text 11"/>
          <p:cNvSpPr/>
          <p:nvPr/>
        </p:nvSpPr>
        <p:spPr>
          <a:xfrm>
            <a:off x="8970264" y="1691640"/>
            <a:ext cx="2734056"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Validation</a:t>
            </a:r>
            <a:endParaRPr lang="en-US" sz="1300" dirty="0"/>
          </a:p>
        </p:txBody>
      </p:sp>
      <p:sp>
        <p:nvSpPr>
          <p:cNvPr id="14" name="Shape 12"/>
          <p:cNvSpPr/>
          <p:nvPr/>
        </p:nvSpPr>
        <p:spPr>
          <a:xfrm>
            <a:off x="8970264" y="2148840"/>
            <a:ext cx="2734056" cy="1682496"/>
          </a:xfrm>
          <a:prstGeom prst="rect">
            <a:avLst/>
          </a:prstGeom>
          <a:solidFill>
            <a:srgbClr val="F2F2F2"/>
          </a:solidFill>
          <a:ln/>
        </p:spPr>
        <p:txBody>
          <a:bodyPr/>
          <a:lstStyle/>
          <a:p>
            <a:endParaRPr lang="fr-FR"/>
          </a:p>
        </p:txBody>
      </p:sp>
      <p:sp>
        <p:nvSpPr>
          <p:cNvPr id="15" name="Text 13"/>
          <p:cNvSpPr/>
          <p:nvPr/>
        </p:nvSpPr>
        <p:spPr>
          <a:xfrm>
            <a:off x="8970264" y="2240280"/>
            <a:ext cx="2734056" cy="841248"/>
          </a:xfrm>
          <a:prstGeom prst="rect">
            <a:avLst/>
          </a:prstGeom>
          <a:noFill/>
          <a:ln/>
        </p:spPr>
        <p:txBody>
          <a:bodyPr wrap="square" lIns="0" tIns="0" rIns="0" bIns="0" rtlCol="0" anchor="b"/>
          <a:lstStyle/>
          <a:p>
            <a:pPr marL="0" indent="0" algn="ctr">
              <a:buNone/>
            </a:pPr>
            <a:r>
              <a:rPr lang="en-US" sz="3400" b="1" dirty="0">
                <a:solidFill>
                  <a:srgbClr val="695D7A"/>
                </a:solidFill>
                <a:latin typeface="Arial" pitchFamily="34" charset="0"/>
                <a:ea typeface="Arial" pitchFamily="34" charset="-122"/>
                <a:cs typeface="Arial" pitchFamily="34" charset="-120"/>
              </a:rPr>
              <a:t>1 Flux</a:t>
            </a:r>
            <a:endParaRPr lang="en-US" sz="3400" dirty="0"/>
          </a:p>
        </p:txBody>
      </p:sp>
      <p:sp>
        <p:nvSpPr>
          <p:cNvPr id="16" name="Text 14"/>
          <p:cNvSpPr/>
          <p:nvPr/>
        </p:nvSpPr>
        <p:spPr>
          <a:xfrm>
            <a:off x="9153144" y="3118104"/>
            <a:ext cx="2368296" cy="706648"/>
          </a:xfrm>
          <a:prstGeom prst="rect">
            <a:avLst/>
          </a:prstGeom>
          <a:noFill/>
          <a:ln/>
        </p:spPr>
        <p:txBody>
          <a:bodyPr wrap="square" lIns="0" tIns="0" rIns="0" bIns="0" rtlCol="0" anchor="t"/>
          <a:lstStyle/>
          <a:p>
            <a:pPr marL="0" indent="0" algn="ctr">
              <a:lnSpc>
                <a:spcPct val="115000"/>
              </a:lnSpc>
              <a:buNone/>
            </a:pPr>
            <a:r>
              <a:rPr lang="en-US" sz="1050" dirty="0">
                <a:solidFill>
                  <a:srgbClr val="595959"/>
                </a:solidFill>
                <a:latin typeface="Arial" pitchFamily="34" charset="0"/>
                <a:ea typeface="Arial" pitchFamily="34" charset="-122"/>
                <a:cs typeface="Arial" pitchFamily="34" charset="-120"/>
              </a:rPr>
              <a:t>Demande créée, notifiée et tranchée sans friction.</a:t>
            </a:r>
            <a:endParaRPr lang="en-US" sz="1050" dirty="0"/>
          </a:p>
        </p:txBody>
      </p:sp>
      <p:sp>
        <p:nvSpPr>
          <p:cNvPr id="17" name="Shape 15"/>
          <p:cNvSpPr/>
          <p:nvPr/>
        </p:nvSpPr>
        <p:spPr>
          <a:xfrm>
            <a:off x="6035040" y="4032504"/>
            <a:ext cx="2734056" cy="457200"/>
          </a:xfrm>
          <a:prstGeom prst="rect">
            <a:avLst/>
          </a:prstGeom>
          <a:solidFill>
            <a:srgbClr val="9F5B72"/>
          </a:solidFill>
          <a:ln/>
        </p:spPr>
        <p:txBody>
          <a:bodyPr/>
          <a:lstStyle/>
          <a:p>
            <a:endParaRPr lang="fr-FR"/>
          </a:p>
        </p:txBody>
      </p:sp>
      <p:sp>
        <p:nvSpPr>
          <p:cNvPr id="18" name="Text 16"/>
          <p:cNvSpPr/>
          <p:nvPr/>
        </p:nvSpPr>
        <p:spPr>
          <a:xfrm>
            <a:off x="6035040" y="4032504"/>
            <a:ext cx="2734056"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Clarté</a:t>
            </a:r>
            <a:endParaRPr lang="en-US" sz="1300" dirty="0"/>
          </a:p>
        </p:txBody>
      </p:sp>
      <p:sp>
        <p:nvSpPr>
          <p:cNvPr id="19" name="Shape 17"/>
          <p:cNvSpPr/>
          <p:nvPr/>
        </p:nvSpPr>
        <p:spPr>
          <a:xfrm>
            <a:off x="6035040" y="4489704"/>
            <a:ext cx="2734056" cy="1682496"/>
          </a:xfrm>
          <a:prstGeom prst="rect">
            <a:avLst/>
          </a:prstGeom>
          <a:solidFill>
            <a:srgbClr val="F2F2F2"/>
          </a:solidFill>
          <a:ln/>
        </p:spPr>
        <p:txBody>
          <a:bodyPr/>
          <a:lstStyle/>
          <a:p>
            <a:endParaRPr lang="fr-FR"/>
          </a:p>
        </p:txBody>
      </p:sp>
      <p:sp>
        <p:nvSpPr>
          <p:cNvPr id="20" name="Text 18"/>
          <p:cNvSpPr/>
          <p:nvPr/>
        </p:nvSpPr>
        <p:spPr>
          <a:xfrm>
            <a:off x="6035040" y="4581144"/>
            <a:ext cx="2734056" cy="841248"/>
          </a:xfrm>
          <a:prstGeom prst="rect">
            <a:avLst/>
          </a:prstGeom>
          <a:noFill/>
          <a:ln/>
        </p:spPr>
        <p:txBody>
          <a:bodyPr wrap="square" lIns="0" tIns="0" rIns="0" bIns="0" rtlCol="0" anchor="b"/>
          <a:lstStyle/>
          <a:p>
            <a:pPr marL="0" indent="0" algn="ctr">
              <a:buNone/>
            </a:pPr>
            <a:r>
              <a:rPr lang="en-US" sz="3400" b="1" dirty="0">
                <a:solidFill>
                  <a:srgbClr val="9F5B72"/>
                </a:solidFill>
                <a:latin typeface="Arial" pitchFamily="34" charset="0"/>
                <a:ea typeface="Arial" pitchFamily="34" charset="-122"/>
                <a:cs typeface="Arial" pitchFamily="34" charset="-120"/>
              </a:rPr>
              <a:t>×2</a:t>
            </a:r>
            <a:endParaRPr lang="en-US" sz="3400" dirty="0"/>
          </a:p>
        </p:txBody>
      </p:sp>
      <p:sp>
        <p:nvSpPr>
          <p:cNvPr id="21" name="Text 19"/>
          <p:cNvSpPr/>
          <p:nvPr/>
        </p:nvSpPr>
        <p:spPr>
          <a:xfrm>
            <a:off x="6217920" y="5458968"/>
            <a:ext cx="2368296" cy="706648"/>
          </a:xfrm>
          <a:prstGeom prst="rect">
            <a:avLst/>
          </a:prstGeom>
          <a:noFill/>
          <a:ln/>
        </p:spPr>
        <p:txBody>
          <a:bodyPr wrap="square" lIns="0" tIns="0" rIns="0" bIns="0" rtlCol="0" anchor="t"/>
          <a:lstStyle/>
          <a:p>
            <a:pPr marL="0" indent="0" algn="ctr">
              <a:lnSpc>
                <a:spcPct val="115000"/>
              </a:lnSpc>
              <a:buNone/>
            </a:pPr>
            <a:r>
              <a:rPr lang="en-US" sz="1050" dirty="0">
                <a:solidFill>
                  <a:srgbClr val="595959"/>
                </a:solidFill>
                <a:latin typeface="Arial" pitchFamily="34" charset="0"/>
                <a:ea typeface="Arial" pitchFamily="34" charset="-122"/>
                <a:cs typeface="Arial" pitchFamily="34" charset="-120"/>
              </a:rPr>
              <a:t>Visibilité soldes &amp; absences pour managers.</a:t>
            </a:r>
            <a:endParaRPr lang="en-US" sz="1050" dirty="0"/>
          </a:p>
        </p:txBody>
      </p:sp>
      <p:sp>
        <p:nvSpPr>
          <p:cNvPr id="22" name="Shape 20"/>
          <p:cNvSpPr/>
          <p:nvPr/>
        </p:nvSpPr>
        <p:spPr>
          <a:xfrm>
            <a:off x="8970264" y="4032504"/>
            <a:ext cx="2734056" cy="457200"/>
          </a:xfrm>
          <a:prstGeom prst="rect">
            <a:avLst/>
          </a:prstGeom>
          <a:solidFill>
            <a:srgbClr val="D8707C"/>
          </a:solidFill>
          <a:ln/>
        </p:spPr>
        <p:txBody>
          <a:bodyPr/>
          <a:lstStyle/>
          <a:p>
            <a:endParaRPr lang="fr-FR"/>
          </a:p>
        </p:txBody>
      </p:sp>
      <p:sp>
        <p:nvSpPr>
          <p:cNvPr id="23" name="Text 21"/>
          <p:cNvSpPr/>
          <p:nvPr/>
        </p:nvSpPr>
        <p:spPr>
          <a:xfrm>
            <a:off x="8970264" y="4032504"/>
            <a:ext cx="2734056"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Excel chaos</a:t>
            </a:r>
            <a:endParaRPr lang="en-US" sz="1300" dirty="0"/>
          </a:p>
        </p:txBody>
      </p:sp>
      <p:sp>
        <p:nvSpPr>
          <p:cNvPr id="24" name="Shape 22"/>
          <p:cNvSpPr/>
          <p:nvPr/>
        </p:nvSpPr>
        <p:spPr>
          <a:xfrm>
            <a:off x="8970264" y="4489704"/>
            <a:ext cx="2734056" cy="1682496"/>
          </a:xfrm>
          <a:prstGeom prst="rect">
            <a:avLst/>
          </a:prstGeom>
          <a:solidFill>
            <a:srgbClr val="F2F2F2"/>
          </a:solidFill>
          <a:ln/>
        </p:spPr>
        <p:txBody>
          <a:bodyPr/>
          <a:lstStyle/>
          <a:p>
            <a:endParaRPr lang="fr-FR"/>
          </a:p>
        </p:txBody>
      </p:sp>
      <p:sp>
        <p:nvSpPr>
          <p:cNvPr id="25" name="Text 23"/>
          <p:cNvSpPr/>
          <p:nvPr/>
        </p:nvSpPr>
        <p:spPr>
          <a:xfrm>
            <a:off x="8970264" y="4581144"/>
            <a:ext cx="2734056" cy="841248"/>
          </a:xfrm>
          <a:prstGeom prst="rect">
            <a:avLst/>
          </a:prstGeom>
          <a:noFill/>
          <a:ln/>
        </p:spPr>
        <p:txBody>
          <a:bodyPr wrap="square" lIns="0" tIns="0" rIns="0" bIns="0" rtlCol="0" anchor="b"/>
          <a:lstStyle/>
          <a:p>
            <a:pPr marL="0" indent="0" algn="ctr">
              <a:buNone/>
            </a:pPr>
            <a:r>
              <a:rPr lang="en-US" sz="3400" b="1" dirty="0">
                <a:solidFill>
                  <a:srgbClr val="D8707C"/>
                </a:solidFill>
                <a:latin typeface="Arial" pitchFamily="34" charset="0"/>
                <a:ea typeface="Arial" pitchFamily="34" charset="-122"/>
                <a:cs typeface="Arial" pitchFamily="34" charset="-120"/>
              </a:rPr>
              <a:t>0</a:t>
            </a:r>
            <a:endParaRPr lang="en-US" sz="3400" dirty="0"/>
          </a:p>
        </p:txBody>
      </p:sp>
      <p:sp>
        <p:nvSpPr>
          <p:cNvPr id="26" name="Text 24"/>
          <p:cNvSpPr/>
          <p:nvPr/>
        </p:nvSpPr>
        <p:spPr>
          <a:xfrm>
            <a:off x="9153144" y="5458968"/>
            <a:ext cx="2368296" cy="706648"/>
          </a:xfrm>
          <a:prstGeom prst="rect">
            <a:avLst/>
          </a:prstGeom>
          <a:noFill/>
          <a:ln/>
        </p:spPr>
        <p:txBody>
          <a:bodyPr wrap="square" lIns="0" tIns="0" rIns="0" bIns="0" rtlCol="0" anchor="t"/>
          <a:lstStyle/>
          <a:p>
            <a:pPr marL="0" indent="0" algn="ctr">
              <a:lnSpc>
                <a:spcPct val="115000"/>
              </a:lnSpc>
              <a:buNone/>
            </a:pPr>
            <a:r>
              <a:rPr lang="en-US" sz="1050" dirty="0">
                <a:solidFill>
                  <a:srgbClr val="595959"/>
                </a:solidFill>
                <a:latin typeface="Arial" pitchFamily="34" charset="0"/>
                <a:ea typeface="Arial" pitchFamily="34" charset="-122"/>
                <a:cs typeface="Arial" pitchFamily="34" charset="-120"/>
              </a:rPr>
              <a:t>Fichiers partagés évités.</a:t>
            </a:r>
            <a:endParaRPr lang="en-US" sz="1050" dirty="0"/>
          </a:p>
        </p:txBody>
      </p:sp>
      <p:sp>
        <p:nvSpPr>
          <p:cNvPr id="27" name="Text 25"/>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11</a:t>
            </a:r>
            <a:endParaRPr lang="en-US" sz="1000" dirty="0"/>
          </a:p>
        </p:txBody>
      </p:sp>
      <p:sp>
        <p:nvSpPr>
          <p:cNvPr id="28" name="Text 26"/>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11277295" cy="640080"/>
          </a:xfrm>
          <a:prstGeom prst="rect">
            <a:avLst/>
          </a:prstGeom>
          <a:noFill/>
          <a:ln/>
        </p:spPr>
        <p:txBody>
          <a:bodyPr wrap="square" rtlCol="0" anchor="ctr"/>
          <a:lstStyle/>
          <a:p>
            <a:pPr marL="0" indent="0" algn="l">
              <a:buNone/>
            </a:pPr>
            <a:r>
              <a:rPr lang="en-US" sz="3200" dirty="0">
                <a:solidFill>
                  <a:srgbClr val="262626"/>
                </a:solidFill>
                <a:latin typeface="Arial" pitchFamily="34" charset="0"/>
                <a:ea typeface="Arial" pitchFamily="34" charset="-122"/>
                <a:cs typeface="Arial" pitchFamily="34" charset="-120"/>
              </a:rPr>
              <a:t>Notre valeur métier</a:t>
            </a:r>
            <a:endParaRPr lang="en-US" sz="3200" dirty="0"/>
          </a:p>
        </p:txBody>
      </p:sp>
      <p:sp>
        <p:nvSpPr>
          <p:cNvPr id="3" name="Shape 1"/>
          <p:cNvSpPr/>
          <p:nvPr/>
        </p:nvSpPr>
        <p:spPr>
          <a:xfrm>
            <a:off x="1871137" y="3817620"/>
            <a:ext cx="1529425" cy="0"/>
          </a:xfrm>
          <a:prstGeom prst="line">
            <a:avLst/>
          </a:prstGeom>
          <a:noFill/>
          <a:ln w="25400">
            <a:solidFill>
              <a:srgbClr val="D9D9D9"/>
            </a:solidFill>
            <a:prstDash val="solid"/>
          </a:ln>
        </p:spPr>
        <p:txBody>
          <a:bodyPr/>
          <a:lstStyle/>
          <a:p>
            <a:endParaRPr lang="fr-FR"/>
          </a:p>
        </p:txBody>
      </p:sp>
      <p:sp>
        <p:nvSpPr>
          <p:cNvPr id="4" name="Shape 2"/>
          <p:cNvSpPr/>
          <p:nvPr/>
        </p:nvSpPr>
        <p:spPr>
          <a:xfrm>
            <a:off x="1093897" y="3429000"/>
            <a:ext cx="777240" cy="777240"/>
          </a:xfrm>
          <a:prstGeom prst="ellipse">
            <a:avLst/>
          </a:prstGeom>
          <a:solidFill>
            <a:srgbClr val="494B69"/>
          </a:solidFill>
          <a:ln w="25400">
            <a:solidFill>
              <a:srgbClr val="FFFFFF"/>
            </a:solidFill>
            <a:prstDash val="solid"/>
          </a:ln>
        </p:spPr>
        <p:txBody>
          <a:bodyPr/>
          <a:lstStyle/>
          <a:p>
            <a:endParaRPr lang="fr-FR"/>
          </a:p>
        </p:txBody>
      </p:sp>
      <p:sp>
        <p:nvSpPr>
          <p:cNvPr id="5" name="Text 3"/>
          <p:cNvSpPr/>
          <p:nvPr/>
        </p:nvSpPr>
        <p:spPr>
          <a:xfrm>
            <a:off x="1093897" y="342900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6" name="Shape 4"/>
          <p:cNvSpPr/>
          <p:nvPr/>
        </p:nvSpPr>
        <p:spPr>
          <a:xfrm>
            <a:off x="457200" y="1554480"/>
            <a:ext cx="2050633" cy="1600200"/>
          </a:xfrm>
          <a:prstGeom prst="roundRect">
            <a:avLst>
              <a:gd name="adj" fmla="val 3429"/>
            </a:avLst>
          </a:prstGeom>
          <a:solidFill>
            <a:srgbClr val="494B69"/>
          </a:solidFill>
          <a:ln/>
        </p:spPr>
        <p:txBody>
          <a:bodyPr/>
          <a:lstStyle/>
          <a:p>
            <a:endParaRPr lang="fr-FR"/>
          </a:p>
        </p:txBody>
      </p:sp>
      <p:sp>
        <p:nvSpPr>
          <p:cNvPr id="7" name="Text 5"/>
          <p:cNvSpPr/>
          <p:nvPr/>
        </p:nvSpPr>
        <p:spPr>
          <a:xfrm>
            <a:off x="566928" y="1664208"/>
            <a:ext cx="1831177" cy="502920"/>
          </a:xfrm>
          <a:prstGeom prst="rect">
            <a:avLst/>
          </a:prstGeom>
          <a:noFill/>
          <a:ln/>
        </p:spPr>
        <p:txBody>
          <a:bodyPr wrap="square" lIns="0" tIns="0" rIns="0" bIns="0" rtlCol="0" anchor="t"/>
          <a:lstStyle/>
          <a:p>
            <a:pPr marL="0" indent="0" algn="l">
              <a:lnSpc>
                <a:spcPct val="105000"/>
              </a:lnSpc>
              <a:buNone/>
            </a:pPr>
            <a:r>
              <a:rPr lang="en-US" sz="1250" b="1" dirty="0">
                <a:solidFill>
                  <a:srgbClr val="FFFFFF"/>
                </a:solidFill>
                <a:latin typeface="Arial" pitchFamily="34" charset="0"/>
                <a:ea typeface="Arial" pitchFamily="34" charset="-122"/>
                <a:cs typeface="Arial" pitchFamily="34" charset="-120"/>
              </a:rPr>
              <a:t>Demandes maîtrisées</a:t>
            </a:r>
            <a:endParaRPr lang="en-US" sz="1250" dirty="0"/>
          </a:p>
        </p:txBody>
      </p:sp>
      <p:sp>
        <p:nvSpPr>
          <p:cNvPr id="8" name="Text 6"/>
          <p:cNvSpPr/>
          <p:nvPr/>
        </p:nvSpPr>
        <p:spPr>
          <a:xfrm>
            <a:off x="566928" y="2176272"/>
            <a:ext cx="1831177" cy="868680"/>
          </a:xfrm>
          <a:prstGeom prst="rect">
            <a:avLst/>
          </a:prstGeom>
          <a:noFill/>
          <a:ln/>
        </p:spPr>
        <p:txBody>
          <a:bodyPr wrap="square" lIns="0" tIns="0" rIns="0" bIns="0" rtlCol="0" anchor="t"/>
          <a:lstStyle/>
          <a:p>
            <a:pPr marL="0" indent="0" algn="l">
              <a:lnSpc>
                <a:spcPct val="115000"/>
              </a:lnSpc>
              <a:buNone/>
            </a:pPr>
            <a:r>
              <a:rPr lang="en-US" sz="1000" dirty="0">
                <a:solidFill>
                  <a:srgbClr val="FFFFFF"/>
                </a:solidFill>
                <a:latin typeface="Arial" pitchFamily="34" charset="0"/>
                <a:ea typeface="Arial" pitchFamily="34" charset="-122"/>
                <a:cs typeface="Arial" pitchFamily="34" charset="-120"/>
              </a:rPr>
              <a:t>Priorité aux validations claires et traçables.</a:t>
            </a:r>
            <a:endParaRPr lang="en-US" sz="1000" dirty="0"/>
          </a:p>
        </p:txBody>
      </p:sp>
      <p:sp>
        <p:nvSpPr>
          <p:cNvPr id="9" name="Shape 7"/>
          <p:cNvSpPr/>
          <p:nvPr/>
        </p:nvSpPr>
        <p:spPr>
          <a:xfrm>
            <a:off x="4177802" y="3817620"/>
            <a:ext cx="1529425" cy="0"/>
          </a:xfrm>
          <a:prstGeom prst="line">
            <a:avLst/>
          </a:prstGeom>
          <a:noFill/>
          <a:ln w="25400">
            <a:solidFill>
              <a:srgbClr val="D9D9D9"/>
            </a:solidFill>
            <a:prstDash val="solid"/>
          </a:ln>
        </p:spPr>
        <p:txBody>
          <a:bodyPr/>
          <a:lstStyle/>
          <a:p>
            <a:endParaRPr lang="fr-FR"/>
          </a:p>
        </p:txBody>
      </p:sp>
      <p:sp>
        <p:nvSpPr>
          <p:cNvPr id="10" name="Shape 8"/>
          <p:cNvSpPr/>
          <p:nvPr/>
        </p:nvSpPr>
        <p:spPr>
          <a:xfrm>
            <a:off x="3400562" y="3429000"/>
            <a:ext cx="777240" cy="777240"/>
          </a:xfrm>
          <a:prstGeom prst="ellipse">
            <a:avLst/>
          </a:prstGeom>
          <a:solidFill>
            <a:srgbClr val="695D7A"/>
          </a:solidFill>
          <a:ln w="25400">
            <a:solidFill>
              <a:srgbClr val="FFFFFF"/>
            </a:solidFill>
            <a:prstDash val="solid"/>
          </a:ln>
        </p:spPr>
        <p:txBody>
          <a:bodyPr/>
          <a:lstStyle/>
          <a:p>
            <a:endParaRPr lang="fr-FR"/>
          </a:p>
        </p:txBody>
      </p:sp>
      <p:sp>
        <p:nvSpPr>
          <p:cNvPr id="11" name="Text 9"/>
          <p:cNvSpPr/>
          <p:nvPr/>
        </p:nvSpPr>
        <p:spPr>
          <a:xfrm>
            <a:off x="3400562" y="342900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2" name="Shape 10"/>
          <p:cNvSpPr/>
          <p:nvPr/>
        </p:nvSpPr>
        <p:spPr>
          <a:xfrm>
            <a:off x="2763865" y="4480560"/>
            <a:ext cx="2050633" cy="1600200"/>
          </a:xfrm>
          <a:prstGeom prst="roundRect">
            <a:avLst>
              <a:gd name="adj" fmla="val 3429"/>
            </a:avLst>
          </a:prstGeom>
          <a:solidFill>
            <a:srgbClr val="695D7A"/>
          </a:solidFill>
          <a:ln/>
        </p:spPr>
        <p:txBody>
          <a:bodyPr/>
          <a:lstStyle/>
          <a:p>
            <a:endParaRPr lang="fr-FR"/>
          </a:p>
        </p:txBody>
      </p:sp>
      <p:sp>
        <p:nvSpPr>
          <p:cNvPr id="13" name="Text 11"/>
          <p:cNvSpPr/>
          <p:nvPr/>
        </p:nvSpPr>
        <p:spPr>
          <a:xfrm>
            <a:off x="2873593" y="4590288"/>
            <a:ext cx="1831177" cy="502920"/>
          </a:xfrm>
          <a:prstGeom prst="rect">
            <a:avLst/>
          </a:prstGeom>
          <a:noFill/>
          <a:ln/>
        </p:spPr>
        <p:txBody>
          <a:bodyPr wrap="square" lIns="0" tIns="0" rIns="0" bIns="0" rtlCol="0" anchor="t"/>
          <a:lstStyle/>
          <a:p>
            <a:pPr marL="0" indent="0" algn="l">
              <a:lnSpc>
                <a:spcPct val="105000"/>
              </a:lnSpc>
              <a:buNone/>
            </a:pPr>
            <a:r>
              <a:rPr lang="en-US" sz="1250" b="1" dirty="0">
                <a:solidFill>
                  <a:srgbClr val="FFFFFF"/>
                </a:solidFill>
                <a:latin typeface="Arial" pitchFamily="34" charset="0"/>
                <a:ea typeface="Arial" pitchFamily="34" charset="-122"/>
                <a:cs typeface="Arial" pitchFamily="34" charset="-120"/>
              </a:rPr>
              <a:t>Industrialisation</a:t>
            </a:r>
            <a:endParaRPr lang="en-US" sz="1250" dirty="0"/>
          </a:p>
        </p:txBody>
      </p:sp>
      <p:sp>
        <p:nvSpPr>
          <p:cNvPr id="14" name="Text 12"/>
          <p:cNvSpPr/>
          <p:nvPr/>
        </p:nvSpPr>
        <p:spPr>
          <a:xfrm>
            <a:off x="2873593" y="5102352"/>
            <a:ext cx="1831177" cy="868680"/>
          </a:xfrm>
          <a:prstGeom prst="rect">
            <a:avLst/>
          </a:prstGeom>
          <a:noFill/>
          <a:ln/>
        </p:spPr>
        <p:txBody>
          <a:bodyPr wrap="square" lIns="0" tIns="0" rIns="0" bIns="0" rtlCol="0" anchor="t"/>
          <a:lstStyle/>
          <a:p>
            <a:pPr marL="0" indent="0" algn="l">
              <a:lnSpc>
                <a:spcPct val="115000"/>
              </a:lnSpc>
              <a:buNone/>
            </a:pPr>
            <a:r>
              <a:rPr lang="en-US" sz="1000" dirty="0">
                <a:solidFill>
                  <a:srgbClr val="FFFFFF"/>
                </a:solidFill>
                <a:latin typeface="Arial" pitchFamily="34" charset="0"/>
                <a:ea typeface="Arial" pitchFamily="34" charset="-122"/>
                <a:cs typeface="Arial" pitchFamily="34" charset="-120"/>
              </a:rPr>
              <a:t>Soldes, rôles, notifications et exports.</a:t>
            </a:r>
            <a:endParaRPr lang="en-US" sz="1000" dirty="0"/>
          </a:p>
        </p:txBody>
      </p:sp>
      <p:sp>
        <p:nvSpPr>
          <p:cNvPr id="15" name="Shape 13"/>
          <p:cNvSpPr/>
          <p:nvPr/>
        </p:nvSpPr>
        <p:spPr>
          <a:xfrm>
            <a:off x="6484468" y="3817620"/>
            <a:ext cx="1529425" cy="0"/>
          </a:xfrm>
          <a:prstGeom prst="line">
            <a:avLst/>
          </a:prstGeom>
          <a:noFill/>
          <a:ln w="25400">
            <a:solidFill>
              <a:srgbClr val="D9D9D9"/>
            </a:solidFill>
            <a:prstDash val="solid"/>
          </a:ln>
        </p:spPr>
        <p:txBody>
          <a:bodyPr/>
          <a:lstStyle/>
          <a:p>
            <a:endParaRPr lang="fr-FR"/>
          </a:p>
        </p:txBody>
      </p:sp>
      <p:sp>
        <p:nvSpPr>
          <p:cNvPr id="16" name="Shape 14"/>
          <p:cNvSpPr/>
          <p:nvPr/>
        </p:nvSpPr>
        <p:spPr>
          <a:xfrm>
            <a:off x="5707228" y="3429000"/>
            <a:ext cx="777240" cy="777240"/>
          </a:xfrm>
          <a:prstGeom prst="ellipse">
            <a:avLst/>
          </a:prstGeom>
          <a:solidFill>
            <a:srgbClr val="9F5B72"/>
          </a:solidFill>
          <a:ln w="25400">
            <a:solidFill>
              <a:srgbClr val="FFFFFF"/>
            </a:solidFill>
            <a:prstDash val="solid"/>
          </a:ln>
        </p:spPr>
        <p:txBody>
          <a:bodyPr/>
          <a:lstStyle/>
          <a:p>
            <a:endParaRPr lang="fr-FR"/>
          </a:p>
        </p:txBody>
      </p:sp>
      <p:sp>
        <p:nvSpPr>
          <p:cNvPr id="17" name="Text 15"/>
          <p:cNvSpPr/>
          <p:nvPr/>
        </p:nvSpPr>
        <p:spPr>
          <a:xfrm>
            <a:off x="5707228" y="342900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8" name="Shape 16"/>
          <p:cNvSpPr/>
          <p:nvPr/>
        </p:nvSpPr>
        <p:spPr>
          <a:xfrm>
            <a:off x="5070531" y="1554480"/>
            <a:ext cx="2050633" cy="1600200"/>
          </a:xfrm>
          <a:prstGeom prst="roundRect">
            <a:avLst>
              <a:gd name="adj" fmla="val 3429"/>
            </a:avLst>
          </a:prstGeom>
          <a:solidFill>
            <a:srgbClr val="9F5B72"/>
          </a:solidFill>
          <a:ln/>
        </p:spPr>
        <p:txBody>
          <a:bodyPr/>
          <a:lstStyle/>
          <a:p>
            <a:endParaRPr lang="fr-FR"/>
          </a:p>
        </p:txBody>
      </p:sp>
      <p:sp>
        <p:nvSpPr>
          <p:cNvPr id="19" name="Text 17"/>
          <p:cNvSpPr/>
          <p:nvPr/>
        </p:nvSpPr>
        <p:spPr>
          <a:xfrm>
            <a:off x="5180259" y="1664208"/>
            <a:ext cx="1831177" cy="502920"/>
          </a:xfrm>
          <a:prstGeom prst="rect">
            <a:avLst/>
          </a:prstGeom>
          <a:noFill/>
          <a:ln/>
        </p:spPr>
        <p:txBody>
          <a:bodyPr wrap="square" lIns="0" tIns="0" rIns="0" bIns="0" rtlCol="0" anchor="t"/>
          <a:lstStyle/>
          <a:p>
            <a:pPr marL="0" indent="0" algn="l">
              <a:lnSpc>
                <a:spcPct val="105000"/>
              </a:lnSpc>
              <a:buNone/>
            </a:pPr>
            <a:r>
              <a:rPr lang="en-US" sz="1250" b="1" dirty="0">
                <a:solidFill>
                  <a:srgbClr val="FFFFFF"/>
                </a:solidFill>
                <a:latin typeface="Arial" pitchFamily="34" charset="0"/>
                <a:ea typeface="Arial" pitchFamily="34" charset="-122"/>
                <a:cs typeface="Arial" pitchFamily="34" charset="-120"/>
              </a:rPr>
              <a:t>Prêt pour le management</a:t>
            </a:r>
            <a:endParaRPr lang="en-US" sz="1250" dirty="0"/>
          </a:p>
        </p:txBody>
      </p:sp>
      <p:sp>
        <p:nvSpPr>
          <p:cNvPr id="20" name="Text 18"/>
          <p:cNvSpPr/>
          <p:nvPr/>
        </p:nvSpPr>
        <p:spPr>
          <a:xfrm>
            <a:off x="5180259" y="2176272"/>
            <a:ext cx="1831177" cy="868680"/>
          </a:xfrm>
          <a:prstGeom prst="rect">
            <a:avLst/>
          </a:prstGeom>
          <a:noFill/>
          <a:ln/>
        </p:spPr>
        <p:txBody>
          <a:bodyPr wrap="square" lIns="0" tIns="0" rIns="0" bIns="0" rtlCol="0" anchor="t"/>
          <a:lstStyle/>
          <a:p>
            <a:pPr marL="0" indent="0" algn="l">
              <a:lnSpc>
                <a:spcPct val="115000"/>
              </a:lnSpc>
              <a:buNone/>
            </a:pPr>
            <a:r>
              <a:rPr lang="en-US" sz="1000" dirty="0">
                <a:solidFill>
                  <a:srgbClr val="FFFFFF"/>
                </a:solidFill>
                <a:latin typeface="Arial" pitchFamily="34" charset="0"/>
                <a:ea typeface="Arial" pitchFamily="34" charset="-122"/>
                <a:cs typeface="Arial" pitchFamily="34" charset="-120"/>
              </a:rPr>
              <a:t>Calendrier + équipe + jours fériés.</a:t>
            </a:r>
            <a:endParaRPr lang="en-US" sz="1000" dirty="0"/>
          </a:p>
        </p:txBody>
      </p:sp>
      <p:sp>
        <p:nvSpPr>
          <p:cNvPr id="21" name="Shape 19"/>
          <p:cNvSpPr/>
          <p:nvPr/>
        </p:nvSpPr>
        <p:spPr>
          <a:xfrm>
            <a:off x="8791133" y="3817620"/>
            <a:ext cx="1529425" cy="0"/>
          </a:xfrm>
          <a:prstGeom prst="line">
            <a:avLst/>
          </a:prstGeom>
          <a:noFill/>
          <a:ln w="25400">
            <a:solidFill>
              <a:srgbClr val="D9D9D9"/>
            </a:solidFill>
            <a:prstDash val="solid"/>
          </a:ln>
        </p:spPr>
        <p:txBody>
          <a:bodyPr/>
          <a:lstStyle/>
          <a:p>
            <a:endParaRPr lang="fr-FR"/>
          </a:p>
        </p:txBody>
      </p:sp>
      <p:sp>
        <p:nvSpPr>
          <p:cNvPr id="22" name="Shape 20"/>
          <p:cNvSpPr/>
          <p:nvPr/>
        </p:nvSpPr>
        <p:spPr>
          <a:xfrm>
            <a:off x="8013893" y="3429000"/>
            <a:ext cx="777240" cy="777240"/>
          </a:xfrm>
          <a:prstGeom prst="ellipse">
            <a:avLst/>
          </a:prstGeom>
          <a:solidFill>
            <a:srgbClr val="D8707C"/>
          </a:solidFill>
          <a:ln w="25400">
            <a:solidFill>
              <a:srgbClr val="FFFFFF"/>
            </a:solidFill>
            <a:prstDash val="solid"/>
          </a:ln>
        </p:spPr>
        <p:txBody>
          <a:bodyPr/>
          <a:lstStyle/>
          <a:p>
            <a:endParaRPr lang="fr-FR"/>
          </a:p>
        </p:txBody>
      </p:sp>
      <p:sp>
        <p:nvSpPr>
          <p:cNvPr id="23" name="Text 21"/>
          <p:cNvSpPr/>
          <p:nvPr/>
        </p:nvSpPr>
        <p:spPr>
          <a:xfrm>
            <a:off x="8013893" y="342900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24" name="Shape 22"/>
          <p:cNvSpPr/>
          <p:nvPr/>
        </p:nvSpPr>
        <p:spPr>
          <a:xfrm>
            <a:off x="7377196" y="4480560"/>
            <a:ext cx="2050633" cy="1600200"/>
          </a:xfrm>
          <a:prstGeom prst="roundRect">
            <a:avLst>
              <a:gd name="adj" fmla="val 3429"/>
            </a:avLst>
          </a:prstGeom>
          <a:solidFill>
            <a:srgbClr val="D8707C"/>
          </a:solidFill>
          <a:ln/>
        </p:spPr>
        <p:txBody>
          <a:bodyPr/>
          <a:lstStyle/>
          <a:p>
            <a:endParaRPr lang="fr-FR"/>
          </a:p>
        </p:txBody>
      </p:sp>
      <p:sp>
        <p:nvSpPr>
          <p:cNvPr id="25" name="Text 23"/>
          <p:cNvSpPr/>
          <p:nvPr/>
        </p:nvSpPr>
        <p:spPr>
          <a:xfrm>
            <a:off x="7486924" y="4590288"/>
            <a:ext cx="1831177" cy="502920"/>
          </a:xfrm>
          <a:prstGeom prst="rect">
            <a:avLst/>
          </a:prstGeom>
          <a:noFill/>
          <a:ln/>
        </p:spPr>
        <p:txBody>
          <a:bodyPr wrap="square" lIns="0" tIns="0" rIns="0" bIns="0" rtlCol="0" anchor="t"/>
          <a:lstStyle/>
          <a:p>
            <a:pPr marL="0" indent="0" algn="l">
              <a:lnSpc>
                <a:spcPct val="105000"/>
              </a:lnSpc>
              <a:buNone/>
            </a:pPr>
            <a:r>
              <a:rPr lang="en-US" sz="1250" b="1" dirty="0">
                <a:solidFill>
                  <a:srgbClr val="FFFFFF"/>
                </a:solidFill>
                <a:latin typeface="Arial" pitchFamily="34" charset="0"/>
                <a:ea typeface="Arial" pitchFamily="34" charset="-122"/>
                <a:cs typeface="Arial" pitchFamily="34" charset="-120"/>
              </a:rPr>
              <a:t>Cycle accéléré</a:t>
            </a:r>
            <a:endParaRPr lang="en-US" sz="1250" dirty="0"/>
          </a:p>
        </p:txBody>
      </p:sp>
      <p:sp>
        <p:nvSpPr>
          <p:cNvPr id="26" name="Text 24"/>
          <p:cNvSpPr/>
          <p:nvPr/>
        </p:nvSpPr>
        <p:spPr>
          <a:xfrm>
            <a:off x="7486924" y="5102352"/>
            <a:ext cx="1831177" cy="868680"/>
          </a:xfrm>
          <a:prstGeom prst="rect">
            <a:avLst/>
          </a:prstGeom>
          <a:noFill/>
          <a:ln/>
        </p:spPr>
        <p:txBody>
          <a:bodyPr wrap="square" lIns="0" tIns="0" rIns="0" bIns="0" rtlCol="0" anchor="t"/>
          <a:lstStyle/>
          <a:p>
            <a:pPr marL="0" indent="0" algn="l">
              <a:lnSpc>
                <a:spcPct val="115000"/>
              </a:lnSpc>
              <a:buNone/>
            </a:pPr>
            <a:r>
              <a:rPr lang="en-US" sz="1000" dirty="0">
                <a:solidFill>
                  <a:srgbClr val="FFFFFF"/>
                </a:solidFill>
                <a:latin typeface="Arial" pitchFamily="34" charset="0"/>
                <a:ea typeface="Arial" pitchFamily="34" charset="-122"/>
                <a:cs typeface="Arial" pitchFamily="34" charset="-120"/>
              </a:rPr>
              <a:t>Moins de travail manuel, plus de décisions utiles.</a:t>
            </a:r>
            <a:endParaRPr lang="en-US" sz="1000" dirty="0"/>
          </a:p>
        </p:txBody>
      </p:sp>
      <p:sp>
        <p:nvSpPr>
          <p:cNvPr id="27" name="Shape 25"/>
          <p:cNvSpPr/>
          <p:nvPr/>
        </p:nvSpPr>
        <p:spPr>
          <a:xfrm>
            <a:off x="10320558" y="3429000"/>
            <a:ext cx="777240" cy="777240"/>
          </a:xfrm>
          <a:prstGeom prst="ellipse">
            <a:avLst/>
          </a:prstGeom>
          <a:solidFill>
            <a:srgbClr val="FDCD5A"/>
          </a:solidFill>
          <a:ln w="25400">
            <a:solidFill>
              <a:srgbClr val="FFFFFF"/>
            </a:solidFill>
            <a:prstDash val="solid"/>
          </a:ln>
        </p:spPr>
        <p:txBody>
          <a:bodyPr/>
          <a:lstStyle/>
          <a:p>
            <a:endParaRPr lang="fr-FR"/>
          </a:p>
        </p:txBody>
      </p:sp>
      <p:sp>
        <p:nvSpPr>
          <p:cNvPr id="28" name="Text 26"/>
          <p:cNvSpPr/>
          <p:nvPr/>
        </p:nvSpPr>
        <p:spPr>
          <a:xfrm>
            <a:off x="10320558" y="342900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29" name="Shape 27"/>
          <p:cNvSpPr/>
          <p:nvPr/>
        </p:nvSpPr>
        <p:spPr>
          <a:xfrm>
            <a:off x="9683862" y="1554480"/>
            <a:ext cx="2050633" cy="1600200"/>
          </a:xfrm>
          <a:prstGeom prst="roundRect">
            <a:avLst>
              <a:gd name="adj" fmla="val 3429"/>
            </a:avLst>
          </a:prstGeom>
          <a:solidFill>
            <a:srgbClr val="FDCD5A"/>
          </a:solidFill>
          <a:ln/>
        </p:spPr>
        <p:txBody>
          <a:bodyPr/>
          <a:lstStyle/>
          <a:p>
            <a:endParaRPr lang="fr-FR"/>
          </a:p>
        </p:txBody>
      </p:sp>
      <p:sp>
        <p:nvSpPr>
          <p:cNvPr id="30" name="Text 28"/>
          <p:cNvSpPr/>
          <p:nvPr/>
        </p:nvSpPr>
        <p:spPr>
          <a:xfrm>
            <a:off x="9793590" y="1664208"/>
            <a:ext cx="1831177" cy="502920"/>
          </a:xfrm>
          <a:prstGeom prst="rect">
            <a:avLst/>
          </a:prstGeom>
          <a:noFill/>
          <a:ln/>
        </p:spPr>
        <p:txBody>
          <a:bodyPr wrap="square" lIns="0" tIns="0" rIns="0" bIns="0" rtlCol="0" anchor="t"/>
          <a:lstStyle/>
          <a:p>
            <a:pPr marL="0" indent="0" algn="l">
              <a:lnSpc>
                <a:spcPct val="105000"/>
              </a:lnSpc>
              <a:buNone/>
            </a:pPr>
            <a:r>
              <a:rPr lang="en-US" sz="1250" b="1" dirty="0">
                <a:solidFill>
                  <a:srgbClr val="262626"/>
                </a:solidFill>
                <a:latin typeface="Arial" pitchFamily="34" charset="0"/>
                <a:ea typeface="Arial" pitchFamily="34" charset="-122"/>
                <a:cs typeface="Arial" pitchFamily="34" charset="-120"/>
              </a:rPr>
              <a:t>Différenciation</a:t>
            </a:r>
            <a:endParaRPr lang="en-US" sz="1250" dirty="0"/>
          </a:p>
        </p:txBody>
      </p:sp>
      <p:sp>
        <p:nvSpPr>
          <p:cNvPr id="31" name="Text 29"/>
          <p:cNvSpPr/>
          <p:nvPr/>
        </p:nvSpPr>
        <p:spPr>
          <a:xfrm>
            <a:off x="9793590" y="2176272"/>
            <a:ext cx="1831177" cy="868680"/>
          </a:xfrm>
          <a:prstGeom prst="rect">
            <a:avLst/>
          </a:prstGeom>
          <a:noFill/>
          <a:ln/>
        </p:spPr>
        <p:txBody>
          <a:bodyPr wrap="square" lIns="0" tIns="0" rIns="0" bIns="0" rtlCol="0" anchor="t"/>
          <a:lstStyle/>
          <a:p>
            <a:pPr marL="0" indent="0" algn="l">
              <a:lnSpc>
                <a:spcPct val="115000"/>
              </a:lnSpc>
              <a:buNone/>
            </a:pPr>
            <a:r>
              <a:rPr lang="en-US" sz="1000" dirty="0">
                <a:solidFill>
                  <a:srgbClr val="262626"/>
                </a:solidFill>
                <a:latin typeface="Arial" pitchFamily="34" charset="0"/>
                <a:ea typeface="Arial" pitchFamily="34" charset="-122"/>
                <a:cs typeface="Arial" pitchFamily="34" charset="-120"/>
              </a:rPr>
              <a:t>On montre le planning, pas une promesse.</a:t>
            </a:r>
            <a:endParaRPr lang="en-US" sz="1000" dirty="0"/>
          </a:p>
        </p:txBody>
      </p:sp>
      <p:sp>
        <p:nvSpPr>
          <p:cNvPr id="32" name="Text 3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A8A8A"/>
                </a:solidFill>
                <a:latin typeface="Arial" pitchFamily="34" charset="0"/>
                <a:ea typeface="Arial" pitchFamily="34" charset="-122"/>
                <a:cs typeface="Arial" pitchFamily="34" charset="-120"/>
              </a:rPr>
              <a:t>12</a:t>
            </a:r>
            <a:endParaRPr lang="en-US" sz="1000" dirty="0"/>
          </a:p>
        </p:txBody>
      </p:sp>
      <p:sp>
        <p:nvSpPr>
          <p:cNvPr id="33" name="Text 31"/>
          <p:cNvSpPr/>
          <p:nvPr/>
        </p:nvSpPr>
        <p:spPr>
          <a:xfrm>
            <a:off x="457200" y="6400800"/>
            <a:ext cx="4572000" cy="274320"/>
          </a:xfrm>
          <a:prstGeom prst="rect">
            <a:avLst/>
          </a:prstGeom>
          <a:noFill/>
          <a:ln/>
        </p:spPr>
        <p:txBody>
          <a:bodyPr wrap="square" rtlCol="0" anchor="ctr"/>
          <a:lstStyle/>
          <a:p>
            <a:pPr marL="0" indent="0" algn="l">
              <a:buNone/>
            </a:pPr>
            <a:r>
              <a:rPr lang="en-US" sz="900" dirty="0">
                <a:solidFill>
                  <a:srgbClr val="8A8A8A"/>
                </a:solidFill>
                <a:latin typeface="Arial" pitchFamily="34" charset="0"/>
                <a:ea typeface="Arial" pitchFamily="34" charset="-122"/>
                <a:cs typeface="Arial" pitchFamily="34" charset="-120"/>
              </a:rPr>
              <a:t>Gestion de congés · Présentation de projet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695D7A"/>
        </a:solidFill>
        <a:effectLst/>
      </p:bgPr>
    </p:bg>
    <p:spTree>
      <p:nvGrpSpPr>
        <p:cNvPr id="1" name=""/>
        <p:cNvGrpSpPr/>
        <p:nvPr/>
      </p:nvGrpSpPr>
      <p:grpSpPr>
        <a:xfrm>
          <a:off x="0" y="0"/>
          <a:ext cx="0" cy="0"/>
          <a:chOff x="0" y="0"/>
          <a:chExt cx="0" cy="0"/>
        </a:xfrm>
      </p:grpSpPr>
      <p:sp>
        <p:nvSpPr>
          <p:cNvPr id="2" name="Text 0"/>
          <p:cNvSpPr/>
          <p:nvPr/>
        </p:nvSpPr>
        <p:spPr>
          <a:xfrm>
            <a:off x="0" y="2743200"/>
            <a:ext cx="12191695" cy="109728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Merci </a:t>
            </a:r>
            <a:endParaRPr lang="en-US" sz="5400" dirty="0"/>
          </a:p>
        </p:txBody>
      </p:sp>
      <p:sp>
        <p:nvSpPr>
          <p:cNvPr id="3" name="Text 1"/>
          <p:cNvSpPr/>
          <p:nvPr/>
        </p:nvSpPr>
        <p:spPr>
          <a:xfrm>
            <a:off x="0" y="3794760"/>
            <a:ext cx="12191695" cy="457200"/>
          </a:xfrm>
          <a:prstGeom prst="rect">
            <a:avLst/>
          </a:prstGeom>
          <a:noFill/>
          <a:ln/>
        </p:spPr>
        <p:txBody>
          <a:bodyPr wrap="square" rtlCol="0" anchor="ctr"/>
          <a:lstStyle/>
          <a:p>
            <a:pPr marL="0" indent="0" algn="ctr">
              <a:buNone/>
            </a:pPr>
            <a:r>
              <a:rPr lang="en-US" sz="1400" dirty="0">
                <a:solidFill>
                  <a:srgbClr val="FDCD5A"/>
                </a:solidFill>
                <a:latin typeface="Arial" pitchFamily="34" charset="0"/>
                <a:ea typeface="Arial" pitchFamily="34" charset="-122"/>
                <a:cs typeface="Arial" pitchFamily="34" charset="-120"/>
              </a:rPr>
              <a:t>Gestion de congés intelligente pour les équipes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2392</Words>
  <Application>Microsoft Office PowerPoint</Application>
  <PresentationFormat>Widescreen</PresentationFormat>
  <Paragraphs>337</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de congés — Présentation de projet</dc:title>
  <dc:subject>Présentation projet Gestion de congés</dc:subject>
  <dc:creator>Digitify</dc:creator>
  <cp:lastModifiedBy>PREDATOR</cp:lastModifiedBy>
  <cp:revision>7</cp:revision>
  <dcterms:created xsi:type="dcterms:W3CDTF">2026-08-04T09:35:14Z</dcterms:created>
  <dcterms:modified xsi:type="dcterms:W3CDTF">2026-08-09T18:45:52Z</dcterms:modified>
  <dc:description>Template structure preserved from démo_prospect.pptx</dc:description>
</cp:coreProperties>
</file>
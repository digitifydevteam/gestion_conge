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3421" autoAdjust="0"/>
  </p:normalViewPr>
  <p:slideViewPr>
    <p:cSldViewPr snapToGrid="0" snapToObjects="1">
      <p:cViewPr varScale="1">
        <p:scale>
          <a:sx n="54" d="100"/>
          <a:sy n="54" d="100"/>
        </p:scale>
        <p:origin x="178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errahim ALOUINI" userId="2e2e840c-0fcb-49a5-9431-7dd8aaf0831d" providerId="ADAL" clId="{3D5CBFFE-E37A-4217-A436-7905C5E80699}"/>
    <pc:docChg chg="addSld delSld modSld">
      <pc:chgData name="Abderrahim ALOUINI" userId="2e2e840c-0fcb-49a5-9431-7dd8aaf0831d" providerId="ADAL" clId="{3D5CBFFE-E37A-4217-A436-7905C5E80699}" dt="2026-08-05T07:52:55.355" v="5" actId="47"/>
      <pc:docMkLst>
        <pc:docMk/>
      </pc:docMkLst>
      <pc:sldChg chg="modSp mod">
        <pc:chgData name="Abderrahim ALOUINI" userId="2e2e840c-0fcb-49a5-9431-7dd8aaf0831d" providerId="ADAL" clId="{3D5CBFFE-E37A-4217-A436-7905C5E80699}" dt="2026-08-05T07:43:26.459" v="1" actId="790"/>
        <pc:sldMkLst>
          <pc:docMk/>
          <pc:sldMk cId="0" sldId="257"/>
        </pc:sldMkLst>
        <pc:spChg chg="mod">
          <ac:chgData name="Abderrahim ALOUINI" userId="2e2e840c-0fcb-49a5-9431-7dd8aaf0831d" providerId="ADAL" clId="{3D5CBFFE-E37A-4217-A436-7905C5E80699}" dt="2026-08-05T07:43:26.459" v="1" actId="790"/>
          <ac:spMkLst>
            <pc:docMk/>
            <pc:sldMk cId="0" sldId="257"/>
            <ac:spMk id="7" creationId="{00000000-0000-0000-0000-000000000000}"/>
          </ac:spMkLst>
        </pc:spChg>
        <pc:spChg chg="mod">
          <ac:chgData name="Abderrahim ALOUINI" userId="2e2e840c-0fcb-49a5-9431-7dd8aaf0831d" providerId="ADAL" clId="{3D5CBFFE-E37A-4217-A436-7905C5E80699}" dt="2026-08-05T07:43:26.459" v="1" actId="790"/>
          <ac:spMkLst>
            <pc:docMk/>
            <pc:sldMk cId="0" sldId="257"/>
            <ac:spMk id="9" creationId="{00000000-0000-0000-0000-000000000000}"/>
          </ac:spMkLst>
        </pc:spChg>
        <pc:spChg chg="mod">
          <ac:chgData name="Abderrahim ALOUINI" userId="2e2e840c-0fcb-49a5-9431-7dd8aaf0831d" providerId="ADAL" clId="{3D5CBFFE-E37A-4217-A436-7905C5E80699}" dt="2026-08-05T07:43:26.459" v="1" actId="79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bderrahim ALOUINI" userId="2e2e840c-0fcb-49a5-9431-7dd8aaf0831d" providerId="ADAL" clId="{3D5CBFFE-E37A-4217-A436-7905C5E80699}" dt="2026-08-05T07:43:26.459" v="1" actId="79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bderrahim ALOUINI" userId="2e2e840c-0fcb-49a5-9431-7dd8aaf0831d" providerId="ADAL" clId="{3D5CBFFE-E37A-4217-A436-7905C5E80699}" dt="2026-08-05T07:43:26.459" v="1" actId="79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bderrahim ALOUINI" userId="2e2e840c-0fcb-49a5-9431-7dd8aaf0831d" providerId="ADAL" clId="{3D5CBFFE-E37A-4217-A436-7905C5E80699}" dt="2026-08-05T07:43:26.459" v="1" actId="790"/>
          <ac:spMkLst>
            <pc:docMk/>
            <pc:sldMk cId="0" sldId="257"/>
            <ac:spMk id="18" creationId="{00000000-0000-0000-0000-000000000000}"/>
          </ac:spMkLst>
        </pc:spChg>
        <pc:spChg chg="mod">
          <ac:chgData name="Abderrahim ALOUINI" userId="2e2e840c-0fcb-49a5-9431-7dd8aaf0831d" providerId="ADAL" clId="{3D5CBFFE-E37A-4217-A436-7905C5E80699}" dt="2026-08-05T07:43:26.459" v="1" actId="790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bderrahim ALOUINI" userId="2e2e840c-0fcb-49a5-9431-7dd8aaf0831d" providerId="ADAL" clId="{3D5CBFFE-E37A-4217-A436-7905C5E80699}" dt="2026-08-05T07:43:26.459" v="1" actId="790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bderrahim ALOUINI" userId="2e2e840c-0fcb-49a5-9431-7dd8aaf0831d" providerId="ADAL" clId="{3D5CBFFE-E37A-4217-A436-7905C5E80699}" dt="2026-08-05T07:43:26.459" v="1" actId="790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bderrahim ALOUINI" userId="2e2e840c-0fcb-49a5-9431-7dd8aaf0831d" providerId="ADAL" clId="{3D5CBFFE-E37A-4217-A436-7905C5E80699}" dt="2026-08-05T07:43:26.459" v="1" actId="790"/>
          <ac:spMkLst>
            <pc:docMk/>
            <pc:sldMk cId="0" sldId="257"/>
            <ac:spMk id="25" creationId="{00000000-0000-0000-0000-000000000000}"/>
          </ac:spMkLst>
        </pc:spChg>
      </pc:sldChg>
      <pc:sldChg chg="new del">
        <pc:chgData name="Abderrahim ALOUINI" userId="2e2e840c-0fcb-49a5-9431-7dd8aaf0831d" providerId="ADAL" clId="{3D5CBFFE-E37A-4217-A436-7905C5E80699}" dt="2026-08-05T07:52:55.355" v="5" actId="47"/>
        <pc:sldMkLst>
          <pc:docMk/>
          <pc:sldMk cId="1554484125" sldId="270"/>
        </pc:sldMkLst>
      </pc:sldChg>
      <pc:sldChg chg="new del">
        <pc:chgData name="Abderrahim ALOUINI" userId="2e2e840c-0fcb-49a5-9431-7dd8aaf0831d" providerId="ADAL" clId="{3D5CBFFE-E37A-4217-A436-7905C5E80699}" dt="2026-08-05T07:52:54.697" v="4" actId="47"/>
        <pc:sldMkLst>
          <pc:docMk/>
          <pc:sldMk cId="73402799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745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Bonjour a </a:t>
            </a:r>
            <a:r>
              <a:rPr dirty="0" err="1"/>
              <a:t>tous</a:t>
            </a:r>
            <a:r>
              <a:rPr dirty="0"/>
              <a:t>, merci pour </a:t>
            </a:r>
            <a:r>
              <a:rPr dirty="0" err="1"/>
              <a:t>votre</a:t>
            </a:r>
            <a:r>
              <a:rPr dirty="0"/>
              <a:t> temps. Je </a:t>
            </a:r>
            <a:r>
              <a:rPr dirty="0" err="1"/>
              <a:t>vais</a:t>
            </a:r>
            <a:r>
              <a:rPr dirty="0"/>
              <a:t> </a:t>
            </a:r>
            <a:r>
              <a:rPr dirty="0" err="1"/>
              <a:t>vous</a:t>
            </a:r>
            <a:r>
              <a:rPr dirty="0"/>
              <a:t> presenter </a:t>
            </a:r>
            <a:r>
              <a:rPr dirty="0" err="1"/>
              <a:t>notre</a:t>
            </a:r>
            <a:r>
              <a:rPr dirty="0"/>
              <a:t> </a:t>
            </a:r>
            <a:r>
              <a:rPr dirty="0" err="1"/>
              <a:t>projet</a:t>
            </a:r>
            <a:r>
              <a:rPr dirty="0"/>
              <a:t> de prospection </a:t>
            </a:r>
            <a:r>
              <a:rPr dirty="0" err="1"/>
              <a:t>intelligente</a:t>
            </a:r>
            <a:r>
              <a:rPr dirty="0"/>
              <a:t> pour TPE et PME.</a:t>
            </a:r>
            <a:r>
              <a:rPr lang="fr-FR" dirty="0"/>
              <a:t> 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TPE</a:t>
            </a:r>
            <a:r>
              <a:rPr lang="fr-F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Très Petite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Entreprise</a:t>
            </a:r>
            <a:r>
              <a:rPr lang="fr-F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PME</a:t>
            </a:r>
            <a:r>
              <a:rPr lang="fr-F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Petite et Moyenne Entreprise</a:t>
            </a:r>
            <a:r>
              <a:rPr lang="fr-F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dirty="0"/>
          </a:p>
          <a:p>
            <a:endParaRPr dirty="0"/>
          </a:p>
          <a:p>
            <a:r>
              <a:rPr dirty="0"/>
              <a:t>je </a:t>
            </a:r>
            <a:r>
              <a:rPr dirty="0" err="1"/>
              <a:t>vais</a:t>
            </a:r>
            <a:r>
              <a:rPr dirty="0"/>
              <a:t> </a:t>
            </a:r>
            <a:r>
              <a:rPr dirty="0" err="1"/>
              <a:t>parcourir</a:t>
            </a:r>
            <a:r>
              <a:rPr dirty="0"/>
              <a:t> cinq </a:t>
            </a:r>
            <a:r>
              <a:rPr dirty="0" err="1"/>
              <a:t>grandes</a:t>
            </a:r>
            <a:r>
              <a:rPr dirty="0"/>
              <a:t> </a:t>
            </a:r>
            <a:r>
              <a:rPr dirty="0" err="1"/>
              <a:t>etapes</a:t>
            </a:r>
            <a:r>
              <a:rPr dirty="0"/>
              <a:t> : </a:t>
            </a:r>
            <a:r>
              <a:rPr dirty="0" err="1"/>
              <a:t>d'abord</a:t>
            </a:r>
            <a:r>
              <a:rPr dirty="0"/>
              <a:t> </a:t>
            </a:r>
            <a:r>
              <a:rPr dirty="0" err="1"/>
              <a:t>l'etude</a:t>
            </a:r>
            <a:r>
              <a:rPr dirty="0"/>
              <a:t> </a:t>
            </a:r>
            <a:r>
              <a:rPr dirty="0" err="1"/>
              <a:t>preliminaire</a:t>
            </a:r>
            <a:r>
              <a:rPr lang="fr-FR" dirty="0"/>
              <a:t> </a:t>
            </a:r>
            <a:r>
              <a:rPr dirty="0"/>
              <a:t>, ensuite </a:t>
            </a:r>
            <a:r>
              <a:rPr dirty="0" err="1"/>
              <a:t>l'objectif</a:t>
            </a:r>
            <a:r>
              <a:rPr dirty="0"/>
              <a:t>, le </a:t>
            </a:r>
            <a:r>
              <a:rPr dirty="0" err="1"/>
              <a:t>perimetre</a:t>
            </a:r>
            <a:r>
              <a:rPr dirty="0"/>
              <a:t> </a:t>
            </a:r>
            <a:r>
              <a:rPr dirty="0" err="1"/>
              <a:t>fonctionnel</a:t>
            </a:r>
            <a:r>
              <a:rPr dirty="0"/>
              <a:t> , </a:t>
            </a:r>
            <a:r>
              <a:rPr dirty="0" err="1"/>
              <a:t>l'architecture</a:t>
            </a:r>
            <a:r>
              <a:rPr dirty="0"/>
              <a:t> technique, </a:t>
            </a:r>
            <a:r>
              <a:rPr dirty="0" err="1"/>
              <a:t>une</a:t>
            </a:r>
            <a:r>
              <a:rPr dirty="0"/>
              <a:t> demonstration concrete de </a:t>
            </a:r>
            <a:r>
              <a:rPr dirty="0" err="1"/>
              <a:t>chaque</a:t>
            </a:r>
            <a:r>
              <a:rPr dirty="0"/>
              <a:t> module, </a:t>
            </a:r>
            <a:r>
              <a:rPr dirty="0" err="1"/>
              <a:t>puis</a:t>
            </a:r>
            <a:r>
              <a:rPr dirty="0"/>
              <a:t> les </a:t>
            </a:r>
            <a:r>
              <a:rPr dirty="0" err="1"/>
              <a:t>resultats</a:t>
            </a:r>
            <a:r>
              <a:rPr dirty="0"/>
              <a:t> </a:t>
            </a:r>
            <a:r>
              <a:rPr dirty="0" err="1"/>
              <a:t>obtenus</a:t>
            </a:r>
            <a:r>
              <a:rPr dirty="0"/>
              <a:t> et la </a:t>
            </a:r>
            <a:r>
              <a:rPr dirty="0" err="1"/>
              <a:t>valeur</a:t>
            </a:r>
            <a:r>
              <a:rPr dirty="0"/>
              <a:t> </a:t>
            </a:r>
            <a:r>
              <a:rPr dirty="0" err="1"/>
              <a:t>metier</a:t>
            </a:r>
            <a:r>
              <a:rPr dirty="0"/>
              <a:t> 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Commencons</a:t>
            </a:r>
            <a:r>
              <a:rPr dirty="0"/>
              <a:t> par le constat de depart. Quand on </a:t>
            </a:r>
            <a:r>
              <a:rPr dirty="0" err="1"/>
              <a:t>regarde</a:t>
            </a:r>
            <a:r>
              <a:rPr dirty="0"/>
              <a:t> Google Maps et les Pages Jaunes, on </a:t>
            </a:r>
            <a:r>
              <a:rPr dirty="0" err="1"/>
              <a:t>trouve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quantite</a:t>
            </a:r>
            <a:r>
              <a:rPr dirty="0"/>
              <a:t> </a:t>
            </a:r>
            <a:r>
              <a:rPr dirty="0" err="1"/>
              <a:t>enorme</a:t>
            </a:r>
            <a:r>
              <a:rPr dirty="0"/>
              <a:t> de </a:t>
            </a:r>
            <a:r>
              <a:rPr dirty="0" err="1"/>
              <a:t>commerces</a:t>
            </a:r>
            <a:r>
              <a:rPr dirty="0"/>
              <a:t> </a:t>
            </a:r>
            <a:r>
              <a:rPr dirty="0" err="1"/>
              <a:t>locaux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grande</a:t>
            </a:r>
            <a:r>
              <a:rPr dirty="0"/>
              <a:t> </a:t>
            </a:r>
            <a:r>
              <a:rPr dirty="0" err="1"/>
              <a:t>partie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pas de </a:t>
            </a:r>
            <a:r>
              <a:rPr dirty="0" err="1"/>
              <a:t>vrai</a:t>
            </a:r>
            <a:r>
              <a:rPr dirty="0"/>
              <a:t> site capable de </a:t>
            </a:r>
            <a:r>
              <a:rPr dirty="0" err="1"/>
              <a:t>convertir</a:t>
            </a:r>
            <a:r>
              <a:rPr dirty="0"/>
              <a:t> un </a:t>
            </a:r>
            <a:r>
              <a:rPr dirty="0" err="1"/>
              <a:t>visiteur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client.</a:t>
            </a:r>
          </a:p>
          <a:p>
            <a:endParaRPr dirty="0"/>
          </a:p>
          <a:p>
            <a:r>
              <a:rPr dirty="0" err="1"/>
              <a:t>Concretement</a:t>
            </a:r>
            <a:r>
              <a:rPr dirty="0"/>
              <a:t>, </a:t>
            </a:r>
            <a:r>
              <a:rPr dirty="0" err="1"/>
              <a:t>soixante</a:t>
            </a:r>
            <a:r>
              <a:rPr dirty="0"/>
              <a:t> pour cent des </a:t>
            </a:r>
            <a:r>
              <a:rPr dirty="0" err="1"/>
              <a:t>commerces</a:t>
            </a:r>
            <a:r>
              <a:rPr dirty="0"/>
              <a:t> </a:t>
            </a:r>
            <a:r>
              <a:rPr dirty="0" err="1"/>
              <a:t>locaux</a:t>
            </a:r>
            <a:r>
              <a:rPr dirty="0"/>
              <a:t> </a:t>
            </a:r>
            <a:r>
              <a:rPr dirty="0" err="1"/>
              <a:t>n'ont</a:t>
            </a:r>
            <a:r>
              <a:rPr dirty="0"/>
              <a:t> pas de vitrine web exploitable, et beaucoup se </a:t>
            </a:r>
            <a:r>
              <a:rPr dirty="0" err="1"/>
              <a:t>limitent</a:t>
            </a:r>
            <a:r>
              <a:rPr dirty="0"/>
              <a:t> a </a:t>
            </a:r>
            <a:r>
              <a:rPr dirty="0" err="1"/>
              <a:t>une</a:t>
            </a:r>
            <a:r>
              <a:rPr dirty="0"/>
              <a:t> simple page reseau social, sans </a:t>
            </a:r>
            <a:r>
              <a:rPr dirty="0" err="1"/>
              <a:t>aucune</a:t>
            </a:r>
            <a:r>
              <a:rPr dirty="0"/>
              <a:t> </a:t>
            </a:r>
            <a:r>
              <a:rPr dirty="0" err="1"/>
              <a:t>capacite</a:t>
            </a:r>
            <a:r>
              <a:rPr dirty="0"/>
              <a:t> de conversion.</a:t>
            </a:r>
          </a:p>
          <a:p>
            <a:endParaRPr dirty="0"/>
          </a:p>
          <a:p>
            <a:r>
              <a:rPr dirty="0"/>
              <a:t>Le </a:t>
            </a:r>
            <a:r>
              <a:rPr dirty="0" err="1"/>
              <a:t>probleme</a:t>
            </a:r>
            <a:r>
              <a:rPr dirty="0"/>
              <a:t>, </a:t>
            </a:r>
            <a:r>
              <a:rPr dirty="0" err="1"/>
              <a:t>c'est</a:t>
            </a:r>
            <a:r>
              <a:rPr dirty="0"/>
              <a:t> que </a:t>
            </a:r>
            <a:r>
              <a:rPr dirty="0" err="1"/>
              <a:t>ces</a:t>
            </a:r>
            <a:r>
              <a:rPr dirty="0"/>
              <a:t> contacts existent,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ils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bruts</a:t>
            </a:r>
            <a:r>
              <a:rPr dirty="0"/>
              <a:t> : </a:t>
            </a:r>
            <a:r>
              <a:rPr dirty="0" err="1"/>
              <a:t>aucune</a:t>
            </a:r>
            <a:r>
              <a:rPr dirty="0"/>
              <a:t> </a:t>
            </a:r>
            <a:r>
              <a:rPr dirty="0" err="1"/>
              <a:t>priorisation</a:t>
            </a:r>
            <a:r>
              <a:rPr dirty="0"/>
              <a:t>, </a:t>
            </a:r>
            <a:r>
              <a:rPr dirty="0" err="1"/>
              <a:t>aucune</a:t>
            </a:r>
            <a:r>
              <a:rPr dirty="0"/>
              <a:t> qualification </a:t>
            </a:r>
            <a:r>
              <a:rPr dirty="0" err="1"/>
              <a:t>commerciale</a:t>
            </a:r>
            <a:r>
              <a:rPr dirty="0"/>
              <a:t>.</a:t>
            </a:r>
            <a:endParaRPr lang="fr-FR" dirty="0"/>
          </a:p>
          <a:p>
            <a:endParaRPr lang="fr-FR" dirty="0"/>
          </a:p>
          <a:p>
            <a:r>
              <a:rPr dirty="0"/>
              <a:t> </a:t>
            </a:r>
            <a:r>
              <a:rPr dirty="0" err="1"/>
              <a:t>Aujourd'hui</a:t>
            </a:r>
            <a:r>
              <a:rPr dirty="0"/>
              <a:t>, qualifier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liste</a:t>
            </a:r>
            <a:r>
              <a:rPr dirty="0"/>
              <a:t> Google Maps a la main </a:t>
            </a:r>
            <a:r>
              <a:rPr dirty="0" err="1"/>
              <a:t>prend</a:t>
            </a:r>
            <a:r>
              <a:rPr dirty="0"/>
              <a:t> entre trois et cinq </a:t>
            </a:r>
            <a:r>
              <a:rPr dirty="0" err="1"/>
              <a:t>heures</a:t>
            </a:r>
            <a:r>
              <a:rPr dirty="0"/>
              <a:t>. </a:t>
            </a:r>
            <a:endParaRPr lang="fr-FR" dirty="0"/>
          </a:p>
          <a:p>
            <a:endParaRPr lang="fr-FR" dirty="0"/>
          </a:p>
          <a:p>
            <a:r>
              <a:rPr dirty="0"/>
              <a:t>Et cote conversion,</a:t>
            </a:r>
            <a:r>
              <a:rPr lang="fr-FR" dirty="0"/>
              <a:t> </a:t>
            </a:r>
            <a:r>
              <a:rPr dirty="0"/>
              <a:t> </a:t>
            </a:r>
            <a:r>
              <a:rPr dirty="0" err="1"/>
              <a:t>soixante</a:t>
            </a:r>
            <a:r>
              <a:rPr dirty="0"/>
              <a:t>-dix pour cent des </a:t>
            </a:r>
            <a:r>
              <a:rPr dirty="0" err="1"/>
              <a:t>decideurs</a:t>
            </a:r>
            <a:r>
              <a:rPr dirty="0"/>
              <a:t> TPE-PME </a:t>
            </a:r>
            <a:r>
              <a:rPr dirty="0" err="1"/>
              <a:t>ont</a:t>
            </a:r>
            <a:r>
              <a:rPr dirty="0"/>
              <a:t> </a:t>
            </a:r>
            <a:r>
              <a:rPr dirty="0" err="1"/>
              <a:t>besoin</a:t>
            </a:r>
            <a:r>
              <a:rPr dirty="0"/>
              <a:t> de </a:t>
            </a:r>
            <a:r>
              <a:rPr dirty="0" err="1"/>
              <a:t>voir</a:t>
            </a:r>
            <a:r>
              <a:rPr dirty="0"/>
              <a:t> </a:t>
            </a:r>
            <a:r>
              <a:rPr dirty="0" err="1"/>
              <a:t>concretement</a:t>
            </a:r>
            <a:r>
              <a:rPr dirty="0"/>
              <a:t> </a:t>
            </a:r>
            <a:r>
              <a:rPr dirty="0" err="1"/>
              <a:t>avant</a:t>
            </a:r>
            <a:r>
              <a:rPr dirty="0"/>
              <a:t> </a:t>
            </a:r>
            <a:r>
              <a:rPr dirty="0" err="1"/>
              <a:t>d'acheter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Cela nous amene a quatre </a:t>
            </a:r>
            <a:r>
              <a:rPr dirty="0" err="1"/>
              <a:t>problemes</a:t>
            </a:r>
            <a:r>
              <a:rPr dirty="0"/>
              <a:t> </a:t>
            </a:r>
            <a:r>
              <a:rPr dirty="0" err="1"/>
              <a:t>concrets</a:t>
            </a:r>
            <a:r>
              <a:rPr dirty="0"/>
              <a:t> que nous </a:t>
            </a:r>
            <a:r>
              <a:rPr dirty="0" err="1"/>
              <a:t>devions</a:t>
            </a:r>
            <a:r>
              <a:rPr dirty="0"/>
              <a:t> </a:t>
            </a:r>
            <a:r>
              <a:rPr dirty="0" err="1"/>
              <a:t>resoudre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Premier </a:t>
            </a:r>
            <a:r>
              <a:rPr dirty="0" err="1"/>
              <a:t>probleme</a:t>
            </a:r>
            <a:r>
              <a:rPr dirty="0"/>
              <a:t> : la </a:t>
            </a:r>
            <a:r>
              <a:rPr dirty="0" err="1"/>
              <a:t>collecte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couteuse</a:t>
            </a:r>
            <a:r>
              <a:rPr dirty="0"/>
              <a:t>. </a:t>
            </a:r>
            <a:r>
              <a:rPr dirty="0" err="1"/>
              <a:t>Obtenir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base</a:t>
            </a:r>
            <a:r>
              <a:rPr lang="fr-FR" dirty="0"/>
              <a:t> </a:t>
            </a:r>
            <a:r>
              <a:rPr lang="fr-FR" dirty="0" err="1"/>
              <a:t>precise</a:t>
            </a:r>
            <a:r>
              <a:rPr lang="fr-FR" dirty="0"/>
              <a:t> et </a:t>
            </a:r>
            <a:r>
              <a:rPr lang="fr-FR" dirty="0" err="1"/>
              <a:t>alignee</a:t>
            </a:r>
            <a:r>
              <a:rPr lang="fr-FR" dirty="0"/>
              <a:t> a nos besoins est difficile, et la collecter a la main sur Google </a:t>
            </a:r>
            <a:r>
              <a:rPr lang="fr-FR" dirty="0" err="1"/>
              <a:t>Maps</a:t>
            </a:r>
            <a:r>
              <a:rPr lang="fr-FR" dirty="0"/>
              <a:t> prend un temps </a:t>
            </a:r>
            <a:r>
              <a:rPr lang="fr-FR" dirty="0" err="1"/>
              <a:t>considerable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dirty="0" err="1"/>
              <a:t>Deuxieme</a:t>
            </a:r>
            <a:r>
              <a:rPr dirty="0"/>
              <a:t> </a:t>
            </a:r>
            <a:r>
              <a:rPr dirty="0" err="1"/>
              <a:t>probleme</a:t>
            </a:r>
            <a:r>
              <a:rPr dirty="0"/>
              <a:t> : la qualification. Il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aujourd'hui</a:t>
            </a:r>
            <a:r>
              <a:rPr dirty="0"/>
              <a:t> impossible de savoir </a:t>
            </a:r>
            <a:r>
              <a:rPr dirty="0" err="1"/>
              <a:t>rapidement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un commerce a un </a:t>
            </a:r>
            <a:r>
              <a:rPr dirty="0" err="1"/>
              <a:t>vrai</a:t>
            </a:r>
            <a:r>
              <a:rPr dirty="0"/>
              <a:t> site, un simple lien social,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URL </a:t>
            </a:r>
            <a:r>
              <a:rPr dirty="0" err="1"/>
              <a:t>morte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Troisieme</a:t>
            </a:r>
            <a:r>
              <a:rPr dirty="0"/>
              <a:t> </a:t>
            </a:r>
            <a:r>
              <a:rPr dirty="0" err="1"/>
              <a:t>probleme</a:t>
            </a:r>
            <a:r>
              <a:rPr dirty="0"/>
              <a:t> : preparer </a:t>
            </a:r>
            <a:r>
              <a:rPr dirty="0" err="1"/>
              <a:t>une</a:t>
            </a:r>
            <a:r>
              <a:rPr dirty="0"/>
              <a:t> demonstration </a:t>
            </a:r>
            <a:r>
              <a:rPr dirty="0" err="1"/>
              <a:t>avant</a:t>
            </a:r>
            <a:r>
              <a:rPr dirty="0"/>
              <a:t> meme que le prospect </a:t>
            </a:r>
            <a:r>
              <a:rPr dirty="0" err="1"/>
              <a:t>ait</a:t>
            </a:r>
            <a:r>
              <a:rPr dirty="0"/>
              <a:t> </a:t>
            </a:r>
            <a:r>
              <a:rPr dirty="0" err="1"/>
              <a:t>accepte</a:t>
            </a:r>
            <a:r>
              <a:rPr dirty="0"/>
              <a:t> le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long, et </a:t>
            </a:r>
            <a:r>
              <a:rPr dirty="0" err="1"/>
              <a:t>souvent</a:t>
            </a:r>
            <a:r>
              <a:rPr dirty="0"/>
              <a:t> du temps perdu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l'accord</a:t>
            </a:r>
            <a:r>
              <a:rPr dirty="0"/>
              <a:t> </a:t>
            </a:r>
            <a:r>
              <a:rPr dirty="0" err="1"/>
              <a:t>n'aboutit</a:t>
            </a:r>
            <a:r>
              <a:rPr dirty="0"/>
              <a:t> pas.</a:t>
            </a:r>
          </a:p>
          <a:p>
            <a:endParaRPr dirty="0"/>
          </a:p>
          <a:p>
            <a:r>
              <a:rPr dirty="0"/>
              <a:t>Et </a:t>
            </a:r>
            <a:r>
              <a:rPr dirty="0" err="1"/>
              <a:t>quatrieme</a:t>
            </a:r>
            <a:r>
              <a:rPr dirty="0"/>
              <a:t> </a:t>
            </a:r>
            <a:r>
              <a:rPr dirty="0" err="1"/>
              <a:t>probleme</a:t>
            </a:r>
            <a:r>
              <a:rPr dirty="0"/>
              <a:t> : sans </a:t>
            </a:r>
            <a:r>
              <a:rPr dirty="0" err="1"/>
              <a:t>preuve</a:t>
            </a:r>
            <a:r>
              <a:rPr dirty="0"/>
              <a:t> tangible, sans vitrine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 a </a:t>
            </a:r>
            <a:r>
              <a:rPr dirty="0" err="1"/>
              <a:t>montrer</a:t>
            </a:r>
            <a:r>
              <a:rPr dirty="0"/>
              <a:t>, le </a:t>
            </a:r>
            <a:r>
              <a:rPr dirty="0" err="1"/>
              <a:t>discours</a:t>
            </a:r>
            <a:r>
              <a:rPr dirty="0"/>
              <a:t> commercial </a:t>
            </a:r>
            <a:r>
              <a:rPr dirty="0" err="1"/>
              <a:t>reste</a:t>
            </a:r>
            <a:r>
              <a:rPr dirty="0"/>
              <a:t> </a:t>
            </a:r>
            <a:r>
              <a:rPr dirty="0" err="1"/>
              <a:t>abstrait</a:t>
            </a:r>
            <a:r>
              <a:rPr dirty="0"/>
              <a:t> et la conversion </a:t>
            </a:r>
            <a:r>
              <a:rPr dirty="0" err="1"/>
              <a:t>ralentit</a:t>
            </a:r>
            <a:r>
              <a:rPr dirty="0"/>
              <a:t>.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exactement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que </a:t>
            </a:r>
            <a:r>
              <a:rPr dirty="0" err="1"/>
              <a:t>notre</a:t>
            </a:r>
            <a:r>
              <a:rPr dirty="0"/>
              <a:t> solution </a:t>
            </a:r>
            <a:r>
              <a:rPr dirty="0" err="1"/>
              <a:t>vient</a:t>
            </a:r>
            <a:r>
              <a:rPr dirty="0"/>
              <a:t> </a:t>
            </a:r>
            <a:r>
              <a:rPr dirty="0" err="1"/>
              <a:t>regler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Notre </a:t>
            </a:r>
            <a:r>
              <a:rPr dirty="0" err="1"/>
              <a:t>objectif</a:t>
            </a:r>
            <a:r>
              <a:rPr dirty="0"/>
              <a:t> se decline </a:t>
            </a:r>
            <a:r>
              <a:rPr dirty="0" err="1"/>
              <a:t>en</a:t>
            </a:r>
            <a:r>
              <a:rPr dirty="0"/>
              <a:t> quatre axes.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Un : 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Industrialiser la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découverte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TPE/PME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françaises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sans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véritable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présence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web.</a:t>
            </a:r>
            <a:r>
              <a:rPr dirty="0"/>
              <a:t>.</a:t>
            </a:r>
          </a:p>
          <a:p>
            <a:endParaRPr dirty="0"/>
          </a:p>
          <a:p>
            <a:pPr marL="0" indent="0" algn="l">
              <a:lnSpc>
                <a:spcPct val="120000"/>
              </a:lnSpc>
              <a:buNone/>
            </a:pPr>
            <a:r>
              <a:rPr dirty="0"/>
              <a:t>Deux : 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Qualifier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automatiquement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prospect : site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n'existe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pas,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réseau social.</a:t>
            </a:r>
            <a:endParaRPr lang="en-US" sz="1200" dirty="0"/>
          </a:p>
          <a:p>
            <a:endParaRPr dirty="0"/>
          </a:p>
          <a:p>
            <a:pPr marL="0" indent="0" algn="l">
              <a:lnSpc>
                <a:spcPct val="120000"/>
              </a:lnSpc>
              <a:buNone/>
            </a:pPr>
            <a:r>
              <a:rPr dirty="0"/>
              <a:t>Trois :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Enrichir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 fiches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commerciales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avec Maps + Pages Jaunes pour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mieux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convaincre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Et quatre,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vitrine IA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2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concrète pour la conversion.</a:t>
            </a:r>
            <a:endParaRPr lang="en-US" sz="1200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Pour </a:t>
            </a:r>
            <a:r>
              <a:rPr dirty="0" err="1"/>
              <a:t>atteindre</a:t>
            </a:r>
            <a:r>
              <a:rPr dirty="0"/>
              <a:t>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objectifs</a:t>
            </a:r>
            <a:r>
              <a:rPr dirty="0"/>
              <a:t>, nous </a:t>
            </a:r>
            <a:r>
              <a:rPr dirty="0" err="1"/>
              <a:t>avons</a:t>
            </a:r>
            <a:r>
              <a:rPr dirty="0"/>
              <a:t> </a:t>
            </a:r>
            <a:r>
              <a:rPr dirty="0" err="1"/>
              <a:t>construit</a:t>
            </a:r>
            <a:r>
              <a:rPr dirty="0"/>
              <a:t> quatre modules </a:t>
            </a:r>
            <a:r>
              <a:rPr dirty="0" err="1"/>
              <a:t>produit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Le premier, </a:t>
            </a:r>
            <a:r>
              <a:rPr dirty="0" err="1"/>
              <a:t>c'est</a:t>
            </a:r>
            <a:r>
              <a:rPr dirty="0"/>
              <a:t> la </a:t>
            </a:r>
            <a:r>
              <a:rPr dirty="0" err="1"/>
              <a:t>collecte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masse : des </a:t>
            </a:r>
            <a:r>
              <a:rPr dirty="0" err="1"/>
              <a:t>campagnes</a:t>
            </a:r>
            <a:r>
              <a:rPr dirty="0"/>
              <a:t> </a:t>
            </a:r>
            <a:r>
              <a:rPr dirty="0" err="1"/>
              <a:t>nationales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ciblees</a:t>
            </a:r>
            <a:r>
              <a:rPr dirty="0"/>
              <a:t>, </a:t>
            </a:r>
            <a:r>
              <a:rPr dirty="0" err="1"/>
              <a:t>croisant</a:t>
            </a:r>
            <a:r>
              <a:rPr dirty="0"/>
              <a:t> villes et categories </a:t>
            </a:r>
            <a:r>
              <a:rPr dirty="0" err="1"/>
              <a:t>metiers</a:t>
            </a:r>
            <a:r>
              <a:rPr dirty="0"/>
              <a:t>, avec gestion de pause, reprise et quotas.</a:t>
            </a:r>
          </a:p>
          <a:p>
            <a:endParaRPr dirty="0"/>
          </a:p>
          <a:p>
            <a:r>
              <a:rPr dirty="0"/>
              <a:t>Le </a:t>
            </a:r>
            <a:r>
              <a:rPr dirty="0" err="1"/>
              <a:t>deuxieme</a:t>
            </a:r>
            <a:r>
              <a:rPr dirty="0"/>
              <a:t>, la qualification web : on determine </a:t>
            </a:r>
            <a:r>
              <a:rPr dirty="0" err="1"/>
              <a:t>automatiquement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un site </a:t>
            </a:r>
            <a:r>
              <a:rPr dirty="0" err="1"/>
              <a:t>existe</a:t>
            </a:r>
            <a:r>
              <a:rPr dirty="0"/>
              <a:t>, </a:t>
            </a:r>
            <a:r>
              <a:rPr dirty="0" err="1"/>
              <a:t>n'existe</a:t>
            </a:r>
            <a:r>
              <a:rPr dirty="0"/>
              <a:t> pas,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s'il</a:t>
            </a:r>
            <a:r>
              <a:rPr dirty="0"/>
              <a:t> y a </a:t>
            </a:r>
            <a:r>
              <a:rPr dirty="0" err="1"/>
              <a:t>uniquement</a:t>
            </a:r>
            <a:r>
              <a:rPr dirty="0"/>
              <a:t> un reseau social,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s'appuyant</a:t>
            </a:r>
            <a:r>
              <a:rPr dirty="0"/>
              <a:t> sur Google Maps </a:t>
            </a:r>
            <a:r>
              <a:rPr dirty="0" err="1"/>
              <a:t>en</a:t>
            </a:r>
            <a:r>
              <a:rPr dirty="0"/>
              <a:t> source </a:t>
            </a:r>
            <a:r>
              <a:rPr dirty="0" err="1"/>
              <a:t>primaire</a:t>
            </a:r>
            <a:r>
              <a:rPr dirty="0"/>
              <a:t> et les Pages Jaunes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ciblage</a:t>
            </a:r>
            <a:r>
              <a:rPr dirty="0"/>
              <a:t> </a:t>
            </a:r>
            <a:r>
              <a:rPr dirty="0" err="1"/>
              <a:t>complementaire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Le </a:t>
            </a:r>
            <a:r>
              <a:rPr dirty="0" err="1"/>
              <a:t>troisieme</a:t>
            </a:r>
            <a:r>
              <a:rPr dirty="0"/>
              <a:t>, </a:t>
            </a:r>
            <a:r>
              <a:rPr dirty="0" err="1"/>
              <a:t>l'enrichissement</a:t>
            </a:r>
            <a:r>
              <a:rPr dirty="0"/>
              <a:t> : on </a:t>
            </a:r>
            <a:r>
              <a:rPr dirty="0" err="1"/>
              <a:t>recupere</a:t>
            </a:r>
            <a:r>
              <a:rPr dirty="0"/>
              <a:t> </a:t>
            </a:r>
            <a:r>
              <a:rPr dirty="0" err="1"/>
              <a:t>avis</a:t>
            </a:r>
            <a:r>
              <a:rPr dirty="0"/>
              <a:t>, photos, contacts pour </a:t>
            </a:r>
            <a:r>
              <a:rPr dirty="0" err="1"/>
              <a:t>chaque</a:t>
            </a:r>
            <a:r>
              <a:rPr dirty="0"/>
              <a:t> prospect.</a:t>
            </a:r>
          </a:p>
          <a:p>
            <a:endParaRPr dirty="0"/>
          </a:p>
          <a:p>
            <a:r>
              <a:rPr dirty="0"/>
              <a:t>Et le </a:t>
            </a:r>
            <a:r>
              <a:rPr dirty="0" err="1"/>
              <a:t>quatrieme</a:t>
            </a:r>
            <a:r>
              <a:rPr dirty="0"/>
              <a:t>, le plus visible pour le client final : la generation d'un site demo par IA, </a:t>
            </a:r>
            <a:r>
              <a:rPr dirty="0" err="1"/>
              <a:t>une</a:t>
            </a:r>
            <a:r>
              <a:rPr dirty="0"/>
              <a:t> vitrine multi-pages, deployable sur </a:t>
            </a:r>
            <a:r>
              <a:rPr dirty="0" err="1"/>
              <a:t>Vercel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clic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Puis je vous enchaîne l'architecture technique,</a:t>
            </a:r>
          </a:p>
          <a:p>
            <a:endParaRPr lang="fr-FR" dirty="0"/>
          </a:p>
          <a:p>
            <a:r>
              <a:rPr dirty="0"/>
              <a:t>Cote stack, </a:t>
            </a:r>
            <a:r>
              <a:rPr dirty="0" err="1"/>
              <a:t>l'interface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React, TypeScript et Tailwind. Le </a:t>
            </a:r>
            <a:r>
              <a:rPr dirty="0" err="1"/>
              <a:t>serveur</a:t>
            </a:r>
            <a:r>
              <a:rPr dirty="0"/>
              <a:t> </a:t>
            </a:r>
            <a:r>
              <a:rPr dirty="0" err="1"/>
              <a:t>tourne</a:t>
            </a:r>
            <a:r>
              <a:rPr dirty="0"/>
              <a:t> sur Django et Django REST Framework, qui </a:t>
            </a:r>
            <a:r>
              <a:rPr dirty="0" err="1"/>
              <a:t>gere</a:t>
            </a:r>
            <a:r>
              <a:rPr dirty="0"/>
              <a:t> </a:t>
            </a:r>
            <a:r>
              <a:rPr dirty="0" err="1"/>
              <a:t>l'API</a:t>
            </a:r>
            <a:r>
              <a:rPr dirty="0"/>
              <a:t> et </a:t>
            </a:r>
            <a:r>
              <a:rPr dirty="0" err="1"/>
              <a:t>l'orchestration</a:t>
            </a:r>
            <a:r>
              <a:rPr dirty="0"/>
              <a:t> des taches. La </a:t>
            </a:r>
            <a:r>
              <a:rPr dirty="0" err="1"/>
              <a:t>collecte</a:t>
            </a:r>
            <a:r>
              <a:rPr dirty="0"/>
              <a:t> </a:t>
            </a:r>
            <a:r>
              <a:rPr dirty="0" err="1"/>
              <a:t>s'appuie</a:t>
            </a:r>
            <a:r>
              <a:rPr dirty="0"/>
              <a:t> sur Playwright pour scraper Google Maps et les Pages Jaunes. Et </a:t>
            </a:r>
            <a:r>
              <a:rPr dirty="0" err="1"/>
              <a:t>toutes</a:t>
            </a:r>
            <a:r>
              <a:rPr dirty="0"/>
              <a:t> les </a:t>
            </a:r>
            <a:r>
              <a:rPr dirty="0" err="1"/>
              <a:t>donnees</a:t>
            </a:r>
            <a:r>
              <a:rPr dirty="0"/>
              <a:t>, prospects, </a:t>
            </a:r>
            <a:r>
              <a:rPr dirty="0" err="1"/>
              <a:t>campagnes</a:t>
            </a:r>
            <a:r>
              <a:rPr dirty="0"/>
              <a:t>, </a:t>
            </a:r>
            <a:r>
              <a:rPr dirty="0" err="1"/>
              <a:t>historique</a:t>
            </a:r>
            <a:r>
              <a:rPr dirty="0"/>
              <a:t> des demos,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stockees</a:t>
            </a:r>
            <a:r>
              <a:rPr dirty="0"/>
              <a:t> dans MySQL.</a:t>
            </a:r>
          </a:p>
          <a:p>
            <a:endParaRPr dirty="0"/>
          </a:p>
          <a:p>
            <a:r>
              <a:rPr lang="fr-FR" dirty="0"/>
              <a:t>Pour la </a:t>
            </a:r>
            <a:r>
              <a:rPr dirty="0"/>
              <a:t>Cote resilience, la detection du </a:t>
            </a:r>
            <a:r>
              <a:rPr dirty="0" err="1"/>
              <a:t>statut</a:t>
            </a:r>
            <a:r>
              <a:rPr dirty="0"/>
              <a:t> web, site </a:t>
            </a:r>
            <a:r>
              <a:rPr dirty="0" err="1"/>
              <a:t>existant</a:t>
            </a:r>
            <a:r>
              <a:rPr dirty="0"/>
              <a:t>, inexistant, </a:t>
            </a:r>
            <a:r>
              <a:rPr dirty="0" err="1"/>
              <a:t>ou</a:t>
            </a:r>
            <a:r>
              <a:rPr dirty="0"/>
              <a:t> reseau social </a:t>
            </a:r>
            <a:r>
              <a:rPr dirty="0" err="1"/>
              <a:t>uniquement</a:t>
            </a:r>
            <a:r>
              <a:rPr dirty="0"/>
              <a:t>, </a:t>
            </a:r>
            <a:r>
              <a:rPr dirty="0" err="1"/>
              <a:t>s'appuie</a:t>
            </a:r>
            <a:r>
              <a:rPr dirty="0"/>
              <a:t> sur Claude Sonnet 5, avec Gemini </a:t>
            </a:r>
            <a:r>
              <a:rPr dirty="0" err="1"/>
              <a:t>en</a:t>
            </a:r>
            <a:r>
              <a:rPr dirty="0"/>
              <a:t> secours pour assurer la </a:t>
            </a:r>
            <a:r>
              <a:rPr dirty="0" err="1"/>
              <a:t>continuite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jamais il y a un </a:t>
            </a:r>
            <a:r>
              <a:rPr dirty="0" err="1"/>
              <a:t>probleme</a:t>
            </a:r>
            <a:r>
              <a:rPr dirty="0"/>
              <a:t>. </a:t>
            </a:r>
            <a:r>
              <a:rPr dirty="0" err="1"/>
              <a:t>Chaque</a:t>
            </a:r>
            <a:r>
              <a:rPr dirty="0"/>
              <a:t> vitrine </a:t>
            </a:r>
            <a:r>
              <a:rPr dirty="0" err="1"/>
              <a:t>generee</a:t>
            </a:r>
            <a:r>
              <a:rPr dirty="0"/>
              <a:t> </a:t>
            </a:r>
            <a:r>
              <a:rPr dirty="0" err="1"/>
              <a:t>utilise</a:t>
            </a:r>
            <a:r>
              <a:rPr dirty="0"/>
              <a:t> </a:t>
            </a:r>
            <a:r>
              <a:rPr lang="fr-FR" dirty="0"/>
              <a:t> </a:t>
            </a:r>
            <a:r>
              <a:rPr dirty="0"/>
              <a:t>React </a:t>
            </a:r>
            <a:r>
              <a:rPr dirty="0" err="1"/>
              <a:t>en</a:t>
            </a:r>
            <a:r>
              <a:rPr dirty="0"/>
              <a:t> architecture multi-pages, avec un </a:t>
            </a:r>
            <a:r>
              <a:rPr dirty="0" err="1"/>
              <a:t>deploiement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clic</a:t>
            </a:r>
            <a:r>
              <a:rPr dirty="0"/>
              <a:t> </a:t>
            </a:r>
            <a:r>
              <a:rPr dirty="0" err="1"/>
              <a:t>vers</a:t>
            </a:r>
            <a:r>
              <a:rPr dirty="0"/>
              <a:t> </a:t>
            </a:r>
            <a:r>
              <a:rPr dirty="0" err="1"/>
              <a:t>Vercel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architecture </a:t>
            </a:r>
            <a:r>
              <a:rPr dirty="0" err="1"/>
              <a:t>pensee</a:t>
            </a:r>
            <a:r>
              <a:rPr dirty="0"/>
              <a:t> pour </a:t>
            </a:r>
            <a:r>
              <a:rPr dirty="0" err="1"/>
              <a:t>tourner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continu</a:t>
            </a:r>
            <a:r>
              <a:rPr dirty="0"/>
              <a:t>, sur de gros volumes, sans intervention </a:t>
            </a:r>
            <a:r>
              <a:rPr dirty="0" err="1"/>
              <a:t>manuelle</a:t>
            </a:r>
            <a:r>
              <a:rPr dirty="0"/>
              <a:t>.</a:t>
            </a:r>
            <a:endParaRPr lang="fr-FR" dirty="0"/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Je vais maintenant vous montrer chacun de ces modules en </a:t>
            </a:r>
            <a:r>
              <a:rPr lang="fr-FR" dirty="0" err="1"/>
              <a:t>detail</a:t>
            </a:r>
            <a:r>
              <a:rPr lang="fr-F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Ce module </a:t>
            </a:r>
            <a:r>
              <a:rPr dirty="0" err="1"/>
              <a:t>permet</a:t>
            </a:r>
            <a:r>
              <a:rPr dirty="0"/>
              <a:t> de lancer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campagne</a:t>
            </a:r>
            <a:r>
              <a:rPr dirty="0"/>
              <a:t> </a:t>
            </a:r>
            <a:r>
              <a:rPr dirty="0" err="1"/>
              <a:t>nationale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ciblee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croisant</a:t>
            </a:r>
            <a:r>
              <a:rPr dirty="0"/>
              <a:t> des villes avec des </a:t>
            </a:r>
            <a:r>
              <a:rPr dirty="0" err="1"/>
              <a:t>metiers</a:t>
            </a:r>
            <a:r>
              <a:rPr dirty="0"/>
              <a:t>, avec des quotas </a:t>
            </a:r>
            <a:r>
              <a:rPr dirty="0" err="1"/>
              <a:t>definis</a:t>
            </a:r>
            <a:r>
              <a:rPr dirty="0"/>
              <a:t>. On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mettre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pause et </a:t>
            </a:r>
            <a:r>
              <a:rPr dirty="0" err="1"/>
              <a:t>reprendre</a:t>
            </a:r>
            <a:r>
              <a:rPr dirty="0"/>
              <a:t> un job a tout moment, </a:t>
            </a:r>
            <a:r>
              <a:rPr dirty="0" err="1"/>
              <a:t>ce</a:t>
            </a:r>
            <a:r>
              <a:rPr dirty="0"/>
              <a:t> qui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essentiel</a:t>
            </a:r>
            <a:r>
              <a:rPr dirty="0"/>
              <a:t> sur des </a:t>
            </a:r>
            <a:r>
              <a:rPr dirty="0" err="1"/>
              <a:t>collectes</a:t>
            </a:r>
            <a:r>
              <a:rPr dirty="0"/>
              <a:t> longues.</a:t>
            </a:r>
          </a:p>
          <a:p>
            <a:endParaRPr dirty="0"/>
          </a:p>
          <a:p>
            <a:r>
              <a:rPr dirty="0"/>
              <a:t>La </a:t>
            </a:r>
            <a:r>
              <a:rPr dirty="0" err="1"/>
              <a:t>valeur</a:t>
            </a:r>
            <a:r>
              <a:rPr dirty="0"/>
              <a:t> immediate, </a:t>
            </a:r>
            <a:r>
              <a:rPr dirty="0" err="1"/>
              <a:t>remplit</a:t>
            </a:r>
            <a:r>
              <a:rPr dirty="0"/>
              <a:t> </a:t>
            </a:r>
            <a:r>
              <a:rPr lang="fr-FR" dirty="0"/>
              <a:t>,,,,,,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Le module deux, </a:t>
            </a:r>
            <a:r>
              <a:rPr dirty="0" err="1"/>
              <a:t>c'est</a:t>
            </a:r>
            <a:r>
              <a:rPr dirty="0"/>
              <a:t> la qualification web.</a:t>
            </a:r>
          </a:p>
          <a:p>
            <a:endParaRPr dirty="0"/>
          </a:p>
          <a:p>
            <a:r>
              <a:rPr dirty="0"/>
              <a:t>Le scenario </a:t>
            </a:r>
            <a:r>
              <a:rPr dirty="0" err="1"/>
              <a:t>est</a:t>
            </a:r>
            <a:r>
              <a:rPr dirty="0"/>
              <a:t> simple : on </a:t>
            </a:r>
            <a:r>
              <a:rPr dirty="0" err="1"/>
              <a:t>analyse</a:t>
            </a:r>
            <a:r>
              <a:rPr dirty="0"/>
              <a:t> le lien </a:t>
            </a:r>
            <a:r>
              <a:rPr dirty="0" err="1"/>
              <a:t>vers</a:t>
            </a:r>
            <a:r>
              <a:rPr dirty="0"/>
              <a:t> </a:t>
            </a:r>
            <a:r>
              <a:rPr dirty="0" err="1"/>
              <a:t>l'annuaire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le site du commerce, on determine </a:t>
            </a:r>
            <a:r>
              <a:rPr dirty="0" err="1"/>
              <a:t>s'il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, </a:t>
            </a:r>
            <a:r>
              <a:rPr dirty="0" err="1"/>
              <a:t>s'il</a:t>
            </a:r>
            <a:r>
              <a:rPr dirty="0"/>
              <a:t> </a:t>
            </a:r>
            <a:r>
              <a:rPr dirty="0" err="1"/>
              <a:t>n'existe</a:t>
            </a:r>
            <a:r>
              <a:rPr dirty="0"/>
              <a:t> pas,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s'il</a:t>
            </a:r>
            <a:r>
              <a:rPr dirty="0"/>
              <a:t> </a:t>
            </a:r>
            <a:r>
              <a:rPr dirty="0" err="1"/>
              <a:t>s'agit</a:t>
            </a:r>
            <a:r>
              <a:rPr dirty="0"/>
              <a:t> </a:t>
            </a:r>
            <a:r>
              <a:rPr dirty="0" err="1"/>
              <a:t>uniquement</a:t>
            </a:r>
            <a:r>
              <a:rPr dirty="0"/>
              <a:t> d'un reseau social, et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statut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enregistre</a:t>
            </a:r>
            <a:r>
              <a:rPr dirty="0"/>
              <a:t> </a:t>
            </a:r>
            <a:r>
              <a:rPr dirty="0" err="1"/>
              <a:t>directement</a:t>
            </a:r>
            <a:r>
              <a:rPr dirty="0"/>
              <a:t> sur la fiche prospect.</a:t>
            </a:r>
          </a:p>
          <a:p>
            <a:endParaRPr dirty="0"/>
          </a:p>
          <a:p>
            <a:r>
              <a:rPr dirty="0" err="1"/>
              <a:t>Pourquoi</a:t>
            </a:r>
            <a:r>
              <a:rPr dirty="0"/>
              <a:t> </a:t>
            </a:r>
            <a:r>
              <a:rPr dirty="0" err="1"/>
              <a:t>c'est</a:t>
            </a:r>
            <a:r>
              <a:rPr dirty="0"/>
              <a:t> critique : </a:t>
            </a:r>
            <a:r>
              <a:rPr dirty="0" err="1"/>
              <a:t>cela</a:t>
            </a:r>
            <a:r>
              <a:rPr dirty="0"/>
              <a:t> nous evite de </a:t>
            </a:r>
            <a:r>
              <a:rPr dirty="0" err="1"/>
              <a:t>contacter</a:t>
            </a:r>
            <a:r>
              <a:rPr dirty="0"/>
              <a:t> des prospects </a:t>
            </a:r>
            <a:r>
              <a:rPr dirty="0" err="1"/>
              <a:t>deja</a:t>
            </a:r>
            <a:r>
              <a:rPr dirty="0"/>
              <a:t> equipes, </a:t>
            </a:r>
            <a:r>
              <a:rPr lang="fr-FR" dirty="0"/>
              <a:t>,,,,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dirty="0"/>
              <a:t>Le module trois, </a:t>
            </a:r>
            <a:r>
              <a:rPr sz="1800" dirty="0" err="1"/>
              <a:t>c'est</a:t>
            </a:r>
            <a:r>
              <a:rPr sz="1800" dirty="0"/>
              <a:t> </a:t>
            </a:r>
            <a:r>
              <a:rPr sz="1800" dirty="0" err="1"/>
              <a:t>l'enrichissement</a:t>
            </a:r>
            <a:r>
              <a:rPr sz="1800" dirty="0"/>
              <a:t> </a:t>
            </a:r>
            <a:r>
              <a:rPr sz="1800" dirty="0" err="1"/>
              <a:t>croise</a:t>
            </a:r>
            <a:r>
              <a:rPr sz="1800" dirty="0"/>
              <a:t>.</a:t>
            </a:r>
          </a:p>
          <a:p>
            <a:endParaRPr sz="1800" dirty="0"/>
          </a:p>
          <a:p>
            <a:r>
              <a:rPr sz="1800" dirty="0"/>
              <a:t>Le scenario : Google Maps </a:t>
            </a:r>
            <a:r>
              <a:rPr sz="1800" dirty="0" err="1"/>
              <a:t>sert</a:t>
            </a:r>
            <a:r>
              <a:rPr sz="1800" dirty="0"/>
              <a:t> de source </a:t>
            </a:r>
            <a:r>
              <a:rPr sz="1800" dirty="0" err="1"/>
              <a:t>primaire</a:t>
            </a:r>
            <a:r>
              <a:rPr sz="1800" dirty="0"/>
              <a:t>, et on </a:t>
            </a:r>
            <a:r>
              <a:rPr sz="1800" dirty="0" err="1"/>
              <a:t>va</a:t>
            </a:r>
            <a:r>
              <a:rPr sz="1800" dirty="0"/>
              <a:t> </a:t>
            </a:r>
            <a:r>
              <a:rPr sz="1800" dirty="0" err="1"/>
              <a:t>chercher</a:t>
            </a:r>
            <a:r>
              <a:rPr sz="1800" dirty="0"/>
              <a:t> les Pages Jaunes </a:t>
            </a:r>
            <a:r>
              <a:rPr sz="1800" dirty="0" err="1"/>
              <a:t>en</a:t>
            </a:r>
            <a:r>
              <a:rPr sz="1800" dirty="0"/>
              <a:t> complement </a:t>
            </a:r>
            <a:r>
              <a:rPr sz="1800" dirty="0" err="1"/>
              <a:t>quand</a:t>
            </a:r>
            <a:r>
              <a:rPr sz="1800" dirty="0"/>
              <a:t> le commerce </a:t>
            </a:r>
            <a:r>
              <a:rPr sz="1800" dirty="0" err="1"/>
              <a:t>n'a</a:t>
            </a:r>
            <a:r>
              <a:rPr sz="1800" dirty="0"/>
              <a:t> pas de site. On </a:t>
            </a:r>
            <a:r>
              <a:rPr sz="1800" dirty="0" err="1"/>
              <a:t>recupere</a:t>
            </a:r>
            <a:r>
              <a:rPr sz="1800" dirty="0"/>
              <a:t> les </a:t>
            </a:r>
            <a:r>
              <a:rPr sz="1800" dirty="0" err="1"/>
              <a:t>avis</a:t>
            </a:r>
            <a:r>
              <a:rPr sz="1800" dirty="0"/>
              <a:t>, les photos, les contacts et les </a:t>
            </a:r>
            <a:r>
              <a:rPr sz="1800" dirty="0" err="1"/>
              <a:t>horaires</a:t>
            </a:r>
            <a:r>
              <a:rPr sz="1800" dirty="0"/>
              <a:t>.</a:t>
            </a:r>
          </a:p>
          <a:p>
            <a:endParaRPr sz="1800" dirty="0"/>
          </a:p>
          <a:p>
            <a:r>
              <a:rPr sz="1800" dirty="0"/>
              <a:t>Cote diagnostic commercial, </a:t>
            </a:r>
            <a:r>
              <a:rPr sz="1800" dirty="0" err="1"/>
              <a:t>cela</a:t>
            </a:r>
            <a:r>
              <a:rPr sz="1800" dirty="0"/>
              <a:t> nous </a:t>
            </a:r>
            <a:r>
              <a:rPr sz="1800" dirty="0" err="1"/>
              <a:t>donne</a:t>
            </a:r>
            <a:r>
              <a:rPr sz="1800" dirty="0"/>
              <a:t> </a:t>
            </a:r>
            <a:r>
              <a:rPr sz="1800" dirty="0" err="1"/>
              <a:t>une</a:t>
            </a:r>
            <a:r>
              <a:rPr sz="1800" dirty="0"/>
              <a:t> fiche </a:t>
            </a:r>
            <a:r>
              <a:rPr sz="1800" dirty="0" err="1"/>
              <a:t>prete</a:t>
            </a:r>
            <a:r>
              <a:rPr sz="1800" dirty="0"/>
              <a:t> pour le </a:t>
            </a:r>
            <a:r>
              <a:rPr sz="1800" dirty="0" err="1"/>
              <a:t>rendez-vous</a:t>
            </a:r>
            <a:r>
              <a:rPr sz="1800" dirty="0"/>
              <a:t>, avec des </a:t>
            </a:r>
            <a:r>
              <a:rPr sz="1800" dirty="0" err="1"/>
              <a:t>preuves</a:t>
            </a:r>
            <a:r>
              <a:rPr sz="1800" dirty="0"/>
              <a:t> </a:t>
            </a:r>
            <a:r>
              <a:rPr sz="1800" dirty="0" err="1"/>
              <a:t>sociales</a:t>
            </a:r>
            <a:r>
              <a:rPr sz="1800" dirty="0"/>
              <a:t> </a:t>
            </a:r>
            <a:r>
              <a:rPr sz="1800" dirty="0" err="1"/>
              <a:t>directement</a:t>
            </a:r>
            <a:r>
              <a:rPr sz="1800" dirty="0"/>
              <a:t> </a:t>
            </a:r>
            <a:r>
              <a:rPr sz="1800" dirty="0" err="1"/>
              <a:t>exploitables</a:t>
            </a:r>
            <a:r>
              <a:rPr sz="1800" dirty="0"/>
              <a:t> dans </a:t>
            </a:r>
            <a:r>
              <a:rPr sz="1800" dirty="0" err="1"/>
              <a:t>l'argumentaire</a:t>
            </a:r>
            <a:r>
              <a:rPr sz="1800" dirty="0"/>
              <a:t> commercial. Et </a:t>
            </a:r>
            <a:r>
              <a:rPr sz="1800" dirty="0" err="1"/>
              <a:t>ces</a:t>
            </a:r>
            <a:r>
              <a:rPr sz="1800" dirty="0"/>
              <a:t> </a:t>
            </a:r>
            <a:r>
              <a:rPr sz="1800" dirty="0" err="1"/>
              <a:t>donnees</a:t>
            </a:r>
            <a:r>
              <a:rPr sz="1800" dirty="0"/>
              <a:t> </a:t>
            </a:r>
            <a:r>
              <a:rPr sz="1800" dirty="0" err="1"/>
              <a:t>sont</a:t>
            </a:r>
            <a:r>
              <a:rPr sz="1800" dirty="0"/>
              <a:t> ensuite </a:t>
            </a:r>
            <a:r>
              <a:rPr sz="1800" dirty="0" err="1"/>
              <a:t>reutilisees</a:t>
            </a:r>
            <a:r>
              <a:rPr sz="1800" dirty="0"/>
              <a:t> par </a:t>
            </a:r>
            <a:r>
              <a:rPr sz="1800" dirty="0" err="1"/>
              <a:t>l'IA</a:t>
            </a:r>
            <a:r>
              <a:rPr sz="1800" dirty="0"/>
              <a:t> pour la generation du site demo, </a:t>
            </a:r>
            <a:r>
              <a:rPr sz="1800" dirty="0" err="1"/>
              <a:t>ce</a:t>
            </a:r>
            <a:r>
              <a:rPr sz="1800" dirty="0"/>
              <a:t> qui nous amene au module </a:t>
            </a:r>
            <a:r>
              <a:rPr sz="1800" dirty="0" err="1"/>
              <a:t>suivant</a:t>
            </a:r>
            <a:r>
              <a:rPr sz="1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Le module quatre, </a:t>
            </a:r>
          </a:p>
          <a:p>
            <a:r>
              <a:rPr dirty="0"/>
              <a:t>: un site multi-pages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genere</a:t>
            </a:r>
            <a:r>
              <a:rPr dirty="0"/>
              <a:t> </a:t>
            </a:r>
            <a:r>
              <a:rPr dirty="0" err="1"/>
              <a:t>automatiquement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clic</a:t>
            </a:r>
            <a:r>
              <a:rPr dirty="0"/>
              <a:t>, avec un </a:t>
            </a:r>
            <a:r>
              <a:rPr dirty="0" err="1"/>
              <a:t>contenu</a:t>
            </a:r>
            <a:r>
              <a:rPr dirty="0"/>
              <a:t> base sur les </a:t>
            </a:r>
            <a:r>
              <a:rPr dirty="0" err="1"/>
              <a:t>donnees</a:t>
            </a:r>
            <a:r>
              <a:rPr dirty="0"/>
              <a:t> </a:t>
            </a:r>
            <a:r>
              <a:rPr dirty="0" err="1"/>
              <a:t>reelles</a:t>
            </a:r>
            <a:r>
              <a:rPr dirty="0"/>
              <a:t> du prospect,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deploye</a:t>
            </a:r>
            <a:r>
              <a:rPr dirty="0"/>
              <a:t> sur </a:t>
            </a:r>
            <a:r>
              <a:rPr dirty="0" err="1"/>
              <a:t>Vercel</a:t>
            </a:r>
            <a:r>
              <a:rPr dirty="0"/>
              <a:t>,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clic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Pourquoi</a:t>
            </a:r>
            <a:r>
              <a:rPr dirty="0"/>
              <a:t> </a:t>
            </a:r>
            <a:r>
              <a:rPr dirty="0" err="1"/>
              <a:t>c'est</a:t>
            </a:r>
            <a:r>
              <a:rPr dirty="0"/>
              <a:t> critique : </a:t>
            </a:r>
            <a:r>
              <a:rPr dirty="0" err="1"/>
              <a:t>cela</a:t>
            </a:r>
            <a:r>
              <a:rPr dirty="0"/>
              <a:t> nous </a:t>
            </a:r>
            <a:r>
              <a:rPr dirty="0" err="1"/>
              <a:t>donne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preuve</a:t>
            </a:r>
            <a:r>
              <a:rPr dirty="0"/>
              <a:t> </a:t>
            </a:r>
            <a:r>
              <a:rPr dirty="0" err="1"/>
              <a:t>visuelle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, concrete, a </a:t>
            </a:r>
            <a:r>
              <a:rPr dirty="0" err="1"/>
              <a:t>montrer</a:t>
            </a:r>
            <a:r>
              <a:rPr dirty="0"/>
              <a:t> au prospect. Cela </a:t>
            </a:r>
            <a:r>
              <a:rPr dirty="0" err="1"/>
              <a:t>accelere</a:t>
            </a:r>
            <a:r>
              <a:rPr dirty="0"/>
              <a:t> </a:t>
            </a:r>
            <a:r>
              <a:rPr dirty="0" err="1"/>
              <a:t>fortement</a:t>
            </a:r>
            <a:r>
              <a:rPr dirty="0"/>
              <a:t> la conversion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rendez-vous</a:t>
            </a:r>
            <a:r>
              <a:rPr dirty="0"/>
              <a:t>, et surtout, </a:t>
            </a:r>
            <a:r>
              <a:rPr dirty="0" err="1"/>
              <a:t>cela</a:t>
            </a:r>
            <a:r>
              <a:rPr dirty="0"/>
              <a:t> nous </a:t>
            </a:r>
            <a:r>
              <a:rPr dirty="0" err="1"/>
              <a:t>differencie</a:t>
            </a:r>
            <a:r>
              <a:rPr dirty="0"/>
              <a:t> </a:t>
            </a:r>
            <a:r>
              <a:rPr dirty="0" err="1"/>
              <a:t>clairement</a:t>
            </a:r>
            <a:r>
              <a:rPr dirty="0"/>
              <a:t> des </a:t>
            </a:r>
            <a:r>
              <a:rPr dirty="0" err="1"/>
              <a:t>agences</a:t>
            </a:r>
            <a:r>
              <a:rPr dirty="0"/>
              <a:t> </a:t>
            </a:r>
            <a:r>
              <a:rPr dirty="0" err="1"/>
              <a:t>classiques</a:t>
            </a:r>
            <a:r>
              <a:rPr dirty="0"/>
              <a:t>, qui ne </a:t>
            </a:r>
            <a:r>
              <a:rPr dirty="0" err="1"/>
              <a:t>proposent</a:t>
            </a:r>
            <a:r>
              <a:rPr dirty="0"/>
              <a:t> jamais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 de </a:t>
            </a:r>
            <a:r>
              <a:rPr dirty="0" err="1"/>
              <a:t>preuve</a:t>
            </a:r>
            <a:r>
              <a:rPr dirty="0"/>
              <a:t> </a:t>
            </a:r>
            <a:r>
              <a:rPr dirty="0" err="1"/>
              <a:t>avant</a:t>
            </a:r>
            <a:r>
              <a:rPr dirty="0"/>
              <a:t> meme la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Passons maintenant aux </a:t>
            </a:r>
            <a:r>
              <a:rPr lang="fr-FR" sz="1200" dirty="0">
                <a:solidFill>
                  <a:srgbClr val="262626"/>
                </a:solidFill>
                <a:latin typeface="Arial" pitchFamily="34" charset="0"/>
                <a:cs typeface="Arial" pitchFamily="34" charset="-120"/>
              </a:rPr>
              <a:t>Différenciateurs clés</a:t>
            </a:r>
            <a:r>
              <a:rPr lang="fr-F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r>
              <a:rPr lang="fr-FR" dirty="0"/>
              <a:t>D'abord, les photos :</a:t>
            </a:r>
          </a:p>
          <a:p>
            <a:r>
              <a:rPr lang="fr-FR" dirty="0"/>
              <a:t>Ensuite, des </a:t>
            </a:r>
            <a:r>
              <a:rPr lang="fr-FR" dirty="0" err="1"/>
              <a:t>themes</a:t>
            </a:r>
            <a:r>
              <a:rPr lang="fr-FR" dirty="0"/>
              <a:t> adaptes par </a:t>
            </a:r>
            <a:r>
              <a:rPr lang="fr-FR" dirty="0" err="1"/>
              <a:t>metier</a:t>
            </a:r>
            <a:r>
              <a:rPr lang="fr-FR" dirty="0"/>
              <a:t> : un coiffeur, un plombier et un restaurant n'ont pas le </a:t>
            </a:r>
            <a:r>
              <a:rPr lang="fr-FR" dirty="0" err="1"/>
              <a:t>meme</a:t>
            </a:r>
            <a:r>
              <a:rPr lang="fr-FR" dirty="0"/>
              <a:t> rendu visuel, avec des variations qui </a:t>
            </a:r>
            <a:r>
              <a:rPr lang="fr-FR" dirty="0" err="1"/>
              <a:t>evitent</a:t>
            </a:r>
            <a:r>
              <a:rPr lang="fr-FR" dirty="0"/>
              <a:t> l'effet de sites clones.</a:t>
            </a:r>
          </a:p>
          <a:p>
            <a:endParaRPr lang="fr-FR" dirty="0"/>
          </a:p>
          <a:p>
            <a:r>
              <a:rPr lang="fr-FR" dirty="0"/>
              <a:t>Sur la robustesse technique, le </a:t>
            </a:r>
            <a:r>
              <a:rPr lang="fr-FR" dirty="0" err="1"/>
              <a:t>scaffold</a:t>
            </a:r>
            <a:r>
              <a:rPr lang="fr-FR" dirty="0"/>
              <a:t> est en Vite, </a:t>
            </a:r>
            <a:r>
              <a:rPr lang="fr-FR" dirty="0" err="1"/>
              <a:t>React</a:t>
            </a:r>
            <a:r>
              <a:rPr lang="fr-FR" dirty="0"/>
              <a:t> et </a:t>
            </a:r>
            <a:r>
              <a:rPr lang="fr-FR" dirty="0" err="1"/>
              <a:t>Tailwind</a:t>
            </a:r>
            <a:r>
              <a:rPr lang="fr-FR" dirty="0"/>
              <a:t> : c'est un site stable et </a:t>
            </a:r>
            <a:r>
              <a:rPr lang="fr-FR" dirty="0" err="1"/>
              <a:t>deployable</a:t>
            </a:r>
            <a:r>
              <a:rPr lang="fr-FR" dirty="0"/>
              <a:t>,</a:t>
            </a:r>
          </a:p>
          <a:p>
            <a:r>
              <a:rPr lang="fr-FR" dirty="0"/>
              <a:t>Cote contenu, on a </a:t>
            </a:r>
            <a:r>
              <a:rPr lang="fr-FR" dirty="0" err="1"/>
              <a:t>integre</a:t>
            </a:r>
            <a:r>
              <a:rPr lang="fr-FR" dirty="0"/>
              <a:t> de l'anti-hallucination et une FAQ </a:t>
            </a:r>
            <a:r>
              <a:rPr lang="fr-FR" dirty="0" err="1"/>
              <a:t>generee</a:t>
            </a:r>
            <a:r>
              <a:rPr lang="fr-FR" dirty="0"/>
              <a:t> automatiquement si elle est absente, pour garder un contenu </a:t>
            </a:r>
            <a:r>
              <a:rPr lang="fr-FR" dirty="0" err="1"/>
              <a:t>metier</a:t>
            </a:r>
            <a:r>
              <a:rPr lang="fr-FR" dirty="0"/>
              <a:t> pertinent.</a:t>
            </a:r>
          </a:p>
          <a:p>
            <a:endParaRPr lang="fr-FR" dirty="0"/>
          </a:p>
          <a:p>
            <a:r>
              <a:rPr lang="fr-FR" dirty="0"/>
              <a:t>Et enfin, deux points de </a:t>
            </a:r>
            <a:r>
              <a:rPr lang="fr-FR" dirty="0" err="1"/>
              <a:t>fiabilite</a:t>
            </a:r>
            <a:r>
              <a:rPr lang="fr-FR" dirty="0"/>
              <a:t> </a:t>
            </a:r>
            <a:r>
              <a:rPr lang="fr-FR" dirty="0" err="1"/>
              <a:t>operationnelle</a:t>
            </a:r>
            <a:r>
              <a:rPr lang="fr-FR" dirty="0"/>
              <a:t> essentiels : une reprise cross-job qui va </a:t>
            </a:r>
            <a:r>
              <a:rPr lang="fr-FR" dirty="0" err="1"/>
              <a:t>au-dela</a:t>
            </a:r>
            <a:r>
              <a:rPr lang="fr-FR" dirty="0"/>
              <a:t> de la simple pause, on peut repartir </a:t>
            </a:r>
            <a:r>
              <a:rPr lang="fr-FR" dirty="0" err="1"/>
              <a:t>apres</a:t>
            </a:r>
            <a:r>
              <a:rPr lang="fr-FR" dirty="0"/>
              <a:t> un quota atteint, un crash ou un </a:t>
            </a:r>
            <a:r>
              <a:rPr lang="fr-FR" dirty="0" err="1"/>
              <a:t>redemarrage</a:t>
            </a:r>
            <a:r>
              <a:rPr lang="fr-FR" dirty="0"/>
              <a:t>,</a:t>
            </a:r>
          </a:p>
          <a:p>
            <a:endParaRPr lang="fr-FR" dirty="0"/>
          </a:p>
          <a:p>
            <a:r>
              <a:rPr lang="fr-FR" dirty="0"/>
              <a:t> </a:t>
            </a:r>
            <a:r>
              <a:rPr lang="fr-FR" dirty="0" err="1"/>
              <a:t>deduplication</a:t>
            </a:r>
            <a:r>
              <a:rPr lang="fr-FR" dirty="0"/>
              <a:t> intelligente </a:t>
            </a:r>
            <a:r>
              <a:rPr lang="fr-FR" dirty="0" err="1"/>
              <a:t>basee</a:t>
            </a:r>
            <a:r>
              <a:rPr lang="fr-FR" dirty="0"/>
              <a:t> sur le Place ID, le </a:t>
            </a:r>
            <a:r>
              <a:rPr lang="fr-FR" dirty="0" err="1"/>
              <a:t>telephone</a:t>
            </a:r>
            <a:r>
              <a:rPr lang="fr-FR" dirty="0"/>
              <a:t> ou le nom et la ville, pour garder une base propre, sans doublons.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D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Ensuite j’entame </a:t>
            </a:r>
            <a:r>
              <a:rPr lang="fr-FR" dirty="0" err="1"/>
              <a:t>Resultat</a:t>
            </a:r>
            <a:r>
              <a:rPr lang="fr-FR" dirty="0"/>
              <a:t> Obtenus</a:t>
            </a:r>
          </a:p>
          <a:p>
            <a:endParaRPr dirty="0"/>
          </a:p>
          <a:p>
            <a:endParaRPr dirty="0"/>
          </a:p>
          <a:p>
            <a:r>
              <a:rPr dirty="0"/>
              <a:t>Sur le temps : on passe de trois a cinq </a:t>
            </a:r>
            <a:r>
              <a:rPr dirty="0" err="1"/>
              <a:t>heures</a:t>
            </a:r>
            <a:r>
              <a:rPr dirty="0"/>
              <a:t> de tri </a:t>
            </a:r>
            <a:r>
              <a:rPr dirty="0" err="1"/>
              <a:t>manuel</a:t>
            </a:r>
            <a:r>
              <a:rPr dirty="0"/>
              <a:t> sur Google Maps a </a:t>
            </a:r>
            <a:r>
              <a:rPr dirty="0" err="1"/>
              <a:t>moins</a:t>
            </a:r>
            <a:r>
              <a:rPr dirty="0"/>
              <a:t> de dix minutes, gain de temps massif.</a:t>
            </a:r>
          </a:p>
          <a:p>
            <a:endParaRPr dirty="0"/>
          </a:p>
          <a:p>
            <a:r>
              <a:rPr dirty="0"/>
              <a:t>Sur la demo : un </a:t>
            </a:r>
            <a:r>
              <a:rPr dirty="0" err="1"/>
              <a:t>clic</a:t>
            </a:r>
            <a:r>
              <a:rPr dirty="0"/>
              <a:t> </a:t>
            </a:r>
            <a:r>
              <a:rPr dirty="0" err="1"/>
              <a:t>suffit</a:t>
            </a:r>
            <a:r>
              <a:rPr dirty="0"/>
              <a:t> pour </a:t>
            </a:r>
            <a:r>
              <a:rPr dirty="0" err="1"/>
              <a:t>generer</a:t>
            </a:r>
            <a:r>
              <a:rPr dirty="0"/>
              <a:t> et deployer la vitrine, </a:t>
            </a:r>
            <a:r>
              <a:rPr dirty="0" err="1"/>
              <a:t>avant</a:t>
            </a:r>
            <a:r>
              <a:rPr dirty="0"/>
              <a:t> meme le </a:t>
            </a:r>
            <a:r>
              <a:rPr dirty="0" err="1"/>
              <a:t>rendez-vous</a:t>
            </a:r>
            <a:r>
              <a:rPr lang="fr-FR" dirty="0"/>
              <a:t>,</a:t>
            </a:r>
            <a:endParaRPr dirty="0"/>
          </a:p>
          <a:p>
            <a:r>
              <a:rPr dirty="0"/>
              <a:t>Sur la conversion : on vise un </a:t>
            </a:r>
            <a:r>
              <a:rPr dirty="0" err="1"/>
              <a:t>doublement</a:t>
            </a:r>
            <a:r>
              <a:rPr dirty="0"/>
              <a:t> du </a:t>
            </a:r>
            <a:r>
              <a:rPr dirty="0" err="1"/>
              <a:t>taux</a:t>
            </a:r>
            <a:r>
              <a:rPr dirty="0"/>
              <a:t> de conversion grace a la demo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 </a:t>
            </a:r>
            <a:r>
              <a:rPr dirty="0" err="1"/>
              <a:t>montree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direct.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Et sur </a:t>
            </a:r>
            <a:r>
              <a:rPr lang="fr-FR" dirty="0"/>
              <a:t>Data payante: </a:t>
            </a:r>
            <a:r>
              <a:rPr dirty="0"/>
              <a:t>zero </a:t>
            </a:r>
            <a:r>
              <a:rPr lang="fr-FR" dirty="0"/>
              <a:t> cout data </a:t>
            </a:r>
            <a:r>
              <a:rPr lang="fr-FR" dirty="0" err="1"/>
              <a:t>evité</a:t>
            </a:r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</a:t>
            </a:r>
            <a:r>
              <a:rPr dirty="0"/>
              <a:t> </a:t>
            </a:r>
            <a:r>
              <a:rPr dirty="0" err="1"/>
              <a:t>conclure</a:t>
            </a:r>
            <a:r>
              <a:rPr dirty="0"/>
              <a:t> sur la </a:t>
            </a:r>
            <a:r>
              <a:rPr dirty="0" err="1"/>
              <a:t>valeur</a:t>
            </a:r>
            <a:r>
              <a:rPr dirty="0"/>
              <a:t> </a:t>
            </a:r>
            <a:r>
              <a:rPr dirty="0" err="1"/>
              <a:t>metier</a:t>
            </a:r>
            <a:r>
              <a:rPr dirty="0"/>
              <a:t>, je </a:t>
            </a:r>
            <a:r>
              <a:rPr dirty="0" err="1"/>
              <a:t>retiens</a:t>
            </a:r>
            <a:r>
              <a:rPr dirty="0"/>
              <a:t> cinq points.</a:t>
            </a:r>
          </a:p>
          <a:p>
            <a:endParaRPr dirty="0"/>
          </a:p>
          <a:p>
            <a:r>
              <a:rPr dirty="0"/>
              <a:t>Un, des prospects qualifies :</a:t>
            </a:r>
            <a:r>
              <a:rPr lang="fr-FR" dirty="0"/>
              <a:t> on priorise les commerces qui n'ont pas de vrai site.</a:t>
            </a:r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deux, l'industrialisation : des campagnes a l'</a:t>
            </a:r>
            <a:r>
              <a:rPr lang="fr-FR" dirty="0" err="1"/>
              <a:t>echelle</a:t>
            </a:r>
            <a:r>
              <a:rPr lang="fr-FR" dirty="0"/>
              <a:t> de la France, avec reprise et gestion de quotas.</a:t>
            </a:r>
          </a:p>
          <a:p>
            <a:endParaRPr lang="fr-FR" dirty="0"/>
          </a:p>
          <a:p>
            <a:r>
              <a:rPr lang="fr-FR" dirty="0"/>
              <a:t>trois</a:t>
            </a:r>
            <a:r>
              <a:rPr dirty="0"/>
              <a:t>, on arrive avec </a:t>
            </a:r>
            <a:r>
              <a:rPr dirty="0" err="1"/>
              <a:t>une</a:t>
            </a:r>
            <a:r>
              <a:rPr dirty="0"/>
              <a:t> fiche complete et </a:t>
            </a:r>
            <a:r>
              <a:rPr dirty="0" err="1"/>
              <a:t>une</a:t>
            </a:r>
            <a:r>
              <a:rPr dirty="0"/>
              <a:t> vitrine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 du prospect.</a:t>
            </a:r>
          </a:p>
          <a:p>
            <a:endParaRPr dirty="0"/>
          </a:p>
          <a:p>
            <a:r>
              <a:rPr lang="fr-FR" dirty="0"/>
              <a:t>Quatre </a:t>
            </a:r>
            <a:r>
              <a:rPr dirty="0"/>
              <a:t>, un cycle commercial </a:t>
            </a:r>
            <a:r>
              <a:rPr dirty="0" err="1"/>
              <a:t>accelere</a:t>
            </a:r>
            <a:r>
              <a:rPr dirty="0"/>
              <a:t> : </a:t>
            </a:r>
            <a:r>
              <a:rPr dirty="0" err="1"/>
              <a:t>moins</a:t>
            </a:r>
            <a:r>
              <a:rPr dirty="0"/>
              <a:t> de travail </a:t>
            </a:r>
            <a:r>
              <a:rPr dirty="0" err="1"/>
              <a:t>manuel</a:t>
            </a:r>
            <a:r>
              <a:rPr dirty="0"/>
              <a:t>, et </a:t>
            </a:r>
            <a:r>
              <a:rPr dirty="0" err="1"/>
              <a:t>davantage</a:t>
            </a:r>
            <a:r>
              <a:rPr dirty="0"/>
              <a:t> de </a:t>
            </a:r>
            <a:r>
              <a:rPr dirty="0" err="1"/>
              <a:t>rendez-vous</a:t>
            </a:r>
            <a:r>
              <a:rPr dirty="0"/>
              <a:t> </a:t>
            </a:r>
            <a:r>
              <a:rPr dirty="0" err="1"/>
              <a:t>vraiment</a:t>
            </a:r>
            <a:r>
              <a:rPr dirty="0"/>
              <a:t> </a:t>
            </a:r>
            <a:r>
              <a:rPr dirty="0" err="1"/>
              <a:t>utiles</a:t>
            </a:r>
            <a:r>
              <a:rPr dirty="0"/>
              <a:t>.</a:t>
            </a:r>
            <a:endParaRPr lang="fr-FR" dirty="0"/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Et cinq, la </a:t>
            </a:r>
            <a:r>
              <a:rPr lang="fr-FR" dirty="0" err="1"/>
              <a:t>differenciation</a:t>
            </a:r>
            <a:r>
              <a:rPr lang="fr-FR" dirty="0"/>
              <a:t> : on montre </a:t>
            </a:r>
            <a:r>
              <a:rPr lang="fr-FR" dirty="0" err="1"/>
              <a:t>litteralement</a:t>
            </a:r>
            <a:r>
              <a:rPr lang="fr-FR" dirty="0"/>
              <a:t> au prospect a quoi pourrait ressembler son futur site, ce qu'aucun concurrent ne fait a ce stade.</a:t>
            </a:r>
          </a:p>
          <a:p>
            <a:endParaRPr dirty="0"/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C'est cette combinaison qui fait, je crois, toute la force du projet.</a:t>
            </a:r>
            <a:br>
              <a:rPr lang="fr-FR" dirty="0"/>
            </a:br>
            <a:endParaRPr lang="fr-FR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Merci beaucoup pour votre attention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494B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479128" y="2331720"/>
            <a:ext cx="1371600" cy="1371600"/>
          </a:xfrm>
          <a:prstGeom prst="ellipse">
            <a:avLst/>
          </a:prstGeom>
          <a:solidFill>
            <a:srgbClr val="695D7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assets/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168" y="26974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58200" y="3977640"/>
            <a:ext cx="34134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de projet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458200" y="4709160"/>
            <a:ext cx="3413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DC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intelligente pour TPE / PME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F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457200" cy="384048"/>
          </a:xfrm>
          <a:prstGeom prst="rect">
            <a:avLst/>
          </a:prstGeom>
          <a:solidFill>
            <a:srgbClr val="494B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40080" y="1463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14173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préliminaire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075688"/>
            <a:ext cx="658368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640080" y="2121408"/>
            <a:ext cx="457200" cy="384048"/>
          </a:xfrm>
          <a:prstGeom prst="rect">
            <a:avLst/>
          </a:prstGeom>
          <a:solidFill>
            <a:srgbClr val="695D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40080" y="21214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80160" y="207568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2734056"/>
            <a:ext cx="658368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640080" y="2779776"/>
            <a:ext cx="457200" cy="384048"/>
          </a:xfrm>
          <a:prstGeom prst="rect">
            <a:avLst/>
          </a:prstGeom>
          <a:solidFill>
            <a:srgbClr val="9F5B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40080" y="27797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80160" y="273405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fonctionnel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" y="3392424"/>
            <a:ext cx="658368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640080" y="3438144"/>
            <a:ext cx="457200" cy="384048"/>
          </a:xfrm>
          <a:prstGeom prst="rect">
            <a:avLst/>
          </a:prstGeom>
          <a:solidFill>
            <a:srgbClr val="D870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640080" y="34381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80160" y="339242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0080" y="4050792"/>
            <a:ext cx="658368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640080" y="4096512"/>
            <a:ext cx="457200" cy="384048"/>
          </a:xfrm>
          <a:prstGeom prst="rect">
            <a:avLst/>
          </a:prstGeom>
          <a:solidFill>
            <a:srgbClr val="494B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640080" y="40965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280160" y="405079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des 4 modules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40080" y="4709160"/>
            <a:ext cx="658368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640080" y="4754880"/>
            <a:ext cx="457200" cy="384048"/>
          </a:xfrm>
          <a:prstGeom prst="rect">
            <a:avLst/>
          </a:prstGeom>
          <a:solidFill>
            <a:srgbClr val="695D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640080" y="4754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280160" y="470916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obtenus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640080" y="5413248"/>
            <a:ext cx="457200" cy="384048"/>
          </a:xfrm>
          <a:prstGeom prst="rect">
            <a:avLst/>
          </a:prstGeom>
          <a:solidFill>
            <a:srgbClr val="9F5B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640080" y="54132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280160" y="536752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métier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3200" noProof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Etude Préliminaire</a:t>
            </a:r>
            <a:endParaRPr lang="fr-FR" sz="32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b="1" kern="0" spc="100" noProof="0" dirty="0">
                <a:solidFill>
                  <a:srgbClr val="9F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L'ÉCOSYSTÈME DE LA PROSPECTION</a:t>
            </a:r>
            <a:endParaRPr lang="fr-FR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fr-FR" sz="1300" noProof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</a:t>
            </a:r>
            <a:r>
              <a:rPr lang="fr-FR" sz="1300" noProof="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r>
              <a:rPr lang="fr-FR" sz="1300" noProof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Pages Jaunes regorgent de commerces locaux… souvent sans site web capable de convertir.</a:t>
            </a:r>
            <a:endParaRPr lang="fr-FR" sz="13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fr-FR" sz="1300" noProof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contacts sont là, mais bruts : aucune priorisation, aucune qualification commerciale.</a:t>
            </a:r>
            <a:endParaRPr lang="fr-F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fr-FR" sz="1300" noProof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n'avons pas besoin de listes — nous avons besoin de prospects actionnables.</a:t>
            </a:r>
            <a:endParaRPr lang="fr-FR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fr-FR" sz="1300" noProof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commerce sans vrai site n'est pas une donnée : c'est une opportunité de conversion.</a:t>
            </a:r>
            <a:endParaRPr lang="fr-FR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2734056" cy="457200"/>
          </a:xfrm>
          <a:prstGeom prst="rect">
            <a:avLst/>
          </a:prstGeom>
          <a:solidFill>
            <a:srgbClr val="494B69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6035040" y="160020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Site Web</a:t>
            </a:r>
            <a:endParaRPr lang="fr-FR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6035040" y="2057400"/>
            <a:ext cx="2734056" cy="172821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6035040" y="2148840"/>
            <a:ext cx="2734056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fr-FR" sz="3400" b="1" noProof="0" dirty="0">
                <a:solidFill>
                  <a:srgbClr val="494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fr-FR" sz="3400" noProof="0" dirty="0"/>
          </a:p>
        </p:txBody>
      </p:sp>
      <p:sp>
        <p:nvSpPr>
          <p:cNvPr id="12" name="Text 10"/>
          <p:cNvSpPr/>
          <p:nvPr/>
        </p:nvSpPr>
        <p:spPr>
          <a:xfrm>
            <a:off x="6217920" y="3049524"/>
            <a:ext cx="2368296" cy="72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fr-FR" sz="1050" noProof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commerces locaux n'ont pas de vrai site vitrine exploitable.</a:t>
            </a:r>
            <a:endParaRPr lang="fr-FR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8970264" y="1600200"/>
            <a:ext cx="2734056" cy="457200"/>
          </a:xfrm>
          <a:prstGeom prst="rect">
            <a:avLst/>
          </a:prstGeom>
          <a:solidFill>
            <a:srgbClr val="695D7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8970264" y="160020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Social</a:t>
            </a:r>
            <a:endParaRPr lang="fr-FR" sz="1300" noProof="0" dirty="0"/>
          </a:p>
        </p:txBody>
      </p:sp>
      <p:sp>
        <p:nvSpPr>
          <p:cNvPr id="15" name="Shape 13"/>
          <p:cNvSpPr/>
          <p:nvPr/>
        </p:nvSpPr>
        <p:spPr>
          <a:xfrm>
            <a:off x="8970264" y="2057400"/>
            <a:ext cx="2734056" cy="172821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8970264" y="2148840"/>
            <a:ext cx="2734056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fr-FR" sz="3400" b="1" noProof="0" dirty="0">
                <a:solidFill>
                  <a:srgbClr val="695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5</a:t>
            </a:r>
            <a:endParaRPr lang="fr-FR" sz="3400" noProof="0" dirty="0"/>
          </a:p>
        </p:txBody>
      </p:sp>
      <p:sp>
        <p:nvSpPr>
          <p:cNvPr id="17" name="Text 15"/>
          <p:cNvSpPr/>
          <p:nvPr/>
        </p:nvSpPr>
        <p:spPr>
          <a:xfrm>
            <a:off x="9153144" y="3049524"/>
            <a:ext cx="2368296" cy="72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fr-FR" sz="1050" noProof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limite aux réseaux sociaux, sans vitrine web pour convertir l'intérêt.</a:t>
            </a:r>
            <a:endParaRPr lang="fr-FR" sz="1050" noProof="0" dirty="0"/>
          </a:p>
        </p:txBody>
      </p:sp>
      <p:sp>
        <p:nvSpPr>
          <p:cNvPr id="18" name="Shape 16"/>
          <p:cNvSpPr/>
          <p:nvPr/>
        </p:nvSpPr>
        <p:spPr>
          <a:xfrm>
            <a:off x="6035040" y="3986784"/>
            <a:ext cx="2734056" cy="457200"/>
          </a:xfrm>
          <a:prstGeom prst="rect">
            <a:avLst/>
          </a:prstGeom>
          <a:solidFill>
            <a:srgbClr val="9F5B7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6035040" y="398678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Perdu</a:t>
            </a:r>
            <a:endParaRPr lang="fr-FR" sz="1300" noProof="0" dirty="0"/>
          </a:p>
        </p:txBody>
      </p:sp>
      <p:sp>
        <p:nvSpPr>
          <p:cNvPr id="20" name="Shape 18"/>
          <p:cNvSpPr/>
          <p:nvPr/>
        </p:nvSpPr>
        <p:spPr>
          <a:xfrm>
            <a:off x="6035040" y="4443984"/>
            <a:ext cx="2734056" cy="172821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6035040" y="4535424"/>
            <a:ext cx="2734056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fr-FR" sz="3400" b="1" noProof="0" dirty="0">
                <a:solidFill>
                  <a:srgbClr val="9F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h</a:t>
            </a:r>
            <a:endParaRPr lang="fr-FR" sz="3400" noProof="0" dirty="0"/>
          </a:p>
        </p:txBody>
      </p:sp>
      <p:sp>
        <p:nvSpPr>
          <p:cNvPr id="22" name="Text 20"/>
          <p:cNvSpPr/>
          <p:nvPr/>
        </p:nvSpPr>
        <p:spPr>
          <a:xfrm>
            <a:off x="6217920" y="5436108"/>
            <a:ext cx="2368296" cy="72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fr-FR" sz="1050" noProof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qualifier à la main une liste Google </a:t>
            </a:r>
            <a:r>
              <a:rPr lang="fr-FR" sz="1050" noProof="0" dirty="0" err="1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r>
              <a:rPr lang="fr-FR" sz="1050" noProof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avant un rendez-vous.</a:t>
            </a:r>
            <a:endParaRPr lang="fr-FR" sz="1050" noProof="0" dirty="0"/>
          </a:p>
        </p:txBody>
      </p:sp>
      <p:sp>
        <p:nvSpPr>
          <p:cNvPr id="23" name="Shape 21"/>
          <p:cNvSpPr/>
          <p:nvPr/>
        </p:nvSpPr>
        <p:spPr>
          <a:xfrm>
            <a:off x="8970264" y="3986784"/>
            <a:ext cx="2734056" cy="457200"/>
          </a:xfrm>
          <a:prstGeom prst="rect">
            <a:avLst/>
          </a:prstGeom>
          <a:solidFill>
            <a:srgbClr val="D8707C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8970264" y="398678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Preuve Visuelle</a:t>
            </a:r>
            <a:endParaRPr lang="fr-FR" sz="1300" noProof="0" dirty="0"/>
          </a:p>
        </p:txBody>
      </p:sp>
      <p:sp>
        <p:nvSpPr>
          <p:cNvPr id="25" name="Shape 23"/>
          <p:cNvSpPr/>
          <p:nvPr/>
        </p:nvSpPr>
        <p:spPr>
          <a:xfrm>
            <a:off x="8970264" y="4443984"/>
            <a:ext cx="2734056" cy="172821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8970264" y="4535424"/>
            <a:ext cx="2734056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fr-FR" sz="3400" b="1" noProof="0" dirty="0">
                <a:solidFill>
                  <a:srgbClr val="D87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fr-FR" sz="3400" noProof="0" dirty="0"/>
          </a:p>
        </p:txBody>
      </p:sp>
      <p:sp>
        <p:nvSpPr>
          <p:cNvPr id="27" name="Text 25"/>
          <p:cNvSpPr/>
          <p:nvPr/>
        </p:nvSpPr>
        <p:spPr>
          <a:xfrm>
            <a:off x="9153144" y="5436108"/>
            <a:ext cx="2368296" cy="72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fr-FR" sz="1050" noProof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décideurs TPE/PME ont besoin de “voir” avant d'acheter.</a:t>
            </a:r>
            <a:endParaRPr lang="fr-FR" sz="1050" noProof="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000" noProof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fr-FR" sz="1000" noProof="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IA · Présentation de projet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Etude Préliminaire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F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65960" cy="2148840"/>
          </a:xfrm>
          <a:prstGeom prst="rect">
            <a:avLst/>
          </a:prstGeom>
          <a:solidFill>
            <a:srgbClr val="494B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783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coûteuse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23160" y="1691640"/>
            <a:ext cx="3512668" cy="2148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606040" y="1783080"/>
            <a:ext cx="31469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Obtenir une base précise, alignée à nos besoins, est difficile — et souvent très chère. Les collecter à la main sur Google Maps prend un temps considérable.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55868" y="1691640"/>
            <a:ext cx="1965960" cy="2148840"/>
          </a:xfrm>
          <a:prstGeom prst="rect">
            <a:avLst/>
          </a:prstGeom>
          <a:solidFill>
            <a:srgbClr val="695D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347308" y="1691640"/>
            <a:ext cx="1783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1828" y="1691640"/>
            <a:ext cx="3512668" cy="2148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404708" y="1783080"/>
            <a:ext cx="31469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de savoir vite si un commerce a un vrai site, un lien social, ou une URL morte.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1965960" cy="2148840"/>
          </a:xfrm>
          <a:prstGeom prst="rect">
            <a:avLst/>
          </a:prstGeom>
          <a:solidFill>
            <a:srgbClr val="9F5B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1783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à risque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423160" y="4160520"/>
            <a:ext cx="3512668" cy="2148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606040" y="4251960"/>
            <a:ext cx="31469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une démo avant que le prospect n'accepte le projet est long… et souvent vain si l'accord n'aboutit pas.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5868" y="4160520"/>
            <a:ext cx="1965960" cy="2148840"/>
          </a:xfrm>
          <a:prstGeom prst="rect">
            <a:avLst/>
          </a:prstGeom>
          <a:solidFill>
            <a:srgbClr val="D870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347308" y="4160520"/>
            <a:ext cx="1783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Fuite commerciale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1828" y="4160520"/>
            <a:ext cx="3512668" cy="2148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404708" y="4251960"/>
            <a:ext cx="31469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preuve tangible (vitrine en ligne), le discours reste abstrait et la conversion ralentit.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IA · Présentation de projet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L'objectif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66812" y="1828800"/>
            <a:ext cx="594360" cy="594360"/>
          </a:xfrm>
          <a:prstGeom prst="ellipse">
            <a:avLst/>
          </a:prstGeom>
          <a:solidFill>
            <a:srgbClr val="494B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466812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2613584" cy="24688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21792" y="2834640"/>
            <a:ext cx="2284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Industrialiser la découverte de TPE/PME françaises sans véritable présence web.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4716" y="1828800"/>
            <a:ext cx="594360" cy="594360"/>
          </a:xfrm>
          <a:prstGeom prst="ellipse">
            <a:avLst/>
          </a:prstGeom>
          <a:solidFill>
            <a:srgbClr val="695D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354716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45104" y="2651760"/>
            <a:ext cx="2613584" cy="24688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509696" y="2834640"/>
            <a:ext cx="2284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Qualifier automatiquement chaque prospect : site existe, n'existe pas, ou réseau social.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42620" y="1828800"/>
            <a:ext cx="594360" cy="594360"/>
          </a:xfrm>
          <a:prstGeom prst="ellipse">
            <a:avLst/>
          </a:prstGeom>
          <a:solidFill>
            <a:srgbClr val="9F5B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24262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3008" y="2651760"/>
            <a:ext cx="2613584" cy="24688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397600" y="2834640"/>
            <a:ext cx="2284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Enrichir les fiches commerciales avec Maps + Pages Jaunes pour mieux convaincre.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30523" y="1828800"/>
            <a:ext cx="594360" cy="594360"/>
          </a:xfrm>
          <a:prstGeom prst="ellipse">
            <a:avLst/>
          </a:prstGeom>
          <a:solidFill>
            <a:srgbClr val="D870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130523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20911" y="2651760"/>
            <a:ext cx="2613584" cy="24688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285503" y="2834640"/>
            <a:ext cx="2284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 et déployer une vitrine IA en ligne — preuve concrète pour la conversion.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IA · Présentation de projet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fonctionnel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F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MODULES PRODUIT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442134" cy="685800"/>
          </a:xfrm>
          <a:prstGeom prst="rect">
            <a:avLst/>
          </a:prstGeom>
          <a:solidFill>
            <a:srgbClr val="494B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en masse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442134" cy="3291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03504" y="2606040"/>
            <a:ext cx="21495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 nationale ou ciblée</a:t>
            </a:r>
            <a:endParaRPr lang="en-US" sz="1100" dirty="0"/>
          </a:p>
          <a:p>
            <a:pPr marL="152400" indent="-1524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Villes × catégories métiers</a:t>
            </a:r>
            <a:endParaRPr lang="en-US" sz="1100" dirty="0"/>
          </a:p>
          <a:p>
            <a:pPr marL="152400" indent="-1524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/ reprise / quotas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99334" y="37033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02254" y="1737360"/>
            <a:ext cx="2442134" cy="685800"/>
          </a:xfrm>
          <a:prstGeom prst="rect">
            <a:avLst/>
          </a:prstGeom>
          <a:solidFill>
            <a:srgbClr val="695D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493694" y="1737360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 web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02254" y="2423160"/>
            <a:ext cx="2442134" cy="3291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548558" y="2606040"/>
            <a:ext cx="21495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existe</a:t>
            </a:r>
            <a:endParaRPr lang="en-US" sz="1100" dirty="0"/>
          </a:p>
          <a:p>
            <a:pPr marL="152400" indent="-1524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n'existe pas</a:t>
            </a:r>
            <a:endParaRPr lang="en-US" sz="1100" dirty="0"/>
          </a:p>
          <a:p>
            <a:pPr marL="152400" indent="-1524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social uniquement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44388" y="37033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47308" y="1737360"/>
            <a:ext cx="2442134" cy="685800"/>
          </a:xfrm>
          <a:prstGeom prst="rect">
            <a:avLst/>
          </a:prstGeom>
          <a:solidFill>
            <a:srgbClr val="D870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38748" y="1737360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Enrichissement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47308" y="2423160"/>
            <a:ext cx="2442134" cy="3291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93612" y="2606040"/>
            <a:ext cx="21495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primaire</a:t>
            </a:r>
            <a:endParaRPr lang="en-US" sz="1100" dirty="0"/>
          </a:p>
          <a:p>
            <a:pPr marL="152400" indent="-1524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Jaunes ciblées</a:t>
            </a:r>
            <a:endParaRPr lang="en-US" sz="1100" dirty="0"/>
          </a:p>
          <a:p>
            <a:pPr marL="152400" indent="-1524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Avis, photos, contacts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89441" y="37033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292361" y="1737360"/>
            <a:ext cx="2442134" cy="685800"/>
          </a:xfrm>
          <a:prstGeom prst="rect">
            <a:avLst/>
          </a:prstGeom>
          <a:solidFill>
            <a:srgbClr val="FDCD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383801" y="1737360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démo IA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292361" y="2423160"/>
            <a:ext cx="2442134" cy="3291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9438665" y="2606040"/>
            <a:ext cx="214952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Vitrine multi-pages</a:t>
            </a:r>
            <a:endParaRPr lang="en-US" sz="1100" dirty="0"/>
          </a:p>
          <a:p>
            <a:pPr marL="152400" indent="-1524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 IA &amp; versions</a:t>
            </a:r>
            <a:endParaRPr lang="en-US" sz="1100" dirty="0"/>
          </a:p>
          <a:p>
            <a:pPr marL="152400" indent="-1524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Vercel en 1 clic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IA · Présentation de projet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916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494B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0" y="1691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9F5B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Résilience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180015" y="1417320"/>
            <a:ext cx="1097280" cy="1097280"/>
          </a:xfrm>
          <a:prstGeom prst="ellipse">
            <a:avLst/>
          </a:prstGeom>
          <a:solidFill>
            <a:srgbClr val="9F5B7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/home/claude/assets/icon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607" y="1581912"/>
            <a:ext cx="777240" cy="777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4688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20000"/>
              </a:lnSpc>
              <a:spcAft>
                <a:spcPts val="2200"/>
              </a:spcAft>
              <a:buSzPct val="100000"/>
              <a:buChar char="▸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React + TypeScript + Tailwind</a:t>
            </a:r>
            <a:endParaRPr lang="en-US" sz="1400" dirty="0"/>
          </a:p>
          <a:p>
            <a:pPr marL="203200" indent="-203200" algn="l">
              <a:lnSpc>
                <a:spcPct val="120000"/>
              </a:lnSpc>
              <a:spcAft>
                <a:spcPts val="2200"/>
              </a:spcAft>
              <a:buSzPct val="100000"/>
              <a:buChar char="▸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 Django / DRF — API et orchestration des tâches</a:t>
            </a:r>
            <a:endParaRPr lang="en-US" sz="1400" dirty="0"/>
          </a:p>
          <a:p>
            <a:pPr marL="203200" indent="-203200" algn="l">
              <a:lnSpc>
                <a:spcPct val="120000"/>
              </a:lnSpc>
              <a:spcAft>
                <a:spcPts val="2200"/>
              </a:spcAft>
              <a:buSzPct val="100000"/>
              <a:buChar char="▸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— collecte Google Maps et Pages Jaunes</a:t>
            </a:r>
            <a:endParaRPr lang="en-US" sz="1400" dirty="0"/>
          </a:p>
          <a:p>
            <a:pPr marL="203200" indent="-203200" algn="l">
              <a:lnSpc>
                <a:spcPct val="120000"/>
              </a:lnSpc>
              <a:spcAft>
                <a:spcPts val="2200"/>
              </a:spcAft>
              <a:buSzPct val="100000"/>
              <a:buChar char="▸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— prospects, campagnes, historique des démos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0" y="24688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20000"/>
              </a:lnSpc>
              <a:spcAft>
                <a:spcPts val="2200"/>
              </a:spcAft>
              <a:buSzPct val="100000"/>
              <a:buChar char="▸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web : existe / n'existe pas / réseau social</a:t>
            </a:r>
            <a:endParaRPr lang="en-US" sz="1400" dirty="0"/>
          </a:p>
          <a:p>
            <a:pPr marL="203200" indent="-203200" algn="l">
              <a:lnSpc>
                <a:spcPct val="120000"/>
              </a:lnSpc>
              <a:spcAft>
                <a:spcPts val="2200"/>
              </a:spcAft>
              <a:buSzPct val="100000"/>
              <a:buChar char="▸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Claude Sonnet 5 + Gemini en secours</a:t>
            </a:r>
            <a:endParaRPr lang="en-US" sz="1400" dirty="0"/>
          </a:p>
          <a:p>
            <a:pPr marL="203200" indent="-203200" algn="l">
              <a:lnSpc>
                <a:spcPct val="120000"/>
              </a:lnSpc>
              <a:spcAft>
                <a:spcPts val="2200"/>
              </a:spcAft>
              <a:buSzPct val="100000"/>
              <a:buChar char="▸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+ React multi-pages pour chaque prospect</a:t>
            </a:r>
            <a:endParaRPr lang="en-US" sz="1400" dirty="0"/>
          </a:p>
          <a:p>
            <a:pPr marL="203200" indent="-203200" algn="l">
              <a:lnSpc>
                <a:spcPct val="120000"/>
              </a:lnSpc>
              <a:spcAft>
                <a:spcPts val="2200"/>
              </a:spcAft>
              <a:buSzPct val="100000"/>
              <a:buChar char="▸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en un clic vers Vercel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IA · Présentation de projet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: Collecte en masse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F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DES 4 MODULES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846320" cy="3840480"/>
          </a:xfrm>
          <a:prstGeom prst="roundRect">
            <a:avLst>
              <a:gd name="adj" fmla="val 1905"/>
            </a:avLst>
          </a:prstGeom>
          <a:solidFill>
            <a:srgbClr val="9F5B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20340" y="1805940"/>
            <a:ext cx="685800" cy="685800"/>
          </a:xfrm>
          <a:prstGeom prst="ellipse">
            <a:avLst/>
          </a:prstGeom>
          <a:solidFill>
            <a:srgbClr val="9F5B72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assets/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9476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 module livre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 nationale ou ciblée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Villes × métiers + quotas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/ reprise du job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4846320" cy="3840480"/>
          </a:xfrm>
          <a:prstGeom prst="roundRect">
            <a:avLst>
              <a:gd name="adj" fmla="val 1905"/>
            </a:avLst>
          </a:prstGeom>
          <a:solidFill>
            <a:srgbClr val="695D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8389620" y="1805940"/>
            <a:ext cx="685800" cy="685800"/>
          </a:xfrm>
          <a:prstGeom prst="ellipse">
            <a:avLst/>
          </a:prstGeom>
          <a:solidFill>
            <a:srgbClr val="695D7A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assets/icon_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19476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immédiate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29400" y="3017520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Remplit le parcours commercial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Couvre le marché France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 aux prospects sans site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0" y="3703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IA · Présentation de projet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: Qualification web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F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DES 4 MODULES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846320" cy="3840480"/>
          </a:xfrm>
          <a:prstGeom prst="roundRect">
            <a:avLst>
              <a:gd name="adj" fmla="val 1905"/>
            </a:avLst>
          </a:prstGeom>
          <a:solidFill>
            <a:srgbClr val="9F5B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20340" y="1805940"/>
            <a:ext cx="685800" cy="685800"/>
          </a:xfrm>
          <a:prstGeom prst="ellipse">
            <a:avLst/>
          </a:prstGeom>
          <a:solidFill>
            <a:srgbClr val="9F5B72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assets/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9476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du lien annuaire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/ n'existe pas / social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stocké sur la fiche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4846320" cy="3840480"/>
          </a:xfrm>
          <a:prstGeom prst="roundRect">
            <a:avLst>
              <a:gd name="adj" fmla="val 1905"/>
            </a:avLst>
          </a:prstGeom>
          <a:solidFill>
            <a:srgbClr val="695D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8389620" y="1805940"/>
            <a:ext cx="685800" cy="685800"/>
          </a:xfrm>
          <a:prstGeom prst="ellipse">
            <a:avLst/>
          </a:prstGeom>
          <a:solidFill>
            <a:srgbClr val="695D7A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assets/icon_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19476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c'est critique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29400" y="3017520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Évite les prospects déjà équipés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 aux opportunités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rapide qu'un audit manuel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0" y="3703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IA · Présentation de projet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: Enrichissement croisé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F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DES 4 MODULES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846320" cy="3840480"/>
          </a:xfrm>
          <a:prstGeom prst="roundRect">
            <a:avLst>
              <a:gd name="adj" fmla="val 1905"/>
            </a:avLst>
          </a:prstGeom>
          <a:solidFill>
            <a:srgbClr val="9F5B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20340" y="1805940"/>
            <a:ext cx="685800" cy="685800"/>
          </a:xfrm>
          <a:prstGeom prst="ellipse">
            <a:avLst/>
          </a:prstGeom>
          <a:solidFill>
            <a:srgbClr val="9F5B72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assets/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9476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en source primaire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Jaunes si sans site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Avis, photos, contacts, horaires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4846320" cy="3840480"/>
          </a:xfrm>
          <a:prstGeom prst="roundRect">
            <a:avLst>
              <a:gd name="adj" fmla="val 1905"/>
            </a:avLst>
          </a:prstGeom>
          <a:solidFill>
            <a:srgbClr val="695D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8389620" y="1805940"/>
            <a:ext cx="685800" cy="685800"/>
          </a:xfrm>
          <a:prstGeom prst="ellipse">
            <a:avLst/>
          </a:prstGeom>
          <a:solidFill>
            <a:srgbClr val="695D7A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assets/icon_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19476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commercial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29400" y="3017520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fiche prête pour le RDV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Preuves sociales dans l'argumentaire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réutilisées par l'IA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0" y="3703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IA · Présentation de projet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: Site démo 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F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DES 4 MODULES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846320" cy="3840480"/>
          </a:xfrm>
          <a:prstGeom prst="roundRect">
            <a:avLst>
              <a:gd name="adj" fmla="val 1905"/>
            </a:avLst>
          </a:prstGeom>
          <a:solidFill>
            <a:srgbClr val="9F5B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20340" y="1805940"/>
            <a:ext cx="685800" cy="685800"/>
          </a:xfrm>
          <a:prstGeom prst="ellipse">
            <a:avLst/>
          </a:prstGeom>
          <a:solidFill>
            <a:srgbClr val="9F5B72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assets/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9476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multi-pages généré par IA en un clic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basé sur le prospect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Vercel en un clic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4846320" cy="3840480"/>
          </a:xfrm>
          <a:prstGeom prst="roundRect">
            <a:avLst>
              <a:gd name="adj" fmla="val 1905"/>
            </a:avLst>
          </a:prstGeom>
          <a:solidFill>
            <a:srgbClr val="695D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8389620" y="1805940"/>
            <a:ext cx="685800" cy="685800"/>
          </a:xfrm>
          <a:prstGeom prst="ellipse">
            <a:avLst/>
          </a:prstGeom>
          <a:solidFill>
            <a:srgbClr val="695D7A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assets/icon_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19476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c'est critique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29400" y="3017520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visuelle en ligne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Accélère la conversion en RDV</a:t>
            </a:r>
            <a:endParaRPr lang="en-US" sz="125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différencie des agences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0" y="3703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IA · Présentation de projet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dirty="0" err="1">
                <a:solidFill>
                  <a:srgbClr val="262626"/>
                </a:solidFill>
                <a:latin typeface="Arial" pitchFamily="34" charset="0"/>
                <a:cs typeface="Arial" pitchFamily="34" charset="-120"/>
              </a:rPr>
              <a:t>Différenciateurs</a:t>
            </a:r>
            <a:r>
              <a:rPr sz="3200" dirty="0">
                <a:solidFill>
                  <a:srgbClr val="2626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Arial" pitchFamily="34" charset="0"/>
                <a:cs typeface="Arial" pitchFamily="34" charset="-120"/>
              </a:rPr>
              <a:t>clés</a:t>
            </a:r>
            <a:endParaRPr sz="3200" dirty="0">
              <a:solidFill>
                <a:srgbClr val="262626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624072" cy="502920"/>
          </a:xfrm>
          <a:prstGeom prst="rect">
            <a:avLst/>
          </a:prstGeom>
          <a:solidFill>
            <a:srgbClr val="49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0352" y="1554480"/>
            <a:ext cx="3477768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Photos GMB par vision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3624072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216" y="2221992"/>
            <a:ext cx="3368040" cy="16184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Vraies photos Google Maps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Hero / galerie / services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Placement choisi par l'IA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2440" y="1554480"/>
            <a:ext cx="3624072" cy="502920"/>
          </a:xfrm>
          <a:prstGeom prst="rect">
            <a:avLst/>
          </a:prstGeom>
          <a:solidFill>
            <a:srgbClr val="69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55592" y="1554480"/>
            <a:ext cx="3477768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Thèmes par métier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2440" y="2057400"/>
            <a:ext cx="3624072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10456" y="2221992"/>
            <a:ext cx="3368040" cy="16184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Look adapté au commerce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Coiffeur ≠ plombier ≠ resto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Variations anti-clones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7680" y="1554480"/>
            <a:ext cx="3624072" cy="502920"/>
          </a:xfrm>
          <a:prstGeom prst="rect">
            <a:avLst/>
          </a:prstGeom>
          <a:solidFill>
            <a:srgbClr val="9F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0832" y="1554480"/>
            <a:ext cx="3477768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Scaffold React multi-pages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2057400"/>
            <a:ext cx="3624072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235696" y="2221992"/>
            <a:ext cx="3368040" cy="16184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</a:rPr>
              <a:t>Template Vite + React + Tailwind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</a:rPr>
              <a:t>Site multi-pages stable</a:t>
            </a:r>
            <a:endParaRPr lang="fr-FR" sz="1100" b="0" dirty="0">
              <a:solidFill>
                <a:srgbClr val="262626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fr-FR" sz="1100" b="0" dirty="0">
                <a:solidFill>
                  <a:srgbClr val="262626"/>
                </a:solidFill>
                <a:latin typeface="Arial"/>
              </a:rPr>
              <a:t>Déployable — pas un dump HTML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3624072" cy="502920"/>
          </a:xfrm>
          <a:prstGeom prst="rect">
            <a:avLst/>
          </a:prstGeom>
          <a:solidFill>
            <a:srgbClr val="D87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0352" y="4023360"/>
            <a:ext cx="3477768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Anti-hallucination + FAQ 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26280"/>
            <a:ext cx="3624072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5216" y="4690872"/>
            <a:ext cx="3368040" cy="16184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Services &amp; avis ancrés Maps / PJ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FAQ générée si absente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Contenu métier pertinent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2440" y="4023360"/>
            <a:ext cx="3624072" cy="502920"/>
          </a:xfrm>
          <a:prstGeom prst="rect">
            <a:avLst/>
          </a:prstGeom>
          <a:solidFill>
            <a:srgbClr val="FDC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55592" y="4023360"/>
            <a:ext cx="3477768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Arial"/>
              </a:rPr>
              <a:t>Reprise cross-job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2440" y="4526280"/>
            <a:ext cx="3624072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10456" y="4690872"/>
            <a:ext cx="3368040" cy="16184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Au-delà de pause / reprise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Après quota, crash ou redémarrage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Continuité de campagne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7680" y="4023360"/>
            <a:ext cx="3624072" cy="502920"/>
          </a:xfrm>
          <a:prstGeom prst="rect">
            <a:avLst/>
          </a:prstGeom>
          <a:solidFill>
            <a:srgbClr val="49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0832" y="4023360"/>
            <a:ext cx="3477768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Déduplication intelligente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7680" y="4526280"/>
            <a:ext cx="3624072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35696" y="4690872"/>
            <a:ext cx="3368040" cy="16184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Place ID / téléphone / nom+ville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Fusion des doublons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Moins de bruit, prospects propres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A8A8A"/>
                </a:solidFill>
                <a:latin typeface="Arial"/>
              </a:rPr>
              <a:t>Prospection IA · Présentation de projet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A8A8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Obtenus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Bénéfices mesurables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IA en un clic — plus d'effort perdu avant accord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Priorisation claire : sans site / réseau social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en ligne pour viser le ×2 de conversion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livre chaque campagne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Maps + Pages Jaunes structurée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Fiches qualifiées prêtes pour le RDV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Vitrine multi-pages générée par IA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Vercel partageable en séance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691640"/>
            <a:ext cx="2734056" cy="457200"/>
          </a:xfrm>
          <a:prstGeom prst="rect">
            <a:avLst/>
          </a:prstGeom>
          <a:solidFill>
            <a:srgbClr val="494B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035040" y="169164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2148840"/>
            <a:ext cx="2734056" cy="16824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035040" y="2240280"/>
            <a:ext cx="2734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94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 min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17920" y="3118104"/>
            <a:ext cx="2368296" cy="706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lieu de 3-5 h à trier Maps à la main.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70264" y="1691640"/>
            <a:ext cx="2734056" cy="457200"/>
          </a:xfrm>
          <a:prstGeom prst="rect">
            <a:avLst/>
          </a:prstGeom>
          <a:solidFill>
            <a:srgbClr val="695D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970264" y="169164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70264" y="2148840"/>
            <a:ext cx="2734056" cy="16824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970264" y="2240280"/>
            <a:ext cx="2734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95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Clic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53144" y="3118104"/>
            <a:ext cx="2368296" cy="706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Vitrine générée et déployée avant le rendez-vous.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4032504"/>
            <a:ext cx="2734056" cy="457200"/>
          </a:xfrm>
          <a:prstGeom prst="rect">
            <a:avLst/>
          </a:prstGeom>
          <a:solidFill>
            <a:srgbClr val="9F5B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035040" y="403250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4489704"/>
            <a:ext cx="2734056" cy="16824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035040" y="4581144"/>
            <a:ext cx="2734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F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217920" y="5458968"/>
            <a:ext cx="2368296" cy="706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conversion avec démo en ligne.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70264" y="4032504"/>
            <a:ext cx="2734056" cy="457200"/>
          </a:xfrm>
          <a:prstGeom prst="rect">
            <a:avLst/>
          </a:prstGeom>
          <a:solidFill>
            <a:srgbClr val="D870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970264" y="403250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Payante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70264" y="4489704"/>
            <a:ext cx="2734056" cy="16824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970264" y="4581144"/>
            <a:ext cx="2734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87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153144" y="5458968"/>
            <a:ext cx="2368296" cy="706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data évité.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IA · Présentation de projet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valeur métier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71137" y="3817620"/>
            <a:ext cx="1529425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93897" y="3429000"/>
            <a:ext cx="777240" cy="777240"/>
          </a:xfrm>
          <a:prstGeom prst="ellipse">
            <a:avLst/>
          </a:prstGeom>
          <a:solidFill>
            <a:srgbClr val="494B6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3897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050633" cy="1600200"/>
          </a:xfrm>
          <a:prstGeom prst="roundRect">
            <a:avLst>
              <a:gd name="adj" fmla="val 3429"/>
            </a:avLst>
          </a:prstGeom>
          <a:solidFill>
            <a:srgbClr val="494B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66928" y="1664208"/>
            <a:ext cx="18311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Prospects qualifiés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183117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 aux commerces sans vrai site.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77802" y="3817620"/>
            <a:ext cx="1529425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400562" y="3429000"/>
            <a:ext cx="777240" cy="777240"/>
          </a:xfrm>
          <a:prstGeom prst="ellipse">
            <a:avLst/>
          </a:prstGeom>
          <a:solidFill>
            <a:srgbClr val="695D7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00562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63865" y="4480560"/>
            <a:ext cx="2050633" cy="1600200"/>
          </a:xfrm>
          <a:prstGeom prst="roundRect">
            <a:avLst>
              <a:gd name="adj" fmla="val 3429"/>
            </a:avLst>
          </a:prstGeom>
          <a:solidFill>
            <a:srgbClr val="695D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873593" y="4590288"/>
            <a:ext cx="18311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73593" y="5102352"/>
            <a:ext cx="183117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Campagnes France, reprise et quotas.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84468" y="3817620"/>
            <a:ext cx="1529425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707228" y="3429000"/>
            <a:ext cx="777240" cy="777240"/>
          </a:xfrm>
          <a:prstGeom prst="ellipse">
            <a:avLst/>
          </a:prstGeom>
          <a:solidFill>
            <a:srgbClr val="9F5B7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707228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70531" y="1554480"/>
            <a:ext cx="2050633" cy="1600200"/>
          </a:xfrm>
          <a:prstGeom prst="roundRect">
            <a:avLst>
              <a:gd name="adj" fmla="val 3429"/>
            </a:avLst>
          </a:prstGeom>
          <a:solidFill>
            <a:srgbClr val="9F5B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180259" y="1664208"/>
            <a:ext cx="18311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pour le RDV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80259" y="2176272"/>
            <a:ext cx="183117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 + vitrine en ligne du prospect.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91133" y="3817620"/>
            <a:ext cx="1529425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8013893" y="3429000"/>
            <a:ext cx="777240" cy="777240"/>
          </a:xfrm>
          <a:prstGeom prst="ellipse">
            <a:avLst/>
          </a:prstGeom>
          <a:solidFill>
            <a:srgbClr val="D8707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013893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77196" y="4480560"/>
            <a:ext cx="2050633" cy="1600200"/>
          </a:xfrm>
          <a:prstGeom prst="roundRect">
            <a:avLst>
              <a:gd name="adj" fmla="val 3429"/>
            </a:avLst>
          </a:prstGeom>
          <a:solidFill>
            <a:srgbClr val="D870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486924" y="4590288"/>
            <a:ext cx="18311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accéléré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86924" y="5102352"/>
            <a:ext cx="183117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de travail, plus de RDV utiles.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320558" y="3429000"/>
            <a:ext cx="777240" cy="777240"/>
          </a:xfrm>
          <a:prstGeom prst="ellipse">
            <a:avLst/>
          </a:prstGeom>
          <a:solidFill>
            <a:srgbClr val="FDCD5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0320558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83862" y="1554480"/>
            <a:ext cx="2050633" cy="1600200"/>
          </a:xfrm>
          <a:prstGeom prst="roundRect">
            <a:avLst>
              <a:gd name="adj" fmla="val 3429"/>
            </a:avLst>
          </a:prstGeom>
          <a:solidFill>
            <a:srgbClr val="FDCD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9793590" y="1664208"/>
            <a:ext cx="18311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Différenciation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93590" y="2176272"/>
            <a:ext cx="183117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montre leur futur site.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IA · Présentation de projet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95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DC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 intelligente pour TPE / PME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2392</Words>
  <Application>Microsoft Office PowerPoint</Application>
  <PresentationFormat>Widescreen</PresentationFormat>
  <Paragraphs>337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PREDATOR</cp:lastModifiedBy>
  <cp:revision>7</cp:revision>
  <dcterms:created xsi:type="dcterms:W3CDTF">2026-08-04T09:35:14Z</dcterms:created>
  <dcterms:modified xsi:type="dcterms:W3CDTF">2026-08-09T18:45:52Z</dcterms:modified>
</cp:coreProperties>
</file>